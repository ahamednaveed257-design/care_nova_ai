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fe3d54f8e4d7d" /><Relationship Type="http://schemas.openxmlformats.org/officeDocument/2006/relationships/extended-properties" Target="/docProps/app.xml" Id="R1e00dbc7fe424c25" /><Relationship Type="http://schemas.openxmlformats.org/officeDocument/2006/relationships/officeDocument" Target="/ppt/presentation.xml" Id="R7e6d7a45c72a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c785db67c432a"/>
  </p:sldMasterIdLst>
  <p:notesMasterIdLst>
    <p:notesMasterId xmlns:r="http://schemas.openxmlformats.org/officeDocument/2006/relationships" r:id="Rdb70272f10464f05"/>
  </p:notesMasterIdLst>
  <p:sldIdLst>
    <p:sldId xmlns:r="http://schemas.openxmlformats.org/officeDocument/2006/relationships" id="256" r:id="Rf0433a94370d4561"/>
    <p:sldId xmlns:r="http://schemas.openxmlformats.org/officeDocument/2006/relationships" id="257" r:id="Reae233961d6b4910"/>
    <p:sldId xmlns:r="http://schemas.openxmlformats.org/officeDocument/2006/relationships" id="258" r:id="R4dbdac84b64a40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f2f1ec340f4d23" /><Relationship Type="http://schemas.openxmlformats.org/officeDocument/2006/relationships/slideMaster" Target="/ppt/slideMasters/slideMaster1.xml" Id="R8eac785db67c432a" /><Relationship Type="http://schemas.openxmlformats.org/officeDocument/2006/relationships/notesMaster" Target="/ppt/notesMasters/notesMaster1.xml" Id="Rdb70272f10464f05" /><Relationship Type="http://schemas.openxmlformats.org/officeDocument/2006/relationships/presProps" Target="/ppt/presProps.xml" Id="R99636c426c5f419c" /><Relationship Type="http://schemas.openxmlformats.org/officeDocument/2006/relationships/tableStyles" Target="/ppt/tableStyles.xml" Id="R1cb0665fc67b4a95" /><Relationship Type="http://schemas.openxmlformats.org/officeDocument/2006/relationships/slide" Target="/ppt/slides/slide1.xml" Id="Rf0433a94370d4561" /><Relationship Type="http://schemas.openxmlformats.org/officeDocument/2006/relationships/slide" Target="/ppt/slides/slide2.xml" Id="Reae233961d6b4910" /><Relationship Type="http://schemas.openxmlformats.org/officeDocument/2006/relationships/slide" Target="/ppt/slides/slide3.xml" Id="R4dbdac84b64a40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944a55654642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d02258714248cb" /><Relationship Type="http://schemas.openxmlformats.org/officeDocument/2006/relationships/notesMaster" Target="/ppt/notesMasters/notesMaster1.xml" Id="R04149918210847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bd95f8123e4003" /><Relationship Type="http://schemas.openxmlformats.org/officeDocument/2006/relationships/notesMaster" Target="/ppt/notesMasters/notesMaster1.xml" Id="R1a545abf368a4a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5db9cfd9824a05" /><Relationship Type="http://schemas.openxmlformats.org/officeDocument/2006/relationships/notesMaster" Target="/ppt/notesMasters/notesMaster1.xml" Id="R4073ec763fbb4e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aa8ea6c574c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c01257b974370" /><Relationship Type="http://schemas.openxmlformats.org/officeDocument/2006/relationships/slideLayout" Target="/ppt/slideLayouts/slideLayout1.xml" Id="Ra9b5dd5886a344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5dd5886a344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f4675fa3b4570" /><Relationship Type="http://schemas.openxmlformats.org/officeDocument/2006/relationships/image" Target="/ppt/media/image.png" Id="R936c6d20041b49b3" /><Relationship Type="http://schemas.openxmlformats.org/officeDocument/2006/relationships/notesSlide" Target="/ppt/notesSlides/notesSlide1.xml" Id="R10fbc0fb5c2c44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78f5f07594a7a" /><Relationship Type="http://schemas.openxmlformats.org/officeDocument/2006/relationships/notesSlide" Target="/ppt/notesSlides/notesSlide2.xml" Id="Re1256739274c47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4c4dc1bfe4538" /><Relationship Type="http://schemas.openxmlformats.org/officeDocument/2006/relationships/notesSlide" Target="/ppt/notesSlides/notesSlide3.xml" Id="Rba9198e5b7d641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rand">
            <a:extLst xmlns:a="http://schemas.openxmlformats.org/drawingml/2006/main">
              <a:ext uri="{FF2B5EF4-FFF2-40B4-BE49-F238E27FC236}">
                <a16:creationId xmlns:a16="http://schemas.microsoft.com/office/drawing/2014/main" id="{C4427461-8051-4ADA-8219-0C00B876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8C7D"/>
                </a:solidFill>
                <a:latin typeface="Helvetica Neue"/>
                <a:ea typeface="Helvetica Neue"/>
                <a:cs typeface="Helvetica Neue"/>
              </a:rPr>
              <a:t>CARE NOVA 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90429C-1216-4B99-9C30-CBD01AE8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19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From fragmented patient data to one safe next step.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8EEFBCB-26EE-4813-BA13-0DF71EF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61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550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5506C"/>
                </a:solidFill>
                <a:latin typeface="Helvetica Neue"/>
                <a:ea typeface="Helvetica Neue"/>
                <a:cs typeface="Helvetica Neue"/>
              </a:rPr>
              <a:t>Local-first multi-agent healthcare AI for symptoms, medicines, labs, records, and guided next-step support.</a:t>
            </a:r>
          </a:p>
        </p:txBody>
      </p:sp>
      <p:sp>
        <p:nvSpPr>
          <p:cNvPr id="4" name="cover-proof-marker-338">
            <a:extLst xmlns:a="http://schemas.openxmlformats.org/drawingml/2006/main">
              <a:ext uri="{FF2B5EF4-FFF2-40B4-BE49-F238E27FC236}">
                <a16:creationId xmlns:a16="http://schemas.microsoft.com/office/drawing/2014/main" id="{13E19F48-E9D1-4168-A9A8-4FAB9F55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D"/>
          </a:solidFill>
          <a:ln xmlns:a="http://schemas.openxmlformats.org/drawingml/2006/main" w="0">
            <a:solidFill>
              <a:srgbClr val="0F8C7D"/>
            </a:solidFill>
            <a:prstDash val="solid"/>
          </a:ln>
        </p:spPr>
      </p:sp>
      <p:sp>
        <p:nvSpPr>
          <p:cNvPr id="5" name="cover-proof-text-338">
            <a:extLst xmlns:a="http://schemas.openxmlformats.org/drawingml/2006/main">
              <a:ext uri="{FF2B5EF4-FFF2-40B4-BE49-F238E27FC236}">
                <a16:creationId xmlns:a16="http://schemas.microsoft.com/office/drawing/2014/main" id="{9E65DD8E-89E4-4125-89C5-E7AA9D6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Local-first privacy</a:t>
            </a:r>
          </a:p>
        </p:txBody>
      </p:sp>
      <p:sp>
        <p:nvSpPr>
          <p:cNvPr id="6" name="cover-proof-marker-382">
            <a:extLst xmlns:a="http://schemas.openxmlformats.org/drawingml/2006/main">
              <a:ext uri="{FF2B5EF4-FFF2-40B4-BE49-F238E27FC236}">
                <a16:creationId xmlns:a16="http://schemas.microsoft.com/office/drawing/2014/main" id="{E38A7CB5-14DD-4CC4-82AD-E2D00869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8B4"/>
          </a:solidFill>
          <a:ln xmlns:a="http://schemas.openxmlformats.org/drawingml/2006/main" w="0">
            <a:solidFill>
              <a:srgbClr val="1F78B4"/>
            </a:solidFill>
            <a:prstDash val="solid"/>
          </a:ln>
        </p:spPr>
      </p:sp>
      <p:sp>
        <p:nvSpPr>
          <p:cNvPr id="7" name="cover-proof-text-382">
            <a:extLst xmlns:a="http://schemas.openxmlformats.org/drawingml/2006/main">
              <a:ext uri="{FF2B5EF4-FFF2-40B4-BE49-F238E27FC236}">
                <a16:creationId xmlns:a16="http://schemas.microsoft.com/office/drawing/2014/main" id="{44EE8EC0-39C4-4772-A1BC-2944DCA8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Specialist agent routing</a:t>
            </a:r>
          </a:p>
        </p:txBody>
      </p:sp>
      <p:sp>
        <p:nvSpPr>
          <p:cNvPr id="8" name="cover-proof-marker-426">
            <a:extLst xmlns:a="http://schemas.openxmlformats.org/drawingml/2006/main">
              <a:ext uri="{FF2B5EF4-FFF2-40B4-BE49-F238E27FC236}">
                <a16:creationId xmlns:a16="http://schemas.microsoft.com/office/drawing/2014/main" id="{8C5F357D-1919-4096-909A-7FDFA0A2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A45"/>
          </a:solidFill>
          <a:ln xmlns:a="http://schemas.openxmlformats.org/drawingml/2006/main" w="0">
            <a:solidFill>
              <a:srgbClr val="132A45"/>
            </a:solidFill>
            <a:prstDash val="solid"/>
          </a:ln>
        </p:spPr>
      </p:sp>
      <p:sp>
        <p:nvSpPr>
          <p:cNvPr id="9" name="cover-proof-text-426">
            <a:extLst xmlns:a="http://schemas.openxmlformats.org/drawingml/2006/main">
              <a:ext uri="{FF2B5EF4-FFF2-40B4-BE49-F238E27FC236}">
                <a16:creationId xmlns:a16="http://schemas.microsoft.com/office/drawing/2014/main" id="{7CB68C60-4E55-4EC0-BF2D-BEFFC950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Evidence-grounded and safety-checked</a:t>
            </a:r>
          </a:p>
        </p:txBody>
      </p:sp>
      <p:sp>
        <p:nvSpPr>
          <p:cNvPr id="10" name="cover-callout">
            <a:extLst xmlns:a="http://schemas.openxmlformats.org/drawingml/2006/main">
              <a:ext uri="{FF2B5EF4-FFF2-40B4-BE49-F238E27FC236}">
                <a16:creationId xmlns:a16="http://schemas.microsoft.com/office/drawing/2014/main" id="{D4452F92-D630-4B20-88F9-3EA41692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476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B7E7E0"/>
            </a:solidFill>
            <a:prstDash val="solid"/>
          </a:ln>
        </p:spPr>
      </p:sp>
      <p:sp>
        <p:nvSpPr>
          <p:cNvPr id="11" name="cover-callout-accent">
            <a:extLst xmlns:a="http://schemas.openxmlformats.org/drawingml/2006/main">
              <a:ext uri="{FF2B5EF4-FFF2-40B4-BE49-F238E27FC236}">
                <a16:creationId xmlns:a16="http://schemas.microsoft.com/office/drawing/2014/main" id="{FA1DCA93-99B4-4FAE-9474-67DEDCC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D"/>
          </a:solidFill>
          <a:ln xmlns:a="http://schemas.openxmlformats.org/drawingml/2006/main" w="0">
            <a:solidFill>
              <a:srgbClr val="0F8C7D"/>
            </a:solidFill>
            <a:prstDash val="solid"/>
          </a:ln>
        </p:spPr>
      </p:sp>
      <p:sp>
        <p:nvSpPr>
          <p:cNvPr id="12" name="cover-callout-title">
            <a:extLst xmlns:a="http://schemas.openxmlformats.org/drawingml/2006/main">
              <a:ext uri="{FF2B5EF4-FFF2-40B4-BE49-F238E27FC236}">
                <a16:creationId xmlns:a16="http://schemas.microsoft.com/office/drawing/2014/main" id="{269060CB-163B-4AFF-B379-8E6589DF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Built for healthcare, not generic chat.</a:t>
            </a:r>
          </a:p>
        </p:txBody>
      </p:sp>
      <p:sp>
        <p:nvSpPr>
          <p:cNvPr id="13" name="cover-callout-body">
            <a:extLst xmlns:a="http://schemas.openxmlformats.org/drawingml/2006/main">
              <a:ext uri="{FF2B5EF4-FFF2-40B4-BE49-F238E27FC236}">
                <a16:creationId xmlns:a16="http://schemas.microsoft.com/office/drawing/2014/main" id="{E36529ED-AE2F-4E8E-949F-A3DD3F0C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50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5506C"/>
                </a:solidFill>
                <a:latin typeface="Helvetica Neue"/>
                <a:ea typeface="Helvetica Neue"/>
                <a:cs typeface="Helvetica Neue"/>
              </a:rPr>
              <a:t>Memory, specialist routing, retrieval, and guardrails work before the reply.</a:t>
            </a:r>
          </a:p>
        </p:txBody>
      </p:sp>
      <p:sp>
        <p:nvSpPr>
          <p:cNvPr id="14" name="cover-image-back">
            <a:extLst xmlns:a="http://schemas.openxmlformats.org/drawingml/2006/main">
              <a:ext uri="{FF2B5EF4-FFF2-40B4-BE49-F238E27FC236}">
                <a16:creationId xmlns:a16="http://schemas.microsoft.com/office/drawing/2014/main" id="{0FA642E5-DE83-47F3-9193-94BBE0AB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83820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0">
            <a:solidFill>
              <a:srgbClr val="EDF5FB"/>
            </a:solidFill>
            <a:prstDash val="solid"/>
          </a:ln>
        </p:spPr>
      </p:sp>
      <p:sp>
        <p:nvSpPr>
          <p:cNvPr id="15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C4D44CD6-FB8C-47BB-A725-A70AD6D4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2450"/>
            <a:ext cx="5334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FE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c6d20041b49b3"/>
          <a:srcRect xmlns:a="http://schemas.openxmlformats.org/drawingml/2006/main" l="2991" t="0" r="29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704850"/>
            <a:ext cx="502920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17" name="cover-image-tag">
            <a:extLst xmlns:a="http://schemas.openxmlformats.org/drawingml/2006/main">
              <a:ext uri="{FF2B5EF4-FFF2-40B4-BE49-F238E27FC236}">
                <a16:creationId xmlns:a16="http://schemas.microsoft.com/office/drawing/2014/main" id="{A35F3421-2496-4451-B85D-D5E6625A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673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F78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78B4"/>
                </a:solidFill>
                <a:latin typeface="Helvetica Neue"/>
                <a:ea typeface="Helvetica Neue"/>
                <a:cs typeface="Helvetica Neue"/>
              </a:rPr>
              <a:t>LIVE PRODUCT VIEW</a:t>
            </a:r>
          </a:p>
        </p:txBody>
      </p:sp>
      <p:sp>
        <p:nvSpPr>
          <p:cNvPr id="18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AB2FB8D3-78EF-476F-96D4-8D406180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340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B7A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A8C"/>
                </a:solidFill>
                <a:latin typeface="Helvetica Neue"/>
                <a:ea typeface="Helvetica Neue"/>
                <a:cs typeface="Helvetica Neue"/>
              </a:rPr>
              <a:t>Memory, risk, specialist routes, and the guided answer flow in one workspace.</a:t>
            </a:r>
          </a:p>
        </p:txBody>
      </p:sp>
      <p:sp>
        <p:nvSpPr>
          <p:cNvPr id="19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AD9E013A-ED7C-499A-A095-D8C7B326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7000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kflow-label">
            <a:extLst xmlns:a="http://schemas.openxmlformats.org/drawingml/2006/main">
              <a:ext uri="{FF2B5EF4-FFF2-40B4-BE49-F238E27FC236}">
                <a16:creationId xmlns:a16="http://schemas.microsoft.com/office/drawing/2014/main" id="{848D6DE3-76DF-4FCD-B0FB-17C5648C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8C7D"/>
                </a:solidFill>
                <a:latin typeface="Helvetica Neue"/>
                <a:ea typeface="Helvetica Neue"/>
                <a:cs typeface="Helvetica Neue"/>
              </a:rPr>
              <a:t>AGENTIC WORKFLOW</a:t>
            </a:r>
          </a:p>
        </p:txBody>
      </p:sp>
      <p:sp>
        <p:nvSpPr>
          <p:cNvPr id="2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E981B1E8-0F81-4FD8-A4B6-F0FB72E4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It reasons in stages before it answers.</a:t>
            </a:r>
          </a:p>
        </p:txBody>
      </p:sp>
      <p:sp>
        <p:nvSpPr>
          <p:cNvPr id="3" name="workflow-strip">
            <a:extLst xmlns:a="http://schemas.openxmlformats.org/drawingml/2006/main">
              <a:ext uri="{FF2B5EF4-FFF2-40B4-BE49-F238E27FC236}">
                <a16:creationId xmlns:a16="http://schemas.microsoft.com/office/drawing/2014/main" id="{E54B2848-7BBA-4456-B2B0-B91A373E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50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5506C"/>
                </a:solidFill>
                <a:latin typeface="Helvetica Neue"/>
                <a:ea typeface="Helvetica Neue"/>
                <a:cs typeface="Helvetica Neue"/>
              </a:rPr>
              <a:t>Input  |  Local memory  |  Intent route  |  RAG evidence  |  Safety check  |  Next step</a:t>
            </a:r>
          </a:p>
        </p:txBody>
      </p:sp>
      <p:sp>
        <p:nvSpPr>
          <p:cNvPr id="4" name="workflow-card-1">
            <a:extLst xmlns:a="http://schemas.openxmlformats.org/drawingml/2006/main">
              <a:ext uri="{FF2B5EF4-FFF2-40B4-BE49-F238E27FC236}">
                <a16:creationId xmlns:a16="http://schemas.microsoft.com/office/drawing/2014/main" id="{8A4DEB39-028A-4BA6-914C-5F9C9B32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3718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C9DFE8"/>
            </a:solidFill>
            <a:prstDash val="solid"/>
          </a:ln>
        </p:spPr>
      </p:sp>
      <p:sp>
        <p:nvSpPr>
          <p:cNvPr id="5" name="workflow-marker-1">
            <a:extLst xmlns:a="http://schemas.openxmlformats.org/drawingml/2006/main">
              <a:ext uri="{FF2B5EF4-FFF2-40B4-BE49-F238E27FC236}">
                <a16:creationId xmlns:a16="http://schemas.microsoft.com/office/drawing/2014/main" id="{6954CA38-D1D5-4D7B-AD98-A54FC5A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8B4"/>
          </a:solidFill>
          <a:ln xmlns:a="http://schemas.openxmlformats.org/drawingml/2006/main" w="0">
            <a:solidFill>
              <a:srgbClr val="1F78B4"/>
            </a:solidFill>
            <a:prstDash val="solid"/>
          </a:ln>
        </p:spPr>
      </p:sp>
      <p:sp>
        <p:nvSpPr>
          <p:cNvPr id="6" name="workflow-card-number-1">
            <a:extLst xmlns:a="http://schemas.openxmlformats.org/drawingml/2006/main">
              <a:ext uri="{FF2B5EF4-FFF2-40B4-BE49-F238E27FC236}">
                <a16:creationId xmlns:a16="http://schemas.microsoft.com/office/drawing/2014/main" id="{8A4805EB-6F9E-4A6D-B3E9-18A604FC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workflow-card-title-1">
            <a:extLst xmlns:a="http://schemas.openxmlformats.org/drawingml/2006/main">
              <a:ext uri="{FF2B5EF4-FFF2-40B4-BE49-F238E27FC236}">
                <a16:creationId xmlns:a16="http://schemas.microsoft.com/office/drawing/2014/main" id="{B453BB93-D88F-4C86-AA49-86FE5709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Understand the case</a:t>
            </a:r>
          </a:p>
        </p:txBody>
      </p:sp>
      <p:sp>
        <p:nvSpPr>
          <p:cNvPr id="8" name="workflow-card-body-1">
            <a:extLst xmlns:a="http://schemas.openxmlformats.org/drawingml/2006/main">
              <a:ext uri="{FF2B5EF4-FFF2-40B4-BE49-F238E27FC236}">
                <a16:creationId xmlns:a16="http://schemas.microsoft.com/office/drawing/2014/main" id="{46E7D926-3362-4B69-9FBF-E9110BC3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Reads the patient question and reloads the local patient context.</a:t>
            </a:r>
          </a:p>
        </p:txBody>
      </p:sp>
      <p:sp>
        <p:nvSpPr>
          <p:cNvPr id="9" name="workflow-card-2">
            <a:extLst xmlns:a="http://schemas.openxmlformats.org/drawingml/2006/main">
              <a:ext uri="{FF2B5EF4-FFF2-40B4-BE49-F238E27FC236}">
                <a16:creationId xmlns:a16="http://schemas.microsoft.com/office/drawing/2014/main" id="{6015F8A1-9547-4FF4-8C87-EC272678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28850"/>
            <a:ext cx="33718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C9DFE8"/>
            </a:solidFill>
            <a:prstDash val="solid"/>
          </a:ln>
        </p:spPr>
      </p:sp>
      <p:sp>
        <p:nvSpPr>
          <p:cNvPr id="10" name="workflow-marker-2">
            <a:extLst xmlns:a="http://schemas.openxmlformats.org/drawingml/2006/main">
              <a:ext uri="{FF2B5EF4-FFF2-40B4-BE49-F238E27FC236}">
                <a16:creationId xmlns:a16="http://schemas.microsoft.com/office/drawing/2014/main" id="{89892D84-33AE-48AA-AE29-41FB13A2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9555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D"/>
          </a:solidFill>
          <a:ln xmlns:a="http://schemas.openxmlformats.org/drawingml/2006/main" w="0">
            <a:solidFill>
              <a:srgbClr val="0F8C7D"/>
            </a:solidFill>
            <a:prstDash val="solid"/>
          </a:ln>
        </p:spPr>
      </p:sp>
      <p:sp>
        <p:nvSpPr>
          <p:cNvPr id="11" name="workflow-card-number-2">
            <a:extLst xmlns:a="http://schemas.openxmlformats.org/drawingml/2006/main">
              <a:ext uri="{FF2B5EF4-FFF2-40B4-BE49-F238E27FC236}">
                <a16:creationId xmlns:a16="http://schemas.microsoft.com/office/drawing/2014/main" id="{415A1984-4874-462A-911C-AB53D88F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431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workflow-card-title-2">
            <a:extLst xmlns:a="http://schemas.openxmlformats.org/drawingml/2006/main">
              <a:ext uri="{FF2B5EF4-FFF2-40B4-BE49-F238E27FC236}">
                <a16:creationId xmlns:a16="http://schemas.microsoft.com/office/drawing/2014/main" id="{86F69FC5-4E7C-46BF-992F-4A4C898A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Route with evidence</a:t>
            </a:r>
          </a:p>
        </p:txBody>
      </p:sp>
      <p:sp>
        <p:nvSpPr>
          <p:cNvPr id="13" name="workflow-card-body-2">
            <a:extLst xmlns:a="http://schemas.openxmlformats.org/drawingml/2006/main">
              <a:ext uri="{FF2B5EF4-FFF2-40B4-BE49-F238E27FC236}">
                <a16:creationId xmlns:a16="http://schemas.microsoft.com/office/drawing/2014/main" id="{3162ED07-EDD9-4E7E-8354-F8C5877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3380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Classifies intent, selects the right agent, and retrieves grounded evidence.</a:t>
            </a:r>
          </a:p>
        </p:txBody>
      </p:sp>
      <p:sp>
        <p:nvSpPr>
          <p:cNvPr id="14" name="workflow-card-3">
            <a:extLst xmlns:a="http://schemas.openxmlformats.org/drawingml/2006/main">
              <a:ext uri="{FF2B5EF4-FFF2-40B4-BE49-F238E27FC236}">
                <a16:creationId xmlns:a16="http://schemas.microsoft.com/office/drawing/2014/main" id="{223B8591-215C-40D6-BD6A-E007F91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33718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9DFE8"/>
            </a:solidFill>
            <a:prstDash val="solid"/>
          </a:ln>
        </p:spPr>
      </p:sp>
      <p:sp>
        <p:nvSpPr>
          <p:cNvPr id="15" name="workflow-marker-3">
            <a:extLst xmlns:a="http://schemas.openxmlformats.org/drawingml/2006/main">
              <a:ext uri="{FF2B5EF4-FFF2-40B4-BE49-F238E27FC236}">
                <a16:creationId xmlns:a16="http://schemas.microsoft.com/office/drawing/2014/main" id="{18ABFA42-6CF0-40B2-99D7-F73D6695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A45"/>
          </a:solidFill>
          <a:ln xmlns:a="http://schemas.openxmlformats.org/drawingml/2006/main" w="0">
            <a:solidFill>
              <a:srgbClr val="132A45"/>
            </a:solidFill>
            <a:prstDash val="solid"/>
          </a:ln>
        </p:spPr>
      </p:sp>
      <p:sp>
        <p:nvSpPr>
          <p:cNvPr id="16" name="workflow-card-number-3">
            <a:extLst xmlns:a="http://schemas.openxmlformats.org/drawingml/2006/main">
              <a:ext uri="{FF2B5EF4-FFF2-40B4-BE49-F238E27FC236}">
                <a16:creationId xmlns:a16="http://schemas.microsoft.com/office/drawing/2014/main" id="{55682CE4-72E1-48E9-B4CA-7FE01D19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431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workflow-card-title-3">
            <a:extLst xmlns:a="http://schemas.openxmlformats.org/drawingml/2006/main">
              <a:ext uri="{FF2B5EF4-FFF2-40B4-BE49-F238E27FC236}">
                <a16:creationId xmlns:a16="http://schemas.microsoft.com/office/drawing/2014/main" id="{770E1FE3-CF0E-47A8-B8FB-88BC9936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Answer safely</a:t>
            </a:r>
          </a:p>
        </p:txBody>
      </p:sp>
      <p:sp>
        <p:nvSpPr>
          <p:cNvPr id="18" name="workflow-card-body-3">
            <a:extLst xmlns:a="http://schemas.openxmlformats.org/drawingml/2006/main">
              <a:ext uri="{FF2B5EF4-FFF2-40B4-BE49-F238E27FC236}">
                <a16:creationId xmlns:a16="http://schemas.microsoft.com/office/drawing/2014/main" id="{E8670802-2E66-4ABA-AD74-4D809859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Checks risk, blocks unsafe wording, and returns one focused next step.</a:t>
            </a:r>
          </a:p>
        </p:txBody>
      </p:sp>
      <p:sp>
        <p:nvSpPr>
          <p:cNvPr id="19" name="workflow-band">
            <a:extLst xmlns:a="http://schemas.openxmlformats.org/drawingml/2006/main">
              <a:ext uri="{FF2B5EF4-FFF2-40B4-BE49-F238E27FC236}">
                <a16:creationId xmlns:a16="http://schemas.microsoft.com/office/drawing/2014/main" id="{EE5ABE64-9C59-45CD-A045-533B14F8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B7E7E0"/>
            </a:solidFill>
            <a:prstDash val="solid"/>
          </a:ln>
        </p:spPr>
      </p:sp>
      <p:sp>
        <p:nvSpPr>
          <p:cNvPr id="20" name="workflow-band-text">
            <a:extLst xmlns:a="http://schemas.openxmlformats.org/drawingml/2006/main">
              <a:ext uri="{FF2B5EF4-FFF2-40B4-BE49-F238E27FC236}">
                <a16:creationId xmlns:a16="http://schemas.microsoft.com/office/drawing/2014/main" id="{55026F90-D6B4-4A6A-BE65-74B7B7D4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6262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This staged flow makes Care Nova agentic, grounded, and safer than one-pass chat.</a:t>
            </a:r>
          </a:p>
        </p:txBody>
      </p:sp>
      <p:sp>
        <p:nvSpPr>
          <p:cNvPr id="21" name="workflow-footer">
            <a:extLst xmlns:a="http://schemas.openxmlformats.org/drawingml/2006/main">
              <a:ext uri="{FF2B5EF4-FFF2-40B4-BE49-F238E27FC236}">
                <a16:creationId xmlns:a16="http://schemas.microsoft.com/office/drawing/2014/main" id="{B9A867E1-E7DD-43D7-A4E6-7E3DFB57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3705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ifferentiator-label">
            <a:extLst xmlns:a="http://schemas.openxmlformats.org/drawingml/2006/main">
              <a:ext uri="{FF2B5EF4-FFF2-40B4-BE49-F238E27FC236}">
                <a16:creationId xmlns:a16="http://schemas.microsoft.com/office/drawing/2014/main" id="{B12D72EE-F8F4-4F8A-BAA1-682585FA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C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8C7D"/>
                </a:solidFill>
                <a:latin typeface="Helvetica Neue"/>
                <a:ea typeface="Helvetica Neue"/>
                <a:cs typeface="Helvetica Neue"/>
              </a:rPr>
              <a:t>WHY IT STANDS OUT</a:t>
            </a:r>
          </a:p>
        </p:txBody>
      </p:sp>
      <p:sp>
        <p:nvSpPr>
          <p:cNvPr id="2" name="differentiator-title">
            <a:extLst xmlns:a="http://schemas.openxmlformats.org/drawingml/2006/main">
              <a:ext uri="{FF2B5EF4-FFF2-40B4-BE49-F238E27FC236}">
                <a16:creationId xmlns:a16="http://schemas.microsoft.com/office/drawing/2014/main" id="{174D0BFE-4246-497B-A6AD-614E53D6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45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This is a governed healthcare system, not a normal chatbot.</a:t>
            </a:r>
          </a:p>
        </p:txBody>
      </p:sp>
      <p:sp>
        <p:nvSpPr>
          <p:cNvPr id="3" name="compare-left">
            <a:extLst xmlns:a="http://schemas.openxmlformats.org/drawingml/2006/main">
              <a:ext uri="{FF2B5EF4-FFF2-40B4-BE49-F238E27FC236}">
                <a16:creationId xmlns:a16="http://schemas.microsoft.com/office/drawing/2014/main" id="{75E9EA75-71F1-4BCF-AC1B-111DDF4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8387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9DFE8"/>
            </a:solidFill>
            <a:prstDash val="solid"/>
          </a:ln>
        </p:spPr>
      </p:sp>
      <p:sp>
        <p:nvSpPr>
          <p:cNvPr id="4" name="compare-right">
            <a:extLst xmlns:a="http://schemas.openxmlformats.org/drawingml/2006/main">
              <a:ext uri="{FF2B5EF4-FFF2-40B4-BE49-F238E27FC236}">
                <a16:creationId xmlns:a16="http://schemas.microsoft.com/office/drawing/2014/main" id="{50C17EA3-A665-4D28-8C96-DC5B687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85950"/>
            <a:ext cx="5524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B7E7E0"/>
            </a:solidFill>
            <a:prstDash val="solid"/>
          </a:ln>
        </p:spPr>
      </p:sp>
      <p:sp>
        <p:nvSpPr>
          <p:cNvPr id="5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74A05142-5204-4783-B345-28103F4A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Generic chatbot</a:t>
            </a:r>
          </a:p>
        </p:txBody>
      </p:sp>
      <p:sp>
        <p:nvSpPr>
          <p:cNvPr id="6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72E71198-891B-4FC0-BC74-FB83AC7A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Care Nova AI</a:t>
            </a:r>
          </a:p>
        </p:txBody>
      </p:sp>
      <p:sp>
        <p:nvSpPr>
          <p:cNvPr id="7" name="left-bullet-dot-1">
            <a:extLst xmlns:a="http://schemas.openxmlformats.org/drawingml/2006/main">
              <a:ext uri="{FF2B5EF4-FFF2-40B4-BE49-F238E27FC236}">
                <a16:creationId xmlns:a16="http://schemas.microsoft.com/office/drawing/2014/main" id="{7FBF5E62-1E0D-4C3A-A474-20BF6242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7A8C"/>
          </a:solidFill>
          <a:ln xmlns:a="http://schemas.openxmlformats.org/drawingml/2006/main" w="0">
            <a:solidFill>
              <a:srgbClr val="6B7A8C"/>
            </a:solidFill>
            <a:prstDash val="solid"/>
          </a:ln>
        </p:spPr>
      </p:sp>
      <p:sp>
        <p:nvSpPr>
          <p:cNvPr id="8" name="left-bullet-text-1">
            <a:extLst xmlns:a="http://schemas.openxmlformats.org/drawingml/2006/main">
              <a:ext uri="{FF2B5EF4-FFF2-40B4-BE49-F238E27FC236}">
                <a16:creationId xmlns:a16="http://schemas.microsoft.com/office/drawing/2014/main" id="{67164320-306F-4FF1-A7E4-349AEE7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One broad answer path</a:t>
            </a:r>
          </a:p>
        </p:txBody>
      </p:sp>
      <p:sp>
        <p:nvSpPr>
          <p:cNvPr id="9" name="left-bullet-dot-2">
            <a:extLst xmlns:a="http://schemas.openxmlformats.org/drawingml/2006/main">
              <a:ext uri="{FF2B5EF4-FFF2-40B4-BE49-F238E27FC236}">
                <a16:creationId xmlns:a16="http://schemas.microsoft.com/office/drawing/2014/main" id="{B688B7F3-6810-4F2D-B5A2-CFD8816F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7A8C"/>
          </a:solidFill>
          <a:ln xmlns:a="http://schemas.openxmlformats.org/drawingml/2006/main" w="0">
            <a:solidFill>
              <a:srgbClr val="6B7A8C"/>
            </a:solidFill>
            <a:prstDash val="solid"/>
          </a:ln>
        </p:spPr>
      </p:sp>
      <p:sp>
        <p:nvSpPr>
          <p:cNvPr id="10" name="left-bullet-text-2">
            <a:extLst xmlns:a="http://schemas.openxmlformats.org/drawingml/2006/main">
              <a:ext uri="{FF2B5EF4-FFF2-40B4-BE49-F238E27FC236}">
                <a16:creationId xmlns:a16="http://schemas.microsoft.com/office/drawing/2014/main" id="{71AD4358-9047-4C31-8B48-D080D4C1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Little patient continuity</a:t>
            </a:r>
          </a:p>
        </p:txBody>
      </p:sp>
      <p:sp>
        <p:nvSpPr>
          <p:cNvPr id="11" name="left-bullet-dot-3">
            <a:extLst xmlns:a="http://schemas.openxmlformats.org/drawingml/2006/main">
              <a:ext uri="{FF2B5EF4-FFF2-40B4-BE49-F238E27FC236}">
                <a16:creationId xmlns:a16="http://schemas.microsoft.com/office/drawing/2014/main" id="{C5E1FFC4-FC70-47E3-BE3D-18A2D3D4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7A8C"/>
          </a:solidFill>
          <a:ln xmlns:a="http://schemas.openxmlformats.org/drawingml/2006/main" w="0">
            <a:solidFill>
              <a:srgbClr val="6B7A8C"/>
            </a:solidFill>
            <a:prstDash val="solid"/>
          </a:ln>
        </p:spPr>
      </p:sp>
      <p:sp>
        <p:nvSpPr>
          <p:cNvPr id="12" name="left-bullet-text-3">
            <a:extLst xmlns:a="http://schemas.openxmlformats.org/drawingml/2006/main">
              <a:ext uri="{FF2B5EF4-FFF2-40B4-BE49-F238E27FC236}">
                <a16:creationId xmlns:a16="http://schemas.microsoft.com/office/drawing/2014/main" id="{2A387AED-C25A-4A91-BED2-E5C0BEB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Weak healthcare boundaries</a:t>
            </a:r>
          </a:p>
        </p:txBody>
      </p:sp>
      <p:sp>
        <p:nvSpPr>
          <p:cNvPr id="13" name="right-bullet-dot-1">
            <a:extLst xmlns:a="http://schemas.openxmlformats.org/drawingml/2006/main">
              <a:ext uri="{FF2B5EF4-FFF2-40B4-BE49-F238E27FC236}">
                <a16:creationId xmlns:a16="http://schemas.microsoft.com/office/drawing/2014/main" id="{93335753-02D8-4B76-BB5A-7B091161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D"/>
          </a:solidFill>
          <a:ln xmlns:a="http://schemas.openxmlformats.org/drawingml/2006/main" w="0">
            <a:solidFill>
              <a:srgbClr val="0F8C7D"/>
            </a:solidFill>
            <a:prstDash val="solid"/>
          </a:ln>
        </p:spPr>
      </p:sp>
      <p:sp>
        <p:nvSpPr>
          <p:cNvPr id="14" name="right-bullet-text-1">
            <a:extLst xmlns:a="http://schemas.openxmlformats.org/drawingml/2006/main">
              <a:ext uri="{FF2B5EF4-FFF2-40B4-BE49-F238E27FC236}">
                <a16:creationId xmlns:a16="http://schemas.microsoft.com/office/drawing/2014/main" id="{87353DF6-2638-483B-BAC7-83F8B6C7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Remembers local patient context</a:t>
            </a:r>
          </a:p>
        </p:txBody>
      </p:sp>
      <p:sp>
        <p:nvSpPr>
          <p:cNvPr id="15" name="right-bullet-dot-2">
            <a:extLst xmlns:a="http://schemas.openxmlformats.org/drawingml/2006/main">
              <a:ext uri="{FF2B5EF4-FFF2-40B4-BE49-F238E27FC236}">
                <a16:creationId xmlns:a16="http://schemas.microsoft.com/office/drawing/2014/main" id="{B074693A-84E4-44EE-AC89-DC3CD1B9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D"/>
          </a:solidFill>
          <a:ln xmlns:a="http://schemas.openxmlformats.org/drawingml/2006/main" w="0">
            <a:solidFill>
              <a:srgbClr val="0F8C7D"/>
            </a:solidFill>
            <a:prstDash val="solid"/>
          </a:ln>
        </p:spPr>
      </p:sp>
      <p:sp>
        <p:nvSpPr>
          <p:cNvPr id="16" name="right-bullet-text-2">
            <a:extLst xmlns:a="http://schemas.openxmlformats.org/drawingml/2006/main">
              <a:ext uri="{FF2B5EF4-FFF2-40B4-BE49-F238E27FC236}">
                <a16:creationId xmlns:a16="http://schemas.microsoft.com/office/drawing/2014/main" id="{52F6527D-AC36-4540-863D-365EF74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Routes to the right specialist agent</a:t>
            </a:r>
          </a:p>
        </p:txBody>
      </p:sp>
      <p:sp>
        <p:nvSpPr>
          <p:cNvPr id="17" name="right-bullet-dot-3">
            <a:extLst xmlns:a="http://schemas.openxmlformats.org/drawingml/2006/main">
              <a:ext uri="{FF2B5EF4-FFF2-40B4-BE49-F238E27FC236}">
                <a16:creationId xmlns:a16="http://schemas.microsoft.com/office/drawing/2014/main" id="{D4979D8C-4D27-4ACD-ADFE-230FC43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D"/>
          </a:solidFill>
          <a:ln xmlns:a="http://schemas.openxmlformats.org/drawingml/2006/main" w="0">
            <a:solidFill>
              <a:srgbClr val="0F8C7D"/>
            </a:solidFill>
            <a:prstDash val="solid"/>
          </a:ln>
        </p:spPr>
      </p:sp>
      <p:sp>
        <p:nvSpPr>
          <p:cNvPr id="18" name="right-bullet-text-3">
            <a:extLst xmlns:a="http://schemas.openxmlformats.org/drawingml/2006/main">
              <a:ext uri="{FF2B5EF4-FFF2-40B4-BE49-F238E27FC236}">
                <a16:creationId xmlns:a16="http://schemas.microsoft.com/office/drawing/2014/main" id="{D6B7B51F-BDF6-4DD9-AE5B-70AC4ED8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Uses retrieval before the answer</a:t>
            </a:r>
          </a:p>
        </p:txBody>
      </p:sp>
      <p:sp>
        <p:nvSpPr>
          <p:cNvPr id="19" name="right-bullet-dot-4">
            <a:extLst xmlns:a="http://schemas.openxmlformats.org/drawingml/2006/main">
              <a:ext uri="{FF2B5EF4-FFF2-40B4-BE49-F238E27FC236}">
                <a16:creationId xmlns:a16="http://schemas.microsoft.com/office/drawing/2014/main" id="{C2C60EDE-DD6C-4006-906B-7FC3D44F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D"/>
          </a:solidFill>
          <a:ln xmlns:a="http://schemas.openxmlformats.org/drawingml/2006/main" w="0">
            <a:solidFill>
              <a:srgbClr val="0F8C7D"/>
            </a:solidFill>
            <a:prstDash val="solid"/>
          </a:ln>
        </p:spPr>
      </p:sp>
      <p:sp>
        <p:nvSpPr>
          <p:cNvPr id="20" name="right-bullet-text-4">
            <a:extLst xmlns:a="http://schemas.openxmlformats.org/drawingml/2006/main">
              <a:ext uri="{FF2B5EF4-FFF2-40B4-BE49-F238E27FC236}">
                <a16:creationId xmlns:a16="http://schemas.microsoft.com/office/drawing/2014/main" id="{2318A9AA-96AD-4754-A20E-124EC19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Applies safety checks before the reply</a:t>
            </a:r>
          </a:p>
        </p:txBody>
      </p:sp>
      <p:sp>
        <p:nvSpPr>
          <p:cNvPr id="21" name="value-band">
            <a:extLst xmlns:a="http://schemas.openxmlformats.org/drawingml/2006/main">
              <a:ext uri="{FF2B5EF4-FFF2-40B4-BE49-F238E27FC236}">
                <a16:creationId xmlns:a16="http://schemas.microsoft.com/office/drawing/2014/main" id="{62C0F527-802D-4E54-BB8F-1E08BC1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9525">
            <a:solidFill>
              <a:srgbClr val="C9DFE8"/>
            </a:solidFill>
            <a:prstDash val="solid"/>
          </a:ln>
        </p:spPr>
      </p:sp>
      <p:sp>
        <p:nvSpPr>
          <p:cNvPr id="22" name="value-left">
            <a:extLst xmlns:a="http://schemas.openxmlformats.org/drawingml/2006/main">
              <a:ext uri="{FF2B5EF4-FFF2-40B4-BE49-F238E27FC236}">
                <a16:creationId xmlns:a16="http://schemas.microsoft.com/office/drawing/2014/main" id="{FA5B6456-B516-4D68-9F72-F2A6CCFB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Faster triage</a:t>
            </a:r>
          </a:p>
        </p:txBody>
      </p:sp>
      <p:sp>
        <p:nvSpPr>
          <p:cNvPr id="23" name="value-middle">
            <a:extLst xmlns:a="http://schemas.openxmlformats.org/drawingml/2006/main">
              <a:ext uri="{FF2B5EF4-FFF2-40B4-BE49-F238E27FC236}">
                <a16:creationId xmlns:a16="http://schemas.microsoft.com/office/drawing/2014/main" id="{16C1CC4A-965D-4EC4-B910-0FEAA39E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6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Consistent guidance</a:t>
            </a:r>
          </a:p>
        </p:txBody>
      </p:sp>
      <p:sp>
        <p:nvSpPr>
          <p:cNvPr id="24" name="value-right">
            <a:extLst xmlns:a="http://schemas.openxmlformats.org/drawingml/2006/main">
              <a:ext uri="{FF2B5EF4-FFF2-40B4-BE49-F238E27FC236}">
                <a16:creationId xmlns:a16="http://schemas.microsoft.com/office/drawing/2014/main" id="{C9AD2191-4701-4077-8591-3D2FCA1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D2038"/>
                </a:solidFill>
                <a:latin typeface="Helvetica Neue"/>
                <a:ea typeface="Helvetica Neue"/>
                <a:cs typeface="Helvetica Neue"/>
              </a:rPr>
              <a:t>Privacy by default</a:t>
            </a:r>
          </a:p>
        </p:txBody>
      </p:sp>
      <p:sp>
        <p:nvSpPr>
          <p:cNvPr id="25" name="value-divider-1">
            <a:extLst xmlns:a="http://schemas.openxmlformats.org/drawingml/2006/main">
              <a:ext uri="{FF2B5EF4-FFF2-40B4-BE49-F238E27FC236}">
                <a16:creationId xmlns:a16="http://schemas.microsoft.com/office/drawing/2014/main" id="{B66F42A3-722B-4FB7-B9B7-FBB4325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530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E8"/>
          </a:solidFill>
          <a:ln xmlns:a="http://schemas.openxmlformats.org/drawingml/2006/main" w="0">
            <a:solidFill>
              <a:srgbClr val="C9DFE8"/>
            </a:solidFill>
            <a:prstDash val="solid"/>
          </a:ln>
        </p:spPr>
      </p:sp>
      <p:sp>
        <p:nvSpPr>
          <p:cNvPr id="26" name="value-divider-2">
            <a:extLst xmlns:a="http://schemas.openxmlformats.org/drawingml/2006/main">
              <a:ext uri="{FF2B5EF4-FFF2-40B4-BE49-F238E27FC236}">
                <a16:creationId xmlns:a16="http://schemas.microsoft.com/office/drawing/2014/main" id="{93BEE90F-8B08-4B90-9524-05011053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53050"/>
            <a:ext cx="95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E8"/>
          </a:solidFill>
          <a:ln xmlns:a="http://schemas.openxmlformats.org/drawingml/2006/main" w="0">
            <a:solidFill>
              <a:srgbClr val="C9DFE8"/>
            </a:solidFill>
            <a:prstDash val="solid"/>
          </a:ln>
        </p:spPr>
      </p:sp>
      <p:sp>
        <p:nvSpPr>
          <p:cNvPr id="27" name="differentiator-footer-note">
            <a:extLst xmlns:a="http://schemas.openxmlformats.org/drawingml/2006/main">
              <a:ext uri="{FF2B5EF4-FFF2-40B4-BE49-F238E27FC236}">
                <a16:creationId xmlns:a16="http://schemas.microsoft.com/office/drawing/2014/main" id="{5EC56D98-D1F1-4D20-B33B-BEBDC87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A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A8C"/>
                </a:solidFill>
                <a:latin typeface="Helvetica Neue"/>
                <a:ea typeface="Helvetica Neue"/>
                <a:cs typeface="Helvetica Neue"/>
              </a:rPr>
              <a:t>Demo scope: governed assistant system with healthcare safety boundaries.</a:t>
            </a:r>
          </a:p>
        </p:txBody>
      </p:sp>
      <p:sp>
        <p:nvSpPr>
          <p:cNvPr id="28" name="differentiator-footer-page">
            <a:extLst xmlns:a="http://schemas.openxmlformats.org/drawingml/2006/main">
              <a:ext uri="{FF2B5EF4-FFF2-40B4-BE49-F238E27FC236}">
                <a16:creationId xmlns:a16="http://schemas.microsoft.com/office/drawing/2014/main" id="{28A3DFFB-1064-49E0-9783-5EA25EE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32A4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1231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2026-07-10T12:29:13.7300000Z</dcterms:created>
  <dcterms:modified xsi:type="dcterms:W3CDTF">2026-07-10T12:29:13.7300000Z</dcterms:modified>
</coreProperties>
</file>