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20773b2304718" /><Relationship Type="http://schemas.openxmlformats.org/officeDocument/2006/relationships/extended-properties" Target="/docProps/app.xml" Id="R5451a750b0ff44f4" /><Relationship Type="http://schemas.openxmlformats.org/officeDocument/2006/relationships/officeDocument" Target="/ppt/presentation.xml" Id="R00c6d2b9a6c34c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9ea91321e42c5"/>
  </p:sldMasterIdLst>
  <p:notesMasterIdLst>
    <p:notesMasterId xmlns:r="http://schemas.openxmlformats.org/officeDocument/2006/relationships" r:id="Rff4d9e51ca3a4e5e"/>
  </p:notesMasterIdLst>
  <p:sldIdLst>
    <p:sldId xmlns:r="http://schemas.openxmlformats.org/officeDocument/2006/relationships" id="256" r:id="Re152ad3289d64b21"/>
    <p:sldId xmlns:r="http://schemas.openxmlformats.org/officeDocument/2006/relationships" id="257" r:id="R7065edb6aab149f8"/>
    <p:sldId xmlns:r="http://schemas.openxmlformats.org/officeDocument/2006/relationships" id="258" r:id="R937ce63717e84236"/>
    <p:sldId xmlns:r="http://schemas.openxmlformats.org/officeDocument/2006/relationships" id="259" r:id="Rd45ca07ba4814030"/>
    <p:sldId xmlns:r="http://schemas.openxmlformats.org/officeDocument/2006/relationships" id="260" r:id="Rca346ca1348045fe"/>
    <p:sldId xmlns:r="http://schemas.openxmlformats.org/officeDocument/2006/relationships" id="261" r:id="R8e523b423ea8426a"/>
    <p:sldId xmlns:r="http://schemas.openxmlformats.org/officeDocument/2006/relationships" id="262" r:id="R1dffde18cf414837"/>
    <p:sldId xmlns:r="http://schemas.openxmlformats.org/officeDocument/2006/relationships" id="263" r:id="Re23a1632ba344b82"/>
    <p:sldId xmlns:r="http://schemas.openxmlformats.org/officeDocument/2006/relationships" id="264" r:id="R0d87770152ff46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809f246c2c4921" /><Relationship Type="http://schemas.openxmlformats.org/officeDocument/2006/relationships/slideMaster" Target="/ppt/slideMasters/slideMaster1.xml" Id="Rfd89ea91321e42c5" /><Relationship Type="http://schemas.openxmlformats.org/officeDocument/2006/relationships/notesMaster" Target="/ppt/notesMasters/notesMaster1.xml" Id="Rff4d9e51ca3a4e5e" /><Relationship Type="http://schemas.openxmlformats.org/officeDocument/2006/relationships/presProps" Target="/ppt/presProps.xml" Id="R6ffec5e761f04194" /><Relationship Type="http://schemas.openxmlformats.org/officeDocument/2006/relationships/tableStyles" Target="/ppt/tableStyles.xml" Id="R8fd43aec8de6474f" /><Relationship Type="http://schemas.openxmlformats.org/officeDocument/2006/relationships/slide" Target="/ppt/slides/slide1.xml" Id="Re152ad3289d64b21" /><Relationship Type="http://schemas.openxmlformats.org/officeDocument/2006/relationships/slide" Target="/ppt/slides/slide2.xml" Id="R7065edb6aab149f8" /><Relationship Type="http://schemas.openxmlformats.org/officeDocument/2006/relationships/slide" Target="/ppt/slides/slide3.xml" Id="R937ce63717e84236" /><Relationship Type="http://schemas.openxmlformats.org/officeDocument/2006/relationships/slide" Target="/ppt/slides/slide4.xml" Id="Rd45ca07ba4814030" /><Relationship Type="http://schemas.openxmlformats.org/officeDocument/2006/relationships/slide" Target="/ppt/slides/slide5.xml" Id="Rca346ca1348045fe" /><Relationship Type="http://schemas.openxmlformats.org/officeDocument/2006/relationships/slide" Target="/ppt/slides/slide6.xml" Id="R8e523b423ea8426a" /><Relationship Type="http://schemas.openxmlformats.org/officeDocument/2006/relationships/slide" Target="/ppt/slides/slide7.xml" Id="R1dffde18cf414837" /><Relationship Type="http://schemas.openxmlformats.org/officeDocument/2006/relationships/slide" Target="/ppt/slides/slide8.xml" Id="Re23a1632ba344b82" /><Relationship Type="http://schemas.openxmlformats.org/officeDocument/2006/relationships/slide" Target="/ppt/slides/slide9.xml" Id="R0d87770152ff46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343a6fad964c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996395d5b44c4" /><Relationship Type="http://schemas.openxmlformats.org/officeDocument/2006/relationships/notesMaster" Target="/ppt/notesMasters/notesMaster1.xml" Id="R1b558fbefabe41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f29c3b4ed44b9c" /><Relationship Type="http://schemas.openxmlformats.org/officeDocument/2006/relationships/notesMaster" Target="/ppt/notesMasters/notesMaster1.xml" Id="R7f856da139c140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bfd2904ea34682" /><Relationship Type="http://schemas.openxmlformats.org/officeDocument/2006/relationships/notesMaster" Target="/ppt/notesMasters/notesMaster1.xml" Id="R50fcc23c551d4b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42c6777794fce" /><Relationship Type="http://schemas.openxmlformats.org/officeDocument/2006/relationships/notesMaster" Target="/ppt/notesMasters/notesMaster1.xml" Id="R3c5e1d69382e4b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4d55aee9d4822" /><Relationship Type="http://schemas.openxmlformats.org/officeDocument/2006/relationships/notesMaster" Target="/ppt/notesMasters/notesMaster1.xml" Id="R1e93575eb08745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a9551a8c86434e" /><Relationship Type="http://schemas.openxmlformats.org/officeDocument/2006/relationships/notesMaster" Target="/ppt/notesMasters/notesMaster1.xml" Id="R27311fabf5fc44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9f65065a6f4daf" /><Relationship Type="http://schemas.openxmlformats.org/officeDocument/2006/relationships/notesMaster" Target="/ppt/notesMasters/notesMaster1.xml" Id="Ra4d2f9fa9ad0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f0fb46a3004aa8" /><Relationship Type="http://schemas.openxmlformats.org/officeDocument/2006/relationships/notesMaster" Target="/ppt/notesMasters/notesMaster1.xml" Id="R4ab4c3994c9146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cc6496de6b40d6" /><Relationship Type="http://schemas.openxmlformats.org/officeDocument/2006/relationships/notesMaster" Target="/ppt/notesMasters/notesMaster1.xml" Id="Rb62b57c3b7b44d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d4ed6f47b44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7aa45e8bf84c00" /><Relationship Type="http://schemas.openxmlformats.org/officeDocument/2006/relationships/slideLayout" Target="/ppt/slideLayouts/slideLayout1.xml" Id="R208982418a3542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8982418a3542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ee05bfcc24b7f" /><Relationship Type="http://schemas.openxmlformats.org/officeDocument/2006/relationships/image" Target="/ppt/media/image.jpeg" Id="Re78ad160b2084501" /><Relationship Type="http://schemas.openxmlformats.org/officeDocument/2006/relationships/notesSlide" Target="/ppt/notesSlides/notesSlide1.xml" Id="R46b97336419d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27faaece14970" /><Relationship Type="http://schemas.openxmlformats.org/officeDocument/2006/relationships/notesSlide" Target="/ppt/notesSlides/notesSlide2.xml" Id="Rd67354a0759448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3e302b6c8492c" /><Relationship Type="http://schemas.openxmlformats.org/officeDocument/2006/relationships/image" Target="/ppt/media/image2.jpeg" Id="R0eba55a335c142d6" /><Relationship Type="http://schemas.openxmlformats.org/officeDocument/2006/relationships/notesSlide" Target="/ppt/notesSlides/notesSlide3.xml" Id="R54505cba1d9344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ef68da7b54e3a" /><Relationship Type="http://schemas.openxmlformats.org/officeDocument/2006/relationships/notesSlide" Target="/ppt/notesSlides/notesSlide4.xml" Id="Rc7abf530953f41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88c6510e34dd1" /><Relationship Type="http://schemas.openxmlformats.org/officeDocument/2006/relationships/notesSlide" Target="/ppt/notesSlides/notesSlide5.xml" Id="R4ea335147fee4c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72d341de04d36" /><Relationship Type="http://schemas.openxmlformats.org/officeDocument/2006/relationships/notesSlide" Target="/ppt/notesSlides/notesSlide6.xml" Id="R84daf7adfcb841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9b61251a24f16" /><Relationship Type="http://schemas.openxmlformats.org/officeDocument/2006/relationships/image" Target="/ppt/media/image3.jpeg" Id="R6cd5c359608b4ae4" /><Relationship Type="http://schemas.openxmlformats.org/officeDocument/2006/relationships/notesSlide" Target="/ppt/notesSlides/notesSlide7.xml" Id="R868eecfc607e45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2e4cc5bef452c" /><Relationship Type="http://schemas.openxmlformats.org/officeDocument/2006/relationships/notesSlide" Target="/ppt/notesSlides/notesSlide8.xml" Id="Rabdfc65fab1849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3808b04dd449d" /><Relationship Type="http://schemas.openxmlformats.org/officeDocument/2006/relationships/notesSlide" Target="/ppt/notesSlides/notesSlide9.xml" Id="Rd16739a37c1f43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content-panel">
            <a:extLst xmlns:a="http://schemas.openxmlformats.org/drawingml/2006/main">
              <a:ext uri="{FF2B5EF4-FFF2-40B4-BE49-F238E27FC236}">
                <a16:creationId xmlns:a16="http://schemas.microsoft.com/office/drawing/2014/main" id="{74259329-B36B-419C-B9D6-C568D81B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"/>
            <a:ext cx="3924300" cy="60579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A75D27A-5DF8-4CEA-834F-72173CD9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HEALTHCARE AI DEMO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DA90633-A11C-4B7A-85C9-1997CE9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95350"/>
            <a:ext cx="3733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AI</a:t>
            </a:r>
          </a:p>
        </p:txBody>
      </p:sp>
      <p:sp>
        <p:nvSpPr>
          <p:cNvPr id="4" name="cover-line">
            <a:extLst xmlns:a="http://schemas.openxmlformats.org/drawingml/2006/main">
              <a:ext uri="{FF2B5EF4-FFF2-40B4-BE49-F238E27FC236}">
                <a16:creationId xmlns:a16="http://schemas.microsoft.com/office/drawing/2014/main" id="{A0775D25-E07E-4579-86F5-CE8C2D88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971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0B3EEBE-EC91-4650-A597-B975FD7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19300"/>
            <a:ext cx="3314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local-first multi-agent healthcare RAG platform.</a:t>
            </a:r>
          </a:p>
        </p:txBody>
      </p:sp>
      <p:sp>
        <p:nvSpPr>
          <p:cNvPr id="6" name="cover-key-line-1">
            <a:extLst xmlns:a="http://schemas.openxmlformats.org/drawingml/2006/main">
              <a:ext uri="{FF2B5EF4-FFF2-40B4-BE49-F238E27FC236}">
                <a16:creationId xmlns:a16="http://schemas.microsoft.com/office/drawing/2014/main" id="{0B6B670B-DA46-453A-B30E-C2C07CC6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576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over-key-text-1">
            <a:extLst xmlns:a="http://schemas.openxmlformats.org/drawingml/2006/main">
              <a:ext uri="{FF2B5EF4-FFF2-40B4-BE49-F238E27FC236}">
                <a16:creationId xmlns:a16="http://schemas.microsoft.com/office/drawing/2014/main" id="{E0BCD5D3-8642-4418-91A1-4E6959B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93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Turns fragmented patient data into one next step</a:t>
            </a:r>
          </a:p>
        </p:txBody>
      </p:sp>
      <p:sp>
        <p:nvSpPr>
          <p:cNvPr id="8" name="cover-key-line-2">
            <a:extLst xmlns:a="http://schemas.openxmlformats.org/drawingml/2006/main">
              <a:ext uri="{FF2B5EF4-FFF2-40B4-BE49-F238E27FC236}">
                <a16:creationId xmlns:a16="http://schemas.microsoft.com/office/drawing/2014/main" id="{27483CF7-FA03-4264-9702-5E15DE39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cover-key-text-2">
            <a:extLst xmlns:a="http://schemas.openxmlformats.org/drawingml/2006/main">
              <a:ext uri="{FF2B5EF4-FFF2-40B4-BE49-F238E27FC236}">
                <a16:creationId xmlns:a16="http://schemas.microsoft.com/office/drawing/2014/main" id="{FCF49F8C-A24F-4336-B22C-9534C57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36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Memory, retrieval, and specialist agents</a:t>
            </a:r>
          </a:p>
        </p:txBody>
      </p:sp>
      <p:sp>
        <p:nvSpPr>
          <p:cNvPr id="10" name="cover-key-line-3">
            <a:extLst xmlns:a="http://schemas.openxmlformats.org/drawingml/2006/main">
              <a:ext uri="{FF2B5EF4-FFF2-40B4-BE49-F238E27FC236}">
                <a16:creationId xmlns:a16="http://schemas.microsoft.com/office/drawing/2014/main" id="{F96AC5B2-CFDA-4BB8-A2B4-8B661C3D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47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1" name="cover-key-text-3">
            <a:extLst xmlns:a="http://schemas.openxmlformats.org/drawingml/2006/main">
              <a:ext uri="{FF2B5EF4-FFF2-40B4-BE49-F238E27FC236}">
                <a16:creationId xmlns:a16="http://schemas.microsoft.com/office/drawing/2014/main" id="{47655E39-DD00-4C34-A7FF-F1C72291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by default</a:t>
            </a:r>
          </a:p>
        </p:txBody>
      </p:sp>
      <p:sp>
        <p:nvSpPr>
          <p:cNvPr id="12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3E610EEF-BB92-47A8-8A22-58780F02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Cloud access is optional, not required.</a:t>
            </a:r>
          </a:p>
        </p:txBody>
      </p:sp>
      <p:sp>
        <p:nvSpPr>
          <p:cNvPr id="13" name="cover-desktop-backplate">
            <a:extLst xmlns:a="http://schemas.openxmlformats.org/drawingml/2006/main">
              <a:ext uri="{FF2B5EF4-FFF2-40B4-BE49-F238E27FC236}">
                <a16:creationId xmlns:a16="http://schemas.microsoft.com/office/drawing/2014/main" id="{FF409DD5-963C-4C65-BC82-00E9DC7E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"/>
            <a:ext cx="7162800" cy="5962650"/>
          </a:xfrm>
          <a:prstGeom xmlns:a="http://schemas.openxmlformats.org/drawingml/2006/main" prst="roundRect">
            <a:avLst>
              <a:gd name="adj" fmla="val 255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14" name="cover-desktop-frame">
            <a:extLst xmlns:a="http://schemas.openxmlformats.org/drawingml/2006/main">
              <a:ext uri="{FF2B5EF4-FFF2-40B4-BE49-F238E27FC236}">
                <a16:creationId xmlns:a16="http://schemas.microsoft.com/office/drawing/2014/main" id="{00223822-048F-438B-85DA-7A001525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1500"/>
            <a:ext cx="6934200" cy="5734050"/>
          </a:xfrm>
          <a:prstGeom xmlns:a="http://schemas.openxmlformats.org/drawingml/2006/main" prst="roundRect">
            <a:avLst>
              <a:gd name="adj" fmla="val 26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ad160b2084501"/>
          <a:srcRect xmlns:a="http://schemas.openxmlformats.org/drawingml/2006/main" l="15585" t="0" r="155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571500"/>
            <a:ext cx="6934200" cy="5734050"/>
          </a:xfrm>
          <a:prstGeom xmlns:a="http://schemas.openxmlformats.org/drawingml/2006/main" prst="roundRect">
            <a:avLst>
              <a:gd name="adj" fmla="val 2658"/>
            </a:avLst>
          </a:prstGeom>
        </p:spPr>
      </p:pic>
    </p:spTree>
    <p:extLst>
      <p:ext uri="{BB962C8B-B14F-4D97-AF65-F5344CB8AC3E}">
        <p14:creationId xmlns:p14="http://schemas.microsoft.com/office/powerpoint/2010/main" val="206530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">
            <a:extLst xmlns:a="http://schemas.openxmlformats.org/drawingml/2006/main">
              <a:ext uri="{FF2B5EF4-FFF2-40B4-BE49-F238E27FC236}">
                <a16:creationId xmlns:a16="http://schemas.microsoft.com/office/drawing/2014/main" id="{1E0C0B25-EBDE-40B4-BFE1-04B92684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</a:t>
            </a:r>
          </a:p>
        </p:txBody>
      </p:sp>
      <p:sp>
        <p:nvSpPr>
          <p:cNvPr id="2" name="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410E5C44-AAC7-40CD-ABBF-13694B3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From fragmented care data to one next step</a:t>
            </a:r>
          </a:p>
        </p:txBody>
      </p:sp>
      <p:sp>
        <p:nvSpPr>
          <p:cNvPr id="3" name="header-lin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CE672A33-6106-458E-AFEA-0007B2C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From fragmented care data to one next step">
            <a:extLst xmlns:a="http://schemas.openxmlformats.org/drawingml/2006/main">
              <a:ext uri="{FF2B5EF4-FFF2-40B4-BE49-F238E27FC236}">
                <a16:creationId xmlns:a16="http://schemas.microsoft.com/office/drawing/2014/main" id="{00F27FF9-9F95-4F96-A526-0407C088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Scattered care context becomes one focused, safety-checked response.</a:t>
            </a:r>
          </a:p>
        </p:txBody>
      </p:sp>
      <p:sp>
        <p:nvSpPr>
          <p:cNvPr id="5" name="application-input-panel">
            <a:extLst xmlns:a="http://schemas.openxmlformats.org/drawingml/2006/main">
              <a:ext uri="{FF2B5EF4-FFF2-40B4-BE49-F238E27FC236}">
                <a16:creationId xmlns:a16="http://schemas.microsoft.com/office/drawing/2014/main" id="{A43DA38B-715F-4A79-88C1-9B24FC40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38350"/>
            <a:ext cx="4362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application-input-line">
            <a:extLst xmlns:a="http://schemas.openxmlformats.org/drawingml/2006/main">
              <a:ext uri="{FF2B5EF4-FFF2-40B4-BE49-F238E27FC236}">
                <a16:creationId xmlns:a16="http://schemas.microsoft.com/office/drawing/2014/main" id="{44ABD37A-9DE3-4658-B666-B6C64EF9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application-input-title">
            <a:extLst xmlns:a="http://schemas.openxmlformats.org/drawingml/2006/main">
              <a:ext uri="{FF2B5EF4-FFF2-40B4-BE49-F238E27FC236}">
                <a16:creationId xmlns:a16="http://schemas.microsoft.com/office/drawing/2014/main" id="{5CE5AB72-5E60-47B5-A0A0-69D95C48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in</a:t>
            </a:r>
          </a:p>
        </p:txBody>
      </p:sp>
      <p:sp>
        <p:nvSpPr>
          <p:cNvPr id="8" name="application-input-body">
            <a:extLst xmlns:a="http://schemas.openxmlformats.org/drawingml/2006/main">
              <a:ext uri="{FF2B5EF4-FFF2-40B4-BE49-F238E27FC236}">
                <a16:creationId xmlns:a16="http://schemas.microsoft.com/office/drawing/2014/main" id="{60EE4574-A1A8-446E-9784-C14BC4FA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146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Healthcare context is usually scattered.</a:t>
            </a:r>
          </a:p>
        </p:txBody>
      </p:sp>
      <p:sp>
        <p:nvSpPr>
          <p:cNvPr id="9" name="application-input-pill-1-panel">
            <a:extLst xmlns:a="http://schemas.openxmlformats.org/drawingml/2006/main">
              <a:ext uri="{FF2B5EF4-FFF2-40B4-BE49-F238E27FC236}">
                <a16:creationId xmlns:a16="http://schemas.microsoft.com/office/drawing/2014/main" id="{7CE5E992-DA5F-4445-B1A3-C7D31D60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0" name="application-input-pill-1-text">
            <a:extLst xmlns:a="http://schemas.openxmlformats.org/drawingml/2006/main">
              <a:ext uri="{FF2B5EF4-FFF2-40B4-BE49-F238E27FC236}">
                <a16:creationId xmlns:a16="http://schemas.microsoft.com/office/drawing/2014/main" id="{9C609FC0-7F13-43F4-A6B4-47F57E5C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Symptoms</a:t>
            </a:r>
          </a:p>
        </p:txBody>
      </p:sp>
      <p:sp>
        <p:nvSpPr>
          <p:cNvPr id="11" name="application-input-pill-2-panel">
            <a:extLst xmlns:a="http://schemas.openxmlformats.org/drawingml/2006/main">
              <a:ext uri="{FF2B5EF4-FFF2-40B4-BE49-F238E27FC236}">
                <a16:creationId xmlns:a16="http://schemas.microsoft.com/office/drawing/2014/main" id="{97F84970-9B03-45CD-B94F-AE73990F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433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2" name="application-input-pill-2-text">
            <a:extLst xmlns:a="http://schemas.openxmlformats.org/drawingml/2006/main">
              <a:ext uri="{FF2B5EF4-FFF2-40B4-BE49-F238E27FC236}">
                <a16:creationId xmlns:a16="http://schemas.microsoft.com/office/drawing/2014/main" id="{8147F062-164E-4B1B-8069-BC79BCD8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562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13" name="application-input-pill-3-panel">
            <a:extLst xmlns:a="http://schemas.openxmlformats.org/drawingml/2006/main">
              <a:ext uri="{FF2B5EF4-FFF2-40B4-BE49-F238E27FC236}">
                <a16:creationId xmlns:a16="http://schemas.microsoft.com/office/drawing/2014/main" id="{1FFD5B49-8FDA-4F8A-8688-45DFADDE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14" name="application-input-pill-3-text">
            <a:extLst xmlns:a="http://schemas.openxmlformats.org/drawingml/2006/main">
              <a:ext uri="{FF2B5EF4-FFF2-40B4-BE49-F238E27FC236}">
                <a16:creationId xmlns:a16="http://schemas.microsoft.com/office/drawing/2014/main" id="{5AAB8A59-AE92-4401-BFD2-B915A05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Medicines</a:t>
            </a:r>
          </a:p>
        </p:txBody>
      </p:sp>
      <p:sp>
        <p:nvSpPr>
          <p:cNvPr id="15" name="application-input-pill-4-panel">
            <a:extLst xmlns:a="http://schemas.openxmlformats.org/drawingml/2006/main">
              <a:ext uri="{FF2B5EF4-FFF2-40B4-BE49-F238E27FC236}">
                <a16:creationId xmlns:a16="http://schemas.microsoft.com/office/drawing/2014/main" id="{A0724B1A-48C1-4187-B61C-974E996A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386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7F5"/>
            </a:solidFill>
            <a:prstDash val="solid"/>
          </a:ln>
        </p:spPr>
      </p:sp>
      <p:sp>
        <p:nvSpPr>
          <p:cNvPr id="16" name="application-input-pill-4-text">
            <a:extLst xmlns:a="http://schemas.openxmlformats.org/drawingml/2006/main">
              <a:ext uri="{FF2B5EF4-FFF2-40B4-BE49-F238E27FC236}">
                <a16:creationId xmlns:a16="http://schemas.microsoft.com/office/drawing/2014/main" id="{D496363C-4716-40CE-8268-59E51683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576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17" name="application-input-pill-5-panel">
            <a:extLst xmlns:a="http://schemas.openxmlformats.org/drawingml/2006/main">
              <a:ext uri="{FF2B5EF4-FFF2-40B4-BE49-F238E27FC236}">
                <a16:creationId xmlns:a16="http://schemas.microsoft.com/office/drawing/2014/main" id="{5E8098CC-02DC-4DA3-AD2B-850C59F2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7EFE8"/>
            </a:solidFill>
            <a:prstDash val="solid"/>
          </a:ln>
        </p:spPr>
      </p:sp>
      <p:sp>
        <p:nvSpPr>
          <p:cNvPr id="18" name="application-input-pill-5-text">
            <a:extLst xmlns:a="http://schemas.openxmlformats.org/drawingml/2006/main">
              <a:ext uri="{FF2B5EF4-FFF2-40B4-BE49-F238E27FC236}">
                <a16:creationId xmlns:a16="http://schemas.microsoft.com/office/drawing/2014/main" id="{DDFBE2B9-8190-4725-8C15-9381D829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19" name="application-input-pill-6-panel">
            <a:extLst xmlns:a="http://schemas.openxmlformats.org/drawingml/2006/main">
              <a:ext uri="{FF2B5EF4-FFF2-40B4-BE49-F238E27FC236}">
                <a16:creationId xmlns:a16="http://schemas.microsoft.com/office/drawing/2014/main" id="{05511827-2D48-49FB-A919-A14436F5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33900"/>
            <a:ext cx="142875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FFF2EA"/>
          </a:solidFill>
          <a:ln xmlns:a="http://schemas.openxmlformats.org/drawingml/2006/main" w="9525">
            <a:solidFill>
              <a:srgbClr val="F5E0D4"/>
            </a:solidFill>
            <a:prstDash val="solid"/>
          </a:ln>
        </p:spPr>
      </p:sp>
      <p:sp>
        <p:nvSpPr>
          <p:cNvPr id="20" name="application-input-pill-6-text">
            <a:extLst xmlns:a="http://schemas.openxmlformats.org/drawingml/2006/main">
              <a:ext uri="{FF2B5EF4-FFF2-40B4-BE49-F238E27FC236}">
                <a16:creationId xmlns:a16="http://schemas.microsoft.com/office/drawing/2014/main" id="{A63ACA8B-8F2C-4552-A4F8-454A4B44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552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21" name="application-input-close">
            <a:extLst xmlns:a="http://schemas.openxmlformats.org/drawingml/2006/main">
              <a:ext uri="{FF2B5EF4-FFF2-40B4-BE49-F238E27FC236}">
                <a16:creationId xmlns:a16="http://schemas.microsoft.com/office/drawing/2014/main" id="{896ABEEC-E1C2-49A5-B5F7-678F3B77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Users struggle to turn this into one safe action.</a:t>
            </a:r>
          </a:p>
        </p:txBody>
      </p:sp>
      <p:sp>
        <p:nvSpPr>
          <p:cNvPr id="22" name="application-output-panel">
            <a:extLst xmlns:a="http://schemas.openxmlformats.org/drawingml/2006/main">
              <a:ext uri="{FF2B5EF4-FFF2-40B4-BE49-F238E27FC236}">
                <a16:creationId xmlns:a16="http://schemas.microsoft.com/office/drawing/2014/main" id="{3D15A08B-37E6-4EA2-B37B-EF8946D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38350"/>
            <a:ext cx="66484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application-output-line">
            <a:extLst xmlns:a="http://schemas.openxmlformats.org/drawingml/2006/main">
              <a:ext uri="{FF2B5EF4-FFF2-40B4-BE49-F238E27FC236}">
                <a16:creationId xmlns:a16="http://schemas.microsoft.com/office/drawing/2014/main" id="{46E89977-C324-4C82-A3E4-59B292A7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669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application-output-title">
            <a:extLst xmlns:a="http://schemas.openxmlformats.org/drawingml/2006/main">
              <a:ext uri="{FF2B5EF4-FFF2-40B4-BE49-F238E27FC236}">
                <a16:creationId xmlns:a16="http://schemas.microsoft.com/office/drawing/2014/main" id="{5707DE43-D726-41A6-9E22-7C71991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14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What comes out</a:t>
            </a:r>
          </a:p>
        </p:txBody>
      </p:sp>
      <p:sp>
        <p:nvSpPr>
          <p:cNvPr id="25" name="application-output-hero">
            <a:extLst xmlns:a="http://schemas.openxmlformats.org/drawingml/2006/main">
              <a:ext uri="{FF2B5EF4-FFF2-40B4-BE49-F238E27FC236}">
                <a16:creationId xmlns:a16="http://schemas.microsoft.com/office/drawing/2014/main" id="{76DF0B14-23AE-444F-8850-08DA8920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9900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8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focused,</a:t>
            </a:r>
          </a:p>
          <a:p xmlns:a="http://schemas.openxmlformats.org/drawingml/2006/main">
            <a:pPr algn="l">
              <a:defRPr sz="30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30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safety-checked next step.</a:t>
            </a:r>
          </a:p>
        </p:txBody>
      </p:sp>
      <p:sp>
        <p:nvSpPr>
          <p:cNvPr id="26" name="application-output-bullet-icon-562-432">
            <a:extLst xmlns:a="http://schemas.openxmlformats.org/drawingml/2006/main">
              <a:ext uri="{FF2B5EF4-FFF2-40B4-BE49-F238E27FC236}">
                <a16:creationId xmlns:a16="http://schemas.microsoft.com/office/drawing/2014/main" id="{BD175CFC-79DB-4FA8-B52A-70A586F2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910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7" name="application-output-bullet-text-562-432">
            <a:extLst xmlns:a="http://schemas.openxmlformats.org/drawingml/2006/main">
              <a:ext uri="{FF2B5EF4-FFF2-40B4-BE49-F238E27FC236}">
                <a16:creationId xmlns:a16="http://schemas.microsoft.com/office/drawing/2014/main" id="{3D9268E3-5CEE-4D30-B459-EDE20736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14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Relevant risk level</a:t>
            </a:r>
          </a:p>
        </p:txBody>
      </p:sp>
      <p:sp>
        <p:nvSpPr>
          <p:cNvPr id="28" name="application-output-bullet-icon-562-474">
            <a:extLst xmlns:a="http://schemas.openxmlformats.org/drawingml/2006/main">
              <a:ext uri="{FF2B5EF4-FFF2-40B4-BE49-F238E27FC236}">
                <a16:creationId xmlns:a16="http://schemas.microsoft.com/office/drawing/2014/main" id="{54637E54-0E2F-40B0-8904-2609E8D2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910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9" name="application-output-bullet-text-562-474">
            <a:extLst xmlns:a="http://schemas.openxmlformats.org/drawingml/2006/main">
              <a:ext uri="{FF2B5EF4-FFF2-40B4-BE49-F238E27FC236}">
                <a16:creationId xmlns:a16="http://schemas.microsoft.com/office/drawing/2014/main" id="{7D2401EF-B69A-4428-87BA-CEAAB73F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148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Evidence-backed reason</a:t>
            </a:r>
          </a:p>
        </p:txBody>
      </p:sp>
      <p:sp>
        <p:nvSpPr>
          <p:cNvPr id="30" name="application-output-bullet-icon-562-516">
            <a:extLst xmlns:a="http://schemas.openxmlformats.org/drawingml/2006/main">
              <a:ext uri="{FF2B5EF4-FFF2-40B4-BE49-F238E27FC236}">
                <a16:creationId xmlns:a16="http://schemas.microsoft.com/office/drawing/2014/main" id="{EE9D8415-3C34-40A0-ADFF-8A8B9F78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991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application-output-bullet-text-562-516">
            <a:extLst xmlns:a="http://schemas.openxmlformats.org/drawingml/2006/main">
              <a:ext uri="{FF2B5EF4-FFF2-40B4-BE49-F238E27FC236}">
                <a16:creationId xmlns:a16="http://schemas.microsoft.com/office/drawing/2014/main" id="{4ABEAA97-BD30-4E3A-9F5A-FB951171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next action</a:t>
            </a:r>
          </a:p>
        </p:txBody>
      </p:sp>
      <p:sp>
        <p:nvSpPr>
          <p:cNvPr id="32" name="application-output-close">
            <a:extLst xmlns:a="http://schemas.openxmlformats.org/drawingml/2006/main">
              <a:ext uri="{FF2B5EF4-FFF2-40B4-BE49-F238E27FC236}">
                <a16:creationId xmlns:a16="http://schemas.microsoft.com/office/drawing/2014/main" id="{F301DE59-F7F4-4FD5-8F2C-03210004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53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Not a broad answer. A guided next step.</a:t>
            </a:r>
          </a:p>
        </p:txBody>
      </p:sp>
      <p:sp>
        <p:nvSpPr>
          <p:cNvPr id="33" name="app-footer-card">
            <a:extLst xmlns:a="http://schemas.openxmlformats.org/drawingml/2006/main">
              <a:ext uri="{FF2B5EF4-FFF2-40B4-BE49-F238E27FC236}">
                <a16:creationId xmlns:a16="http://schemas.microsoft.com/office/drawing/2014/main" id="{A5E9218E-83F8-43D0-B29C-E4EEF75A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72200"/>
            <a:ext cx="11353800" cy="438150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E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app-bottom-line">
            <a:extLst xmlns:a="http://schemas.openxmlformats.org/drawingml/2006/main">
              <a:ext uri="{FF2B5EF4-FFF2-40B4-BE49-F238E27FC236}">
                <a16:creationId xmlns:a16="http://schemas.microsoft.com/office/drawing/2014/main" id="{7E7FA4C3-AA2C-445E-AC6F-B1D06B5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35" name="app-bottom-text">
            <a:extLst xmlns:a="http://schemas.openxmlformats.org/drawingml/2006/main">
              <a:ext uri="{FF2B5EF4-FFF2-40B4-BE49-F238E27FC236}">
                <a16:creationId xmlns:a16="http://schemas.microsoft.com/office/drawing/2014/main" id="{2AA21C65-FB6B-4D26-AEC4-0B2C66B0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2865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Care Nova organizes context before it answers.</a:t>
            </a:r>
          </a:p>
        </p:txBody>
      </p:sp>
    </p:spTree>
    <p:extLst>
      <p:ext uri="{BB962C8B-B14F-4D97-AF65-F5344CB8AC3E}">
        <p14:creationId xmlns:p14="http://schemas.microsoft.com/office/powerpoint/2010/main" val="2909207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MODEL WORKFLOW">
            <a:extLst xmlns:a="http://schemas.openxmlformats.org/drawingml/2006/main">
              <a:ext uri="{FF2B5EF4-FFF2-40B4-BE49-F238E27FC236}">
                <a16:creationId xmlns:a16="http://schemas.microsoft.com/office/drawing/2014/main" id="{362C0926-53BF-46C4-8852-06F215E5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MODEL WORKFLOW</a:t>
            </a:r>
          </a:p>
        </p:txBody>
      </p:sp>
      <p:sp>
        <p:nvSpPr>
          <p:cNvPr id="2" name="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2691208B-B99D-4AFF-8459-C8C186DD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is not a normal chatbot</a:t>
            </a:r>
          </a:p>
        </p:txBody>
      </p:sp>
      <p:sp>
        <p:nvSpPr>
          <p:cNvPr id="3" name="header-lin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1E6B22FF-1A04-4547-BBB5-878CF735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Why it is not a normal chatbot">
            <a:extLst xmlns:a="http://schemas.openxmlformats.org/drawingml/2006/main">
              <a:ext uri="{FF2B5EF4-FFF2-40B4-BE49-F238E27FC236}">
                <a16:creationId xmlns:a16="http://schemas.microsoft.com/office/drawing/2014/main" id="{5CFC638D-586A-441D-82EE-045822FE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A generic chatbot answers once. Care Nova checks, routes, and guards first.</a:t>
            </a:r>
          </a:p>
        </p:txBody>
      </p:sp>
      <p:sp>
        <p:nvSpPr>
          <p:cNvPr id="5" name="workflow-spine">
            <a:extLst xmlns:a="http://schemas.openxmlformats.org/drawingml/2006/main">
              <a:ext uri="{FF2B5EF4-FFF2-40B4-BE49-F238E27FC236}">
                <a16:creationId xmlns:a16="http://schemas.microsoft.com/office/drawing/2014/main" id="{EA5C0D12-D2A9-4906-A996-6D0B30BD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9E4"/>
          </a:solidFill>
          <a:ln xmlns:a="http://schemas.openxmlformats.org/drawingml/2006/main" w="0">
            <a:solidFill>
              <a:srgbClr val="CCD9E4"/>
            </a:solidFill>
            <a:prstDash val="solid"/>
          </a:ln>
        </p:spPr>
      </p:sp>
      <p:sp>
        <p:nvSpPr>
          <p:cNvPr id="6" name="workflow-step-1-panel">
            <a:extLst xmlns:a="http://schemas.openxmlformats.org/drawingml/2006/main">
              <a:ext uri="{FF2B5EF4-FFF2-40B4-BE49-F238E27FC236}">
                <a16:creationId xmlns:a16="http://schemas.microsoft.com/office/drawing/2014/main" id="{99E2766F-B675-4A30-9C94-0C1004BC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7" name="workflow-step-1-text">
            <a:extLst xmlns:a="http://schemas.openxmlformats.org/drawingml/2006/main">
              <a:ext uri="{FF2B5EF4-FFF2-40B4-BE49-F238E27FC236}">
                <a16:creationId xmlns:a16="http://schemas.microsoft.com/office/drawing/2014/main" id="{BA26B53A-1284-4A14-96BE-E9F02EA1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8" name="workflow-step-title-1">
            <a:extLst xmlns:a="http://schemas.openxmlformats.org/drawingml/2006/main">
              <a:ext uri="{FF2B5EF4-FFF2-40B4-BE49-F238E27FC236}">
                <a16:creationId xmlns:a16="http://schemas.microsoft.com/office/drawing/2014/main" id="{50851DD7-035E-4425-890E-C58847C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526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input</a:t>
            </a:r>
          </a:p>
        </p:txBody>
      </p:sp>
      <p:sp>
        <p:nvSpPr>
          <p:cNvPr id="9" name="workflow-step-body-1">
            <a:extLst xmlns:a="http://schemas.openxmlformats.org/drawingml/2006/main">
              <a:ext uri="{FF2B5EF4-FFF2-40B4-BE49-F238E27FC236}">
                <a16:creationId xmlns:a16="http://schemas.microsoft.com/office/drawing/2014/main" id="{2190A846-7A62-48C6-ADFE-1ABA2BE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Symptom, reading, medicine question, or care request enters.</a:t>
            </a:r>
          </a:p>
        </p:txBody>
      </p:sp>
      <p:sp>
        <p:nvSpPr>
          <p:cNvPr id="10" name="workflow-step-2-panel">
            <a:extLst xmlns:a="http://schemas.openxmlformats.org/drawingml/2006/main">
              <a:ext uri="{FF2B5EF4-FFF2-40B4-BE49-F238E27FC236}">
                <a16:creationId xmlns:a16="http://schemas.microsoft.com/office/drawing/2014/main" id="{84E05CCC-2D32-4F28-A2A0-6A3BEBE3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11" name="workflow-step-2-text">
            <a:extLst xmlns:a="http://schemas.openxmlformats.org/drawingml/2006/main">
              <a:ext uri="{FF2B5EF4-FFF2-40B4-BE49-F238E27FC236}">
                <a16:creationId xmlns:a16="http://schemas.microsoft.com/office/drawing/2014/main" id="{A1F2860E-D2FB-40BC-A70E-B408E479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2" name="workflow-step-title-2">
            <a:extLst xmlns:a="http://schemas.openxmlformats.org/drawingml/2006/main">
              <a:ext uri="{FF2B5EF4-FFF2-40B4-BE49-F238E27FC236}">
                <a16:creationId xmlns:a16="http://schemas.microsoft.com/office/drawing/2014/main" id="{D2C5A219-0C00-43FC-98B5-344C3D8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 load</a:t>
            </a:r>
          </a:p>
        </p:txBody>
      </p:sp>
      <p:sp>
        <p:nvSpPr>
          <p:cNvPr id="13" name="workflow-step-body-2">
            <a:extLst xmlns:a="http://schemas.openxmlformats.org/drawingml/2006/main">
              <a:ext uri="{FF2B5EF4-FFF2-40B4-BE49-F238E27FC236}">
                <a16:creationId xmlns:a16="http://schemas.microsoft.com/office/drawing/2014/main" id="{717F6CB3-7389-4AE2-A9C2-702CF892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8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Recent patient context reloads before analysis starts.</a:t>
            </a:r>
          </a:p>
        </p:txBody>
      </p:sp>
      <p:sp>
        <p:nvSpPr>
          <p:cNvPr id="14" name="workflow-step-3-panel">
            <a:extLst xmlns:a="http://schemas.openxmlformats.org/drawingml/2006/main">
              <a:ext uri="{FF2B5EF4-FFF2-40B4-BE49-F238E27FC236}">
                <a16:creationId xmlns:a16="http://schemas.microsoft.com/office/drawing/2014/main" id="{C936E946-4752-4EC8-BC9C-12C12417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15" name="workflow-step-3-text">
            <a:extLst xmlns:a="http://schemas.openxmlformats.org/drawingml/2006/main">
              <a:ext uri="{FF2B5EF4-FFF2-40B4-BE49-F238E27FC236}">
                <a16:creationId xmlns:a16="http://schemas.microsoft.com/office/drawing/2014/main" id="{17A6102B-FB5A-40A4-9393-822759C0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6" name="workflow-step-title-3">
            <a:extLst xmlns:a="http://schemas.openxmlformats.org/drawingml/2006/main">
              <a:ext uri="{FF2B5EF4-FFF2-40B4-BE49-F238E27FC236}">
                <a16:creationId xmlns:a16="http://schemas.microsoft.com/office/drawing/2014/main" id="{11DBF45E-CB52-401C-9E08-8CB25A51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Intent classify</a:t>
            </a:r>
          </a:p>
        </p:txBody>
      </p:sp>
      <p:sp>
        <p:nvSpPr>
          <p:cNvPr id="17" name="workflow-step-body-3">
            <a:extLst xmlns:a="http://schemas.openxmlformats.org/drawingml/2006/main">
              <a:ext uri="{FF2B5EF4-FFF2-40B4-BE49-F238E27FC236}">
                <a16:creationId xmlns:a16="http://schemas.microsoft.com/office/drawing/2014/main" id="{F4BE7B08-0001-4476-86FC-DB8C8D3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909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request is routed into the correct care path.</a:t>
            </a:r>
          </a:p>
        </p:txBody>
      </p:sp>
      <p:sp>
        <p:nvSpPr>
          <p:cNvPr id="18" name="workflow-step-4-panel">
            <a:extLst xmlns:a="http://schemas.openxmlformats.org/drawingml/2006/main">
              <a:ext uri="{FF2B5EF4-FFF2-40B4-BE49-F238E27FC236}">
                <a16:creationId xmlns:a16="http://schemas.microsoft.com/office/drawing/2014/main" id="{2BBD3F75-D872-4B6C-9C85-196865BE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19" name="workflow-step-4-text">
            <a:extLst xmlns:a="http://schemas.openxmlformats.org/drawingml/2006/main">
              <a:ext uri="{FF2B5EF4-FFF2-40B4-BE49-F238E27FC236}">
                <a16:creationId xmlns:a16="http://schemas.microsoft.com/office/drawing/2014/main" id="{FCA8066D-2BCC-46B6-9F35-A996766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100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0" name="workflow-step-title-4">
            <a:extLst xmlns:a="http://schemas.openxmlformats.org/drawingml/2006/main">
              <a:ext uri="{FF2B5EF4-FFF2-40B4-BE49-F238E27FC236}">
                <a16:creationId xmlns:a16="http://schemas.microsoft.com/office/drawing/2014/main" id="{043B62BA-BEE2-4C67-9BC3-19D9CDED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Evidence + specialist</a:t>
            </a:r>
          </a:p>
        </p:txBody>
      </p:sp>
      <p:sp>
        <p:nvSpPr>
          <p:cNvPr id="21" name="workflow-step-body-4">
            <a:extLst xmlns:a="http://schemas.openxmlformats.org/drawingml/2006/main">
              <a:ext uri="{FF2B5EF4-FFF2-40B4-BE49-F238E27FC236}">
                <a16:creationId xmlns:a16="http://schemas.microsoft.com/office/drawing/2014/main" id="{14B8CB7C-ABDA-4E03-B70B-6F4B59D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767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9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Local evidence and specialist workflow shape the answer.</a:t>
            </a:r>
          </a:p>
        </p:txBody>
      </p:sp>
      <p:sp>
        <p:nvSpPr>
          <p:cNvPr id="22" name="workflow-step-5-panel">
            <a:extLst xmlns:a="http://schemas.openxmlformats.org/drawingml/2006/main">
              <a:ext uri="{FF2B5EF4-FFF2-40B4-BE49-F238E27FC236}">
                <a16:creationId xmlns:a16="http://schemas.microsoft.com/office/drawing/2014/main" id="{48AFADD7-C4B4-4632-B563-FA9FA229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76800"/>
            <a:ext cx="533400" cy="3810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47C4C"/>
          </a:solidFill>
          <a:ln xmlns:a="http://schemas.openxmlformats.org/drawingml/2006/main" w="9525">
            <a:solidFill>
              <a:srgbClr val="F47C4C"/>
            </a:solidFill>
            <a:prstDash val="solid"/>
          </a:ln>
        </p:spPr>
      </p:sp>
      <p:sp>
        <p:nvSpPr>
          <p:cNvPr id="23" name="workflow-step-5-text">
            <a:extLst xmlns:a="http://schemas.openxmlformats.org/drawingml/2006/main">
              <a:ext uri="{FF2B5EF4-FFF2-40B4-BE49-F238E27FC236}">
                <a16:creationId xmlns:a16="http://schemas.microsoft.com/office/drawing/2014/main" id="{590F7017-A95F-49EA-908A-9BDD2398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958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24" name="workflow-step-title-5">
            <a:extLst xmlns:a="http://schemas.openxmlformats.org/drawingml/2006/main">
              <a:ext uri="{FF2B5EF4-FFF2-40B4-BE49-F238E27FC236}">
                <a16:creationId xmlns:a16="http://schemas.microsoft.com/office/drawing/2014/main" id="{FFF9793D-C2E7-4D7B-9E95-64D2569B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958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9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Safety-checked reply</a:t>
            </a:r>
          </a:p>
        </p:txBody>
      </p:sp>
      <p:sp>
        <p:nvSpPr>
          <p:cNvPr id="25" name="workflow-step-body-5">
            <a:extLst xmlns:a="http://schemas.openxmlformats.org/drawingml/2006/main">
              <a:ext uri="{FF2B5EF4-FFF2-40B4-BE49-F238E27FC236}">
                <a16:creationId xmlns:a16="http://schemas.microsoft.com/office/drawing/2014/main" id="{4D4D4DF7-9318-447C-9A13-8CF13719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62550"/>
            <a:ext cx="3733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Guardrails check the response before it is shown.</a:t>
            </a:r>
          </a:p>
        </p:txBody>
      </p:sp>
      <p:sp>
        <p:nvSpPr>
          <p:cNvPr id="26" name="example-route-card-backplate">
            <a:extLst xmlns:a="http://schemas.openxmlformats.org/drawingml/2006/main">
              <a:ext uri="{FF2B5EF4-FFF2-40B4-BE49-F238E27FC236}">
                <a16:creationId xmlns:a16="http://schemas.microsoft.com/office/drawing/2014/main" id="{0454A385-902B-4EB4-8D4E-8B65D7FD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981200"/>
            <a:ext cx="6057900" cy="3943350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27" name="example-route-card-frame">
            <a:extLst xmlns:a="http://schemas.openxmlformats.org/drawingml/2006/main">
              <a:ext uri="{FF2B5EF4-FFF2-40B4-BE49-F238E27FC236}">
                <a16:creationId xmlns:a16="http://schemas.microsoft.com/office/drawing/2014/main" id="{A27A91FD-7DEF-43BE-81D0-059E6B62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a55a335c142d6"/>
          <a:srcRect xmlns:a="http://schemas.openxmlformats.org/drawingml/2006/main" l="5342" t="0" r="5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67400" y="2095500"/>
            <a:ext cx="5829300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29" name="workflow-close-panel">
            <a:extLst xmlns:a="http://schemas.openxmlformats.org/drawingml/2006/main">
              <a:ext uri="{FF2B5EF4-FFF2-40B4-BE49-F238E27FC236}">
                <a16:creationId xmlns:a16="http://schemas.microsoft.com/office/drawing/2014/main" id="{E0234C6F-71F9-4BB7-A33F-56940D79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43600"/>
            <a:ext cx="11201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1EBF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workflow-close-line">
            <a:extLst xmlns:a="http://schemas.openxmlformats.org/drawingml/2006/main">
              <a:ext uri="{FF2B5EF4-FFF2-40B4-BE49-F238E27FC236}">
                <a16:creationId xmlns:a16="http://schemas.microsoft.com/office/drawing/2014/main" id="{64F514ED-5E32-4922-B596-C7125007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1" name="workflow-close-text">
            <a:extLst xmlns:a="http://schemas.openxmlformats.org/drawingml/2006/main">
              <a:ext uri="{FF2B5EF4-FFF2-40B4-BE49-F238E27FC236}">
                <a16:creationId xmlns:a16="http://schemas.microsoft.com/office/drawing/2014/main" id="{FEA29753-5C32-4E15-A20D-B078A54E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76950"/>
            <a:ext cx="967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The reply is shaped by workflow, not by one free-form prompt.</a:t>
            </a:r>
          </a:p>
        </p:txBody>
      </p:sp>
    </p:spTree>
    <p:extLst>
      <p:ext uri="{BB962C8B-B14F-4D97-AF65-F5344CB8AC3E}">
        <p14:creationId xmlns:p14="http://schemas.microsoft.com/office/powerpoint/2010/main" val="11506124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YSTEM DESIGN">
            <a:extLst xmlns:a="http://schemas.openxmlformats.org/drawingml/2006/main">
              <a:ext uri="{FF2B5EF4-FFF2-40B4-BE49-F238E27FC236}">
                <a16:creationId xmlns:a16="http://schemas.microsoft.com/office/drawing/2014/main" id="{79EF9A5C-7861-4982-BB1A-0D908E6B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SYSTEM DESIGN</a:t>
            </a:r>
          </a:p>
        </p:txBody>
      </p:sp>
      <p:sp>
        <p:nvSpPr>
          <p:cNvPr id="2" name="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58443CE0-75E5-4BCA-8073-8657337C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Each request is routed to the right specialist path</a:t>
            </a:r>
          </a:p>
        </p:txBody>
      </p:sp>
      <p:sp>
        <p:nvSpPr>
          <p:cNvPr id="3" name="header-lin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1D6693C1-708A-45CC-86C8-CA1A8DDC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Each request is routed to the right specialist path">
            <a:extLst xmlns:a="http://schemas.openxmlformats.org/drawingml/2006/main">
              <a:ext uri="{FF2B5EF4-FFF2-40B4-BE49-F238E27FC236}">
                <a16:creationId xmlns:a16="http://schemas.microsoft.com/office/drawing/2014/main" id="{E2393DE5-35A9-4E3D-8927-EFA46F29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Single model? No. Agentic? Yes. RAG? Yes, with memory and safety.</a:t>
            </a:r>
          </a:p>
        </p:txBody>
      </p:sp>
      <p:sp>
        <p:nvSpPr>
          <p:cNvPr id="5" name="router-callout-line">
            <a:extLst xmlns:a="http://schemas.openxmlformats.org/drawingml/2006/main">
              <a:ext uri="{FF2B5EF4-FFF2-40B4-BE49-F238E27FC236}">
                <a16:creationId xmlns:a16="http://schemas.microsoft.com/office/drawing/2014/main" id="{5EE62116-45B0-48BA-B5CE-33EEC19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71700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6" name="router-callout-title">
            <a:extLst xmlns:a="http://schemas.openxmlformats.org/drawingml/2006/main">
              <a:ext uri="{FF2B5EF4-FFF2-40B4-BE49-F238E27FC236}">
                <a16:creationId xmlns:a16="http://schemas.microsoft.com/office/drawing/2014/main" id="{EC10FEAD-E57B-42F4-A6D5-0AC50FEA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3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System, not a flat chatbot call.</a:t>
            </a:r>
          </a:p>
        </p:txBody>
      </p:sp>
      <p:sp>
        <p:nvSpPr>
          <p:cNvPr id="7" name="router-callout-body">
            <a:extLst xmlns:a="http://schemas.openxmlformats.org/drawingml/2006/main">
              <a:ext uri="{FF2B5EF4-FFF2-40B4-BE49-F238E27FC236}">
                <a16:creationId xmlns:a16="http://schemas.microsoft.com/office/drawing/2014/main" id="{26AD7BC2-170D-4F7A-80C6-AF1C5E30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2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workflow reloads memory, classifies intent, selects a specialist path, retrieves evidence, and then checks safety.</a:t>
            </a:r>
          </a:p>
        </p:txBody>
      </p:sp>
      <p:sp>
        <p:nvSpPr>
          <p:cNvPr id="8" name="router-label-Single model">
            <a:extLst xmlns:a="http://schemas.openxmlformats.org/drawingml/2006/main">
              <a:ext uri="{FF2B5EF4-FFF2-40B4-BE49-F238E27FC236}">
                <a16:creationId xmlns:a16="http://schemas.microsoft.com/office/drawing/2014/main" id="{F83F0822-BE65-4295-AE1A-075AA4EE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Single model</a:t>
            </a:r>
          </a:p>
        </p:txBody>
      </p:sp>
      <p:sp>
        <p:nvSpPr>
          <p:cNvPr id="9" name="router-value-Single model">
            <a:extLst xmlns:a="http://schemas.openxmlformats.org/drawingml/2006/main">
              <a:ext uri="{FF2B5EF4-FFF2-40B4-BE49-F238E27FC236}">
                <a16:creationId xmlns:a16="http://schemas.microsoft.com/office/drawing/2014/main" id="{83DE3819-65B3-40A1-9641-4C5339D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48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No</a:t>
            </a:r>
          </a:p>
        </p:txBody>
      </p:sp>
      <p:sp>
        <p:nvSpPr>
          <p:cNvPr id="10" name="router-label-Agentic">
            <a:extLst xmlns:a="http://schemas.openxmlformats.org/drawingml/2006/main">
              <a:ext uri="{FF2B5EF4-FFF2-40B4-BE49-F238E27FC236}">
                <a16:creationId xmlns:a16="http://schemas.microsoft.com/office/drawing/2014/main" id="{978A4FFF-3E39-45F3-A441-41959C79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Agentic</a:t>
            </a:r>
          </a:p>
        </p:txBody>
      </p:sp>
      <p:sp>
        <p:nvSpPr>
          <p:cNvPr id="11" name="router-value-Agentic">
            <a:extLst xmlns:a="http://schemas.openxmlformats.org/drawingml/2006/main">
              <a:ext uri="{FF2B5EF4-FFF2-40B4-BE49-F238E27FC236}">
                <a16:creationId xmlns:a16="http://schemas.microsoft.com/office/drawing/2014/main" id="{D80E6D33-AB97-4C61-8254-F42EE4CD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720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</a:t>
            </a:r>
          </a:p>
        </p:txBody>
      </p:sp>
      <p:sp>
        <p:nvSpPr>
          <p:cNvPr id="12" name="router-label-RAG">
            <a:extLst xmlns:a="http://schemas.openxmlformats.org/drawingml/2006/main">
              <a:ext uri="{FF2B5EF4-FFF2-40B4-BE49-F238E27FC236}">
                <a16:creationId xmlns:a16="http://schemas.microsoft.com/office/drawing/2014/main" id="{F1C78140-FF14-47D3-826D-CA4D2D4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RAG</a:t>
            </a:r>
          </a:p>
        </p:txBody>
      </p:sp>
      <p:sp>
        <p:nvSpPr>
          <p:cNvPr id="13" name="router-value-RAG">
            <a:extLst xmlns:a="http://schemas.openxmlformats.org/drawingml/2006/main">
              <a:ext uri="{FF2B5EF4-FFF2-40B4-BE49-F238E27FC236}">
                <a16:creationId xmlns:a16="http://schemas.microsoft.com/office/drawing/2014/main" id="{8A26B8CB-F6CE-48E7-8A6C-66558E11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959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573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Yes, memory + safety</a:t>
            </a:r>
          </a:p>
        </p:txBody>
      </p:sp>
      <p:sp>
        <p:nvSpPr>
          <p:cNvPr id="14" name="specialist-route-1">
            <a:extLst xmlns:a="http://schemas.openxmlformats.org/drawingml/2006/main">
              <a:ext uri="{FF2B5EF4-FFF2-40B4-BE49-F238E27FC236}">
                <a16:creationId xmlns:a16="http://schemas.microsoft.com/office/drawing/2014/main" id="{60BECBF3-8AC1-45B9-B538-2754AA1B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specialist-route-line-1">
            <a:extLst xmlns:a="http://schemas.openxmlformats.org/drawingml/2006/main">
              <a:ext uri="{FF2B5EF4-FFF2-40B4-BE49-F238E27FC236}">
                <a16:creationId xmlns:a16="http://schemas.microsoft.com/office/drawing/2014/main" id="{9739FF60-0950-44D2-9480-194FAB3A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specialist-route-title-1">
            <a:extLst xmlns:a="http://schemas.openxmlformats.org/drawingml/2006/main">
              <a:ext uri="{FF2B5EF4-FFF2-40B4-BE49-F238E27FC236}">
                <a16:creationId xmlns:a16="http://schemas.microsoft.com/office/drawing/2014/main" id="{8BC19359-B92A-4AD5-B34B-19BDE1CD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098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Agent</a:t>
            </a:r>
          </a:p>
        </p:txBody>
      </p:sp>
      <p:sp>
        <p:nvSpPr>
          <p:cNvPr id="17" name="specialist-route-body-1">
            <a:extLst xmlns:a="http://schemas.openxmlformats.org/drawingml/2006/main">
              <a:ext uri="{FF2B5EF4-FFF2-40B4-BE49-F238E27FC236}">
                <a16:creationId xmlns:a16="http://schemas.microsoft.com/office/drawing/2014/main" id="{185FB294-E575-4A03-9EF1-EF89CB93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718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46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Grounds general medical answers in local healthcare evidence.</a:t>
            </a:r>
          </a:p>
        </p:txBody>
      </p:sp>
      <p:sp>
        <p:nvSpPr>
          <p:cNvPr id="18" name="specialist-route-2">
            <a:extLst xmlns:a="http://schemas.openxmlformats.org/drawingml/2006/main">
              <a:ext uri="{FF2B5EF4-FFF2-40B4-BE49-F238E27FC236}">
                <a16:creationId xmlns:a16="http://schemas.microsoft.com/office/drawing/2014/main" id="{16DF6594-7D93-4FDF-8944-82046F01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526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specialist-route-line-2">
            <a:extLst xmlns:a="http://schemas.openxmlformats.org/drawingml/2006/main">
              <a:ext uri="{FF2B5EF4-FFF2-40B4-BE49-F238E27FC236}">
                <a16:creationId xmlns:a16="http://schemas.microsoft.com/office/drawing/2014/main" id="{D83648A2-C791-47F9-A267-AB741BFA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0" name="specialist-route-title-2">
            <a:extLst xmlns:a="http://schemas.openxmlformats.org/drawingml/2006/main">
              <a:ext uri="{FF2B5EF4-FFF2-40B4-BE49-F238E27FC236}">
                <a16:creationId xmlns:a16="http://schemas.microsoft.com/office/drawing/2014/main" id="{5DBBFB1A-95B0-426F-B294-2DC2C52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Pharmacy Agent</a:t>
            </a:r>
          </a:p>
        </p:txBody>
      </p:sp>
      <p:sp>
        <p:nvSpPr>
          <p:cNvPr id="21" name="specialist-route-body-2">
            <a:extLst xmlns:a="http://schemas.openxmlformats.org/drawingml/2006/main">
              <a:ext uri="{FF2B5EF4-FFF2-40B4-BE49-F238E27FC236}">
                <a16:creationId xmlns:a16="http://schemas.microsoft.com/office/drawing/2014/main" id="{904FDA18-F3CF-4BE9-90AA-4742B5A5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08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Handles medicine questions with medication-specific safety checks.</a:t>
            </a:r>
          </a:p>
        </p:txBody>
      </p:sp>
      <p:sp>
        <p:nvSpPr>
          <p:cNvPr id="22" name="specialist-route-3">
            <a:extLst xmlns:a="http://schemas.openxmlformats.org/drawingml/2006/main">
              <a:ext uri="{FF2B5EF4-FFF2-40B4-BE49-F238E27FC236}">
                <a16:creationId xmlns:a16="http://schemas.microsoft.com/office/drawing/2014/main" id="{B45CD447-18F8-4C82-B1A3-AA35F1F2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38481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specialist-route-line-3">
            <a:extLst xmlns:a="http://schemas.openxmlformats.org/drawingml/2006/main">
              <a:ext uri="{FF2B5EF4-FFF2-40B4-BE49-F238E27FC236}">
                <a16:creationId xmlns:a16="http://schemas.microsoft.com/office/drawing/2014/main" id="{7228A834-0B43-4CD9-AC1C-99A980C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specialist-route-title-3">
            <a:extLst xmlns:a="http://schemas.openxmlformats.org/drawingml/2006/main">
              <a:ext uri="{FF2B5EF4-FFF2-40B4-BE49-F238E27FC236}">
                <a16:creationId xmlns:a16="http://schemas.microsoft.com/office/drawing/2014/main" id="{5A707762-F1AA-4408-880B-7C1A0C29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7195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Scheduling Agent</a:t>
            </a:r>
          </a:p>
        </p:txBody>
      </p:sp>
      <p:sp>
        <p:nvSpPr>
          <p:cNvPr id="25" name="specialist-route-body-3">
            <a:extLst xmlns:a="http://schemas.openxmlformats.org/drawingml/2006/main">
              <a:ext uri="{FF2B5EF4-FFF2-40B4-BE49-F238E27FC236}">
                <a16:creationId xmlns:a16="http://schemas.microsoft.com/office/drawing/2014/main" id="{F22A489A-03B9-4D23-9BE7-FB42EC25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5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Supports visit prep, follow-up flow, and coordination requests.</a:t>
            </a:r>
          </a:p>
        </p:txBody>
      </p:sp>
      <p:sp>
        <p:nvSpPr>
          <p:cNvPr id="26" name="specialist-route-4">
            <a:extLst xmlns:a="http://schemas.openxmlformats.org/drawingml/2006/main">
              <a:ext uri="{FF2B5EF4-FFF2-40B4-BE49-F238E27FC236}">
                <a16:creationId xmlns:a16="http://schemas.microsoft.com/office/drawing/2014/main" id="{6FE50DCA-0541-4BB6-8AE2-591E17DE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392430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specialist-route-line-4">
            <a:extLst xmlns:a="http://schemas.openxmlformats.org/drawingml/2006/main">
              <a:ext uri="{FF2B5EF4-FFF2-40B4-BE49-F238E27FC236}">
                <a16:creationId xmlns:a16="http://schemas.microsoft.com/office/drawing/2014/main" id="{7A308CC7-6923-4915-9786-7E1182F6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24A"/>
          </a:solidFill>
          <a:ln xmlns:a="http://schemas.openxmlformats.org/drawingml/2006/main" w="0">
            <a:solidFill>
              <a:srgbClr val="12324A"/>
            </a:solidFill>
            <a:prstDash val="solid"/>
          </a:ln>
        </p:spPr>
      </p:sp>
      <p:sp>
        <p:nvSpPr>
          <p:cNvPr id="28" name="specialist-route-title-4">
            <a:extLst xmlns:a="http://schemas.openxmlformats.org/drawingml/2006/main">
              <a:ext uri="{FF2B5EF4-FFF2-40B4-BE49-F238E27FC236}">
                <a16:creationId xmlns:a16="http://schemas.microsoft.com/office/drawing/2014/main" id="{5C8E5426-B91B-4529-A35B-A506F132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71950"/>
            <a:ext cx="339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Alert Agent</a:t>
            </a:r>
          </a:p>
        </p:txBody>
      </p:sp>
      <p:sp>
        <p:nvSpPr>
          <p:cNvPr id="29" name="specialist-route-body-4">
            <a:extLst xmlns:a="http://schemas.openxmlformats.org/drawingml/2006/main">
              <a:ext uri="{FF2B5EF4-FFF2-40B4-BE49-F238E27FC236}">
                <a16:creationId xmlns:a16="http://schemas.microsoft.com/office/drawing/2014/main" id="{E32AE597-697E-4B91-B9EC-E026EBB3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3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Escalates urgent patterns into a safety-first response path.</a:t>
            </a:r>
          </a:p>
        </p:txBody>
      </p:sp>
      <p:sp>
        <p:nvSpPr>
          <p:cNvPr id="30" name="workspace-strip">
            <a:extLst xmlns:a="http://schemas.openxmlformats.org/drawingml/2006/main">
              <a:ext uri="{FF2B5EF4-FFF2-40B4-BE49-F238E27FC236}">
                <a16:creationId xmlns:a16="http://schemas.microsoft.com/office/drawing/2014/main" id="{5F0DA021-277A-4510-A095-B96E6C9F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38750"/>
            <a:ext cx="79629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31" name="workspace-strip-text">
            <a:extLst xmlns:a="http://schemas.openxmlformats.org/drawingml/2006/main">
              <a:ext uri="{FF2B5EF4-FFF2-40B4-BE49-F238E27FC236}">
                <a16:creationId xmlns:a16="http://schemas.microsoft.com/office/drawing/2014/main" id="{8FFF2ED9-FE53-4AA8-9228-A16CEEC0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391150"/>
            <a:ext cx="746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Focused workspaces: Vitals, Labs, Wellness, Records, Insurance, Summary.</a:t>
            </a:r>
          </a:p>
        </p:txBody>
      </p:sp>
      <p:sp>
        <p:nvSpPr>
          <p:cNvPr id="32" name="router-close">
            <a:extLst xmlns:a="http://schemas.openxmlformats.org/drawingml/2006/main">
              <a:ext uri="{FF2B5EF4-FFF2-40B4-BE49-F238E27FC236}">
                <a16:creationId xmlns:a16="http://schemas.microsoft.com/office/drawing/2014/main" id="{BFEB7D9D-548D-474B-A142-45AF0BD1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34100"/>
            <a:ext cx="11201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That is why Care Nova can answer narrowly instead of broadly.</a:t>
            </a:r>
          </a:p>
        </p:txBody>
      </p:sp>
    </p:spTree>
    <p:extLst>
      <p:ext uri="{BB962C8B-B14F-4D97-AF65-F5344CB8AC3E}">
        <p14:creationId xmlns:p14="http://schemas.microsoft.com/office/powerpoint/2010/main" val="772921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BUSINESS RELEVANCE">
            <a:extLst xmlns:a="http://schemas.openxmlformats.org/drawingml/2006/main">
              <a:ext uri="{FF2B5EF4-FFF2-40B4-BE49-F238E27FC236}">
                <a16:creationId xmlns:a16="http://schemas.microsoft.com/office/drawing/2014/main" id="{D511743B-FB0D-4F06-A6A7-AA8E34A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BUSINESS RELEVANCE</a:t>
            </a:r>
          </a:p>
        </p:txBody>
      </p:sp>
      <p:sp>
        <p:nvSpPr>
          <p:cNvPr id="2" name="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A37B90A4-FD6C-4AB0-81DF-B483FC2B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Local-first makes Care Nova practical to adopt</a:t>
            </a:r>
          </a:p>
        </p:txBody>
      </p:sp>
      <p:sp>
        <p:nvSpPr>
          <p:cNvPr id="3" name="header-lin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A1725D67-0114-4CE3-83D1-D9FB7E09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4" name="subtitle-Local-first makes Care Nova practical to adopt">
            <a:extLst xmlns:a="http://schemas.openxmlformats.org/drawingml/2006/main">
              <a:ext uri="{FF2B5EF4-FFF2-40B4-BE49-F238E27FC236}">
                <a16:creationId xmlns:a16="http://schemas.microsoft.com/office/drawing/2014/main" id="{8C3B2235-1452-4C2F-925F-1799ABE0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Privacy, reliability, and low deployment friction turn the demo into a usable product.</a:t>
            </a:r>
          </a:p>
        </p:txBody>
      </p:sp>
      <p:sp>
        <p:nvSpPr>
          <p:cNvPr id="5" name="offline-metric-panel">
            <a:extLst xmlns:a="http://schemas.openxmlformats.org/drawingml/2006/main">
              <a:ext uri="{FF2B5EF4-FFF2-40B4-BE49-F238E27FC236}">
                <a16:creationId xmlns:a16="http://schemas.microsoft.com/office/drawing/2014/main" id="{300E0CA6-A331-4106-9EB5-6DD8DDB8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33600"/>
            <a:ext cx="409575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offline-metric-line">
            <a:extLst xmlns:a="http://schemas.openxmlformats.org/drawingml/2006/main">
              <a:ext uri="{FF2B5EF4-FFF2-40B4-BE49-F238E27FC236}">
                <a16:creationId xmlns:a16="http://schemas.microsoft.com/office/drawing/2014/main" id="{C4B03574-7622-470A-9E32-541FF262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offline-metric-pill-panel">
            <a:extLst xmlns:a="http://schemas.openxmlformats.org/drawingml/2006/main">
              <a:ext uri="{FF2B5EF4-FFF2-40B4-BE49-F238E27FC236}">
                <a16:creationId xmlns:a16="http://schemas.microsoft.com/office/drawing/2014/main" id="{C262DAFA-7831-49F2-B14D-C7A68D71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8" name="offline-metric-pill-text">
            <a:extLst xmlns:a="http://schemas.openxmlformats.org/drawingml/2006/main">
              <a:ext uri="{FF2B5EF4-FFF2-40B4-BE49-F238E27FC236}">
                <a16:creationId xmlns:a16="http://schemas.microsoft.com/office/drawing/2014/main" id="{C40A5D04-84D0-4CFF-8A72-B1CDE861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Default mode</a:t>
            </a:r>
          </a:p>
        </p:txBody>
      </p:sp>
      <p:sp>
        <p:nvSpPr>
          <p:cNvPr id="9" name="offline-metric-number">
            <a:extLst xmlns:a="http://schemas.openxmlformats.org/drawingml/2006/main">
              <a:ext uri="{FF2B5EF4-FFF2-40B4-BE49-F238E27FC236}">
                <a16:creationId xmlns:a16="http://schemas.microsoft.com/office/drawing/2014/main" id="{F75FB831-E83B-45BC-8225-614F4075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10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825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0</a:t>
            </a:r>
          </a:p>
        </p:txBody>
      </p:sp>
      <p:sp>
        <p:nvSpPr>
          <p:cNvPr id="10" name="offline-metric-label">
            <a:extLst xmlns:a="http://schemas.openxmlformats.org/drawingml/2006/main">
              <a:ext uri="{FF2B5EF4-FFF2-40B4-BE49-F238E27FC236}">
                <a16:creationId xmlns:a16="http://schemas.microsoft.com/office/drawing/2014/main" id="{5085499E-3AF8-4ABD-8512-D49562C7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956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54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mandatory cloud calls</a:t>
            </a:r>
          </a:p>
        </p:txBody>
      </p:sp>
      <p:sp>
        <p:nvSpPr>
          <p:cNvPr id="11" name="offline-metric-body">
            <a:extLst xmlns:a="http://schemas.openxmlformats.org/drawingml/2006/main">
              <a:ext uri="{FF2B5EF4-FFF2-40B4-BE49-F238E27FC236}">
                <a16:creationId xmlns:a16="http://schemas.microsoft.com/office/drawing/2014/main" id="{4E6DB2F5-1D6E-49E3-B0E3-389D990D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6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core workflow still runs locally, even when cloud access is limited or unavailable.</a:t>
            </a:r>
          </a:p>
        </p:txBody>
      </p:sp>
      <p:sp>
        <p:nvSpPr>
          <p:cNvPr id="12" name="offline-metric-bullet-icon-68-476">
            <a:extLst xmlns:a="http://schemas.openxmlformats.org/drawingml/2006/main">
              <a:ext uri="{FF2B5EF4-FFF2-40B4-BE49-F238E27FC236}">
                <a16:creationId xmlns:a16="http://schemas.microsoft.com/office/drawing/2014/main" id="{7300B70D-62A6-4FEB-AEBA-E9B967C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offline-metric-bullet-text-68-476">
            <a:extLst xmlns:a="http://schemas.openxmlformats.org/drawingml/2006/main">
              <a:ext uri="{FF2B5EF4-FFF2-40B4-BE49-F238E27FC236}">
                <a16:creationId xmlns:a16="http://schemas.microsoft.com/office/drawing/2014/main" id="{C5C2B4AA-9546-4112-A439-F237BC5B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Privacy by default for patient context</a:t>
            </a:r>
          </a:p>
        </p:txBody>
      </p:sp>
      <p:sp>
        <p:nvSpPr>
          <p:cNvPr id="14" name="offline-metric-bullet-icon-68-510">
            <a:extLst xmlns:a="http://schemas.openxmlformats.org/drawingml/2006/main">
              <a:ext uri="{FF2B5EF4-FFF2-40B4-BE49-F238E27FC236}">
                <a16:creationId xmlns:a16="http://schemas.microsoft.com/office/drawing/2014/main" id="{FDD2B1B1-B422-4580-B70E-2431AD1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offline-metric-bullet-text-68-510">
            <a:extLst xmlns:a="http://schemas.openxmlformats.org/drawingml/2006/main">
              <a:ext uri="{FF2B5EF4-FFF2-40B4-BE49-F238E27FC236}">
                <a16:creationId xmlns:a16="http://schemas.microsoft.com/office/drawing/2014/main" id="{E68219E6-08E8-4651-AE35-731270A4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Reliable on weak or unstable networks</a:t>
            </a:r>
          </a:p>
        </p:txBody>
      </p:sp>
      <p:sp>
        <p:nvSpPr>
          <p:cNvPr id="16" name="offline-metric-bullet-icon-68-544">
            <a:extLst xmlns:a="http://schemas.openxmlformats.org/drawingml/2006/main">
              <a:ext uri="{FF2B5EF4-FFF2-40B4-BE49-F238E27FC236}">
                <a16:creationId xmlns:a16="http://schemas.microsoft.com/office/drawing/2014/main" id="{058716A6-4F3A-40B1-8EE0-E66555C0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7" name="offline-metric-bullet-text-68-544">
            <a:extLst xmlns:a="http://schemas.openxmlformats.org/drawingml/2006/main">
              <a:ext uri="{FF2B5EF4-FFF2-40B4-BE49-F238E27FC236}">
                <a16:creationId xmlns:a16="http://schemas.microsoft.com/office/drawing/2014/main" id="{863D4177-2B1E-4EA8-AF26-5CE564FE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81600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Works in controlled environments</a:t>
            </a:r>
          </a:p>
        </p:txBody>
      </p:sp>
      <p:sp>
        <p:nvSpPr>
          <p:cNvPr id="18" name="offline-local-card">
            <a:extLst xmlns:a="http://schemas.openxmlformats.org/drawingml/2006/main">
              <a:ext uri="{FF2B5EF4-FFF2-40B4-BE49-F238E27FC236}">
                <a16:creationId xmlns:a16="http://schemas.microsoft.com/office/drawing/2014/main" id="{D2874A5C-F3CD-46FB-9CA6-DAECC566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133600"/>
            <a:ext cx="68770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offline-local-line">
            <a:extLst xmlns:a="http://schemas.openxmlformats.org/drawingml/2006/main">
              <a:ext uri="{FF2B5EF4-FFF2-40B4-BE49-F238E27FC236}">
                <a16:creationId xmlns:a16="http://schemas.microsoft.com/office/drawing/2014/main" id="{BC28FF29-5D6E-4A85-B03F-C3DEBD7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0" name="offline-local-title">
            <a:extLst xmlns:a="http://schemas.openxmlformats.org/drawingml/2006/main">
              <a:ext uri="{FF2B5EF4-FFF2-40B4-BE49-F238E27FC236}">
                <a16:creationId xmlns:a16="http://schemas.microsoft.com/office/drawing/2014/main" id="{A92CD8AD-B38E-45EE-97F5-77CEE93F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Why it deploys</a:t>
            </a:r>
          </a:p>
        </p:txBody>
      </p:sp>
      <p:sp>
        <p:nvSpPr>
          <p:cNvPr id="21" name="offline-local-body">
            <a:extLst xmlns:a="http://schemas.openxmlformats.org/drawingml/2006/main">
              <a:ext uri="{FF2B5EF4-FFF2-40B4-BE49-F238E27FC236}">
                <a16:creationId xmlns:a16="http://schemas.microsoft.com/office/drawing/2014/main" id="{F38A4644-6B21-4EED-AFD9-F929D0C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611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3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Patient memory, records, graph facts, and app state stay local by default, so pilots do not start with a cloud dependency.</a:t>
            </a:r>
          </a:p>
        </p:txBody>
      </p:sp>
      <p:sp>
        <p:nvSpPr>
          <p:cNvPr id="22" name="offline-why-card">
            <a:extLst xmlns:a="http://schemas.openxmlformats.org/drawingml/2006/main">
              <a:ext uri="{FF2B5EF4-FFF2-40B4-BE49-F238E27FC236}">
                <a16:creationId xmlns:a16="http://schemas.microsoft.com/office/drawing/2014/main" id="{3D8727F3-BF07-41DA-8BC5-13CFB5AA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68770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offline-why-line">
            <a:extLst xmlns:a="http://schemas.openxmlformats.org/drawingml/2006/main">
              <a:ext uri="{FF2B5EF4-FFF2-40B4-BE49-F238E27FC236}">
                <a16:creationId xmlns:a16="http://schemas.microsoft.com/office/drawing/2014/main" id="{C0D78616-6B02-4C58-BB9B-AD2FF0F0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19550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offline-why-title">
            <a:extLst xmlns:a="http://schemas.openxmlformats.org/drawingml/2006/main">
              <a:ext uri="{FF2B5EF4-FFF2-40B4-BE49-F238E27FC236}">
                <a16:creationId xmlns:a16="http://schemas.microsoft.com/office/drawing/2014/main" id="{3E6403A5-7818-4059-A448-2BE0C81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Business impact</a:t>
            </a:r>
          </a:p>
        </p:txBody>
      </p:sp>
      <p:sp>
        <p:nvSpPr>
          <p:cNvPr id="25" name="offline-why-bullet-icon-538-494">
            <a:extLst xmlns:a="http://schemas.openxmlformats.org/drawingml/2006/main">
              <a:ext uri="{FF2B5EF4-FFF2-40B4-BE49-F238E27FC236}">
                <a16:creationId xmlns:a16="http://schemas.microsoft.com/office/drawing/2014/main" id="{F016AE0A-D0DB-4629-84A9-A4A7D5A7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81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offline-why-bullet-text-538-494">
            <a:extLst xmlns:a="http://schemas.openxmlformats.org/drawingml/2006/main">
              <a:ext uri="{FF2B5EF4-FFF2-40B4-BE49-F238E27FC236}">
                <a16:creationId xmlns:a16="http://schemas.microsoft.com/office/drawing/2014/main" id="{8EF6F188-1070-413C-9950-93BCB0BA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7053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Faster first-level triage</a:t>
            </a:r>
          </a:p>
        </p:txBody>
      </p:sp>
      <p:sp>
        <p:nvSpPr>
          <p:cNvPr id="27" name="offline-why-bullet-icon-538-526">
            <a:extLst xmlns:a="http://schemas.openxmlformats.org/drawingml/2006/main">
              <a:ext uri="{FF2B5EF4-FFF2-40B4-BE49-F238E27FC236}">
                <a16:creationId xmlns:a16="http://schemas.microsoft.com/office/drawing/2014/main" id="{E458ECD0-9935-4B95-B2D8-AB0AEE53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86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8" name="offline-why-bullet-text-538-526">
            <a:extLst xmlns:a="http://schemas.openxmlformats.org/drawingml/2006/main">
              <a:ext uri="{FF2B5EF4-FFF2-40B4-BE49-F238E27FC236}">
                <a16:creationId xmlns:a16="http://schemas.microsoft.com/office/drawing/2014/main" id="{CDFDAB3B-C06B-46F0-A64A-EFA17F6A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More consistent patient guidance</a:t>
            </a:r>
          </a:p>
        </p:txBody>
      </p:sp>
      <p:sp>
        <p:nvSpPr>
          <p:cNvPr id="29" name="offline-why-bullet-icon-538-558">
            <a:extLst xmlns:a="http://schemas.openxmlformats.org/drawingml/2006/main">
              <a:ext uri="{FF2B5EF4-FFF2-40B4-BE49-F238E27FC236}">
                <a16:creationId xmlns:a16="http://schemas.microsoft.com/office/drawing/2014/main" id="{512010BE-9A0E-485B-98D0-A2429E18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0" name="offline-why-bullet-text-538-558">
            <a:extLst xmlns:a="http://schemas.openxmlformats.org/drawingml/2006/main">
              <a:ext uri="{FF2B5EF4-FFF2-40B4-BE49-F238E27FC236}">
                <a16:creationId xmlns:a16="http://schemas.microsoft.com/office/drawing/2014/main" id="{86EE57FD-A1EC-4696-922F-6D2E40B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14950"/>
            <a:ext cx="582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Lower deployment friction for pilots</a:t>
            </a:r>
          </a:p>
        </p:txBody>
      </p:sp>
    </p:spTree>
    <p:extLst>
      <p:ext uri="{BB962C8B-B14F-4D97-AF65-F5344CB8AC3E}">
        <p14:creationId xmlns:p14="http://schemas.microsoft.com/office/powerpoint/2010/main" val="1386749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RAG + MEMORY">
            <a:extLst xmlns:a="http://schemas.openxmlformats.org/drawingml/2006/main">
              <a:ext uri="{FF2B5EF4-FFF2-40B4-BE49-F238E27FC236}">
                <a16:creationId xmlns:a16="http://schemas.microsoft.com/office/drawing/2014/main" id="{8F9EA029-CAF9-45C3-BB13-1E3EE1C3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RAG + MEMORY</a:t>
            </a:r>
          </a:p>
        </p:txBody>
      </p:sp>
      <p:sp>
        <p:nvSpPr>
          <p:cNvPr id="2" name="titl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0B0E9AF1-C9EE-4DCD-ACA2-71A10A63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RAG + memory make answers context-aware</a:t>
            </a:r>
          </a:p>
        </p:txBody>
      </p:sp>
      <p:sp>
        <p:nvSpPr>
          <p:cNvPr id="3" name="header-lin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7C1A8326-E987-4A8B-87DB-4339A25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RAG + memory make answers context-aware">
            <a:extLst xmlns:a="http://schemas.openxmlformats.org/drawingml/2006/main">
              <a:ext uri="{FF2B5EF4-FFF2-40B4-BE49-F238E27FC236}">
                <a16:creationId xmlns:a16="http://schemas.microsoft.com/office/drawing/2014/main" id="{B9DAF989-28FD-4273-AE4E-828D1AF5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 evidence and persistent patient context ground each reply.</a:t>
            </a:r>
          </a:p>
        </p:txBody>
      </p:sp>
      <p:sp>
        <p:nvSpPr>
          <p:cNvPr id="5" name="mode-card-panel">
            <a:extLst xmlns:a="http://schemas.openxmlformats.org/drawingml/2006/main">
              <a:ext uri="{FF2B5EF4-FFF2-40B4-BE49-F238E27FC236}">
                <a16:creationId xmlns:a16="http://schemas.microsoft.com/office/drawing/2014/main" id="{FFC28CB6-C3BF-4B91-9386-0DAFB8E3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52650"/>
            <a:ext cx="53721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8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mode-card-line">
            <a:extLst xmlns:a="http://schemas.openxmlformats.org/drawingml/2006/main">
              <a:ext uri="{FF2B5EF4-FFF2-40B4-BE49-F238E27FC236}">
                <a16:creationId xmlns:a16="http://schemas.microsoft.com/office/drawing/2014/main" id="{4DB49037-9BA4-4D1D-921E-88DD88F4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mode-card-pill-panel">
            <a:extLst xmlns:a="http://schemas.openxmlformats.org/drawingml/2006/main">
              <a:ext uri="{FF2B5EF4-FFF2-40B4-BE49-F238E27FC236}">
                <a16:creationId xmlns:a16="http://schemas.microsoft.com/office/drawing/2014/main" id="{EB4971E8-53BF-4C41-B353-E6CE8C3D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70EF"/>
          </a:solidFill>
          <a:ln xmlns:a="http://schemas.openxmlformats.org/drawingml/2006/main" w="9525">
            <a:solidFill>
              <a:srgbClr val="1570EF"/>
            </a:solidFill>
            <a:prstDash val="solid"/>
          </a:ln>
        </p:spPr>
      </p:sp>
      <p:sp>
        <p:nvSpPr>
          <p:cNvPr id="8" name="mode-card-pill-text">
            <a:extLst xmlns:a="http://schemas.openxmlformats.org/drawingml/2006/main">
              <a:ext uri="{FF2B5EF4-FFF2-40B4-BE49-F238E27FC236}">
                <a16:creationId xmlns:a16="http://schemas.microsoft.com/office/drawing/2014/main" id="{6BB5BB03-43E1-43D2-B262-F5F1699C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Grounding</a:t>
            </a:r>
          </a:p>
        </p:txBody>
      </p:sp>
      <p:sp>
        <p:nvSpPr>
          <p:cNvPr id="9" name="mode-card-title">
            <a:extLst xmlns:a="http://schemas.openxmlformats.org/drawingml/2006/main">
              <a:ext uri="{FF2B5EF4-FFF2-40B4-BE49-F238E27FC236}">
                <a16:creationId xmlns:a16="http://schemas.microsoft.com/office/drawing/2014/main" id="{3A5A8903-36AE-4B5A-82F9-E632D367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7000"/>
            <a:ext cx="331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Retrieval</a:t>
            </a:r>
          </a:p>
        </p:txBody>
      </p:sp>
      <p:sp>
        <p:nvSpPr>
          <p:cNvPr id="10" name="mode-card-body">
            <a:extLst xmlns:a="http://schemas.openxmlformats.org/drawingml/2006/main">
              <a:ext uri="{FF2B5EF4-FFF2-40B4-BE49-F238E27FC236}">
                <a16:creationId xmlns:a16="http://schemas.microsoft.com/office/drawing/2014/main" id="{78E81D7F-0CD6-4FAA-A5D5-366C9342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Query is built from the message, vitals, profile, and memory.</a:t>
            </a:r>
          </a:p>
        </p:txBody>
      </p:sp>
      <p:sp>
        <p:nvSpPr>
          <p:cNvPr id="11" name="mode-card-bullet-icon-66-374">
            <a:extLst xmlns:a="http://schemas.openxmlformats.org/drawingml/2006/main">
              <a:ext uri="{FF2B5EF4-FFF2-40B4-BE49-F238E27FC236}">
                <a16:creationId xmlns:a16="http://schemas.microsoft.com/office/drawing/2014/main" id="{1801A83F-A1AD-4927-893D-C2C28985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2" name="mode-card-bullet-text-66-374">
            <a:extLst xmlns:a="http://schemas.openxmlformats.org/drawingml/2006/main">
              <a:ext uri="{FF2B5EF4-FFF2-40B4-BE49-F238E27FC236}">
                <a16:creationId xmlns:a16="http://schemas.microsoft.com/office/drawing/2014/main" id="{F2E876C6-75AA-4EB9-A78B-D51FDAE4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Ranks local healthcare knowledge</a:t>
            </a:r>
          </a:p>
        </p:txBody>
      </p:sp>
      <p:sp>
        <p:nvSpPr>
          <p:cNvPr id="13" name="mode-card-bullet-icon-66-414">
            <a:extLst xmlns:a="http://schemas.openxmlformats.org/drawingml/2006/main">
              <a:ext uri="{FF2B5EF4-FFF2-40B4-BE49-F238E27FC236}">
                <a16:creationId xmlns:a16="http://schemas.microsoft.com/office/drawing/2014/main" id="{B36028AB-E03B-4D86-897F-574622A3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4" name="mode-card-bullet-text-66-414">
            <a:extLst xmlns:a="http://schemas.openxmlformats.org/drawingml/2006/main">
              <a:ext uri="{FF2B5EF4-FFF2-40B4-BE49-F238E27FC236}">
                <a16:creationId xmlns:a16="http://schemas.microsoft.com/office/drawing/2014/main" id="{1B6C9257-8E1C-4CA5-82DA-F58F2EC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Can reuse approved cached references</a:t>
            </a:r>
          </a:p>
        </p:txBody>
      </p:sp>
      <p:sp>
        <p:nvSpPr>
          <p:cNvPr id="15" name="mode-card-bullet-icon-66-454">
            <a:extLst xmlns:a="http://schemas.openxmlformats.org/drawingml/2006/main">
              <a:ext uri="{FF2B5EF4-FFF2-40B4-BE49-F238E27FC236}">
                <a16:creationId xmlns:a16="http://schemas.microsoft.com/office/drawing/2014/main" id="{86B3E485-DC90-4616-B595-8E373EA9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6" name="mode-card-bullet-text-66-454">
            <a:extLst xmlns:a="http://schemas.openxmlformats.org/drawingml/2006/main">
              <a:ext uri="{FF2B5EF4-FFF2-40B4-BE49-F238E27FC236}">
                <a16:creationId xmlns:a16="http://schemas.microsoft.com/office/drawing/2014/main" id="{E5B15DC1-32E1-4A4E-ADA2-1E0CBDA5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591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Grounds the reply in evidence</a:t>
            </a:r>
          </a:p>
        </p:txBody>
      </p:sp>
      <p:sp>
        <p:nvSpPr>
          <p:cNvPr id="17" name="mode-card-panel">
            <a:extLst xmlns:a="http://schemas.openxmlformats.org/drawingml/2006/main">
              <a:ext uri="{FF2B5EF4-FFF2-40B4-BE49-F238E27FC236}">
                <a16:creationId xmlns:a16="http://schemas.microsoft.com/office/drawing/2014/main" id="{DB219E3B-03A8-4C9E-9483-ADF086EA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5715000" cy="28194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C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ode-card-line">
            <a:extLst xmlns:a="http://schemas.openxmlformats.org/drawingml/2006/main">
              <a:ext uri="{FF2B5EF4-FFF2-40B4-BE49-F238E27FC236}">
                <a16:creationId xmlns:a16="http://schemas.microsoft.com/office/drawing/2014/main" id="{8885547B-FD01-479B-9DF7-3AC6FD20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742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9" name="mode-card-pill-panel">
            <a:extLst xmlns:a="http://schemas.openxmlformats.org/drawingml/2006/main">
              <a:ext uri="{FF2B5EF4-FFF2-40B4-BE49-F238E27FC236}">
                <a16:creationId xmlns:a16="http://schemas.microsoft.com/office/drawing/2014/main" id="{033D6080-11F3-4CA5-B629-C404BA7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62200"/>
            <a:ext cx="1181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9C9C"/>
          </a:solidFill>
          <a:ln xmlns:a="http://schemas.openxmlformats.org/drawingml/2006/main" w="9525">
            <a:solidFill>
              <a:srgbClr val="149C9C"/>
            </a:solidFill>
            <a:prstDash val="solid"/>
          </a:ln>
        </p:spPr>
      </p:sp>
      <p:sp>
        <p:nvSpPr>
          <p:cNvPr id="20" name="mode-card-pill-text">
            <a:extLst xmlns:a="http://schemas.openxmlformats.org/drawingml/2006/main">
              <a:ext uri="{FF2B5EF4-FFF2-40B4-BE49-F238E27FC236}">
                <a16:creationId xmlns:a16="http://schemas.microsoft.com/office/drawing/2014/main" id="{FD5A1BC6-FCB1-44A8-8DC7-8C5C9E65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81250"/>
            <a:ext cx="118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Persistent</a:t>
            </a:r>
          </a:p>
        </p:txBody>
      </p:sp>
      <p:sp>
        <p:nvSpPr>
          <p:cNvPr id="21" name="mode-card-title">
            <a:extLst xmlns:a="http://schemas.openxmlformats.org/drawingml/2006/main">
              <a:ext uri="{FF2B5EF4-FFF2-40B4-BE49-F238E27FC236}">
                <a16:creationId xmlns:a16="http://schemas.microsoft.com/office/drawing/2014/main" id="{993B44E3-93CA-4E10-AF48-9383A4BB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67000"/>
            <a:ext cx="365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22" name="mode-card-body">
            <a:extLst xmlns:a="http://schemas.openxmlformats.org/drawingml/2006/main">
              <a:ext uri="{FF2B5EF4-FFF2-40B4-BE49-F238E27FC236}">
                <a16:creationId xmlns:a16="http://schemas.microsoft.com/office/drawing/2014/main" id="{67A33A4C-A4BE-4DCE-B079-4899E36B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28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Persistent local context reloads before every analysis.</a:t>
            </a:r>
          </a:p>
        </p:txBody>
      </p:sp>
      <p:sp>
        <p:nvSpPr>
          <p:cNvPr id="23" name="mode-card-bullet-icon-658-374">
            <a:extLst xmlns:a="http://schemas.openxmlformats.org/drawingml/2006/main">
              <a:ext uri="{FF2B5EF4-FFF2-40B4-BE49-F238E27FC236}">
                <a16:creationId xmlns:a16="http://schemas.microsoft.com/office/drawing/2014/main" id="{66325E8B-3D50-431E-A43A-DDE64B03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38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4" name="mode-card-bullet-text-658-374">
            <a:extLst xmlns:a="http://schemas.openxmlformats.org/drawingml/2006/main">
              <a:ext uri="{FF2B5EF4-FFF2-40B4-BE49-F238E27FC236}">
                <a16:creationId xmlns:a16="http://schemas.microsoft.com/office/drawing/2014/main" id="{73DA7D85-71D0-4C28-AA8D-4788D581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62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Patient memory, records, and knowledge graph</a:t>
            </a:r>
          </a:p>
        </p:txBody>
      </p:sp>
      <p:sp>
        <p:nvSpPr>
          <p:cNvPr id="25" name="mode-card-bullet-icon-658-414">
            <a:extLst xmlns:a="http://schemas.openxmlformats.org/drawingml/2006/main">
              <a:ext uri="{FF2B5EF4-FFF2-40B4-BE49-F238E27FC236}">
                <a16:creationId xmlns:a16="http://schemas.microsoft.com/office/drawing/2014/main" id="{6FF65851-AAFE-4ED4-9E18-CF456F6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card-bullet-text-658-414">
            <a:extLst xmlns:a="http://schemas.openxmlformats.org/drawingml/2006/main">
              <a:ext uri="{FF2B5EF4-FFF2-40B4-BE49-F238E27FC236}">
                <a16:creationId xmlns:a16="http://schemas.microsoft.com/office/drawing/2014/main" id="{93A86299-F622-4DC6-81F4-028A3C95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43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The system is not stateless</a:t>
            </a:r>
          </a:p>
        </p:txBody>
      </p:sp>
      <p:sp>
        <p:nvSpPr>
          <p:cNvPr id="27" name="mode-card-bullet-icon-658-454">
            <a:extLst xmlns:a="http://schemas.openxmlformats.org/drawingml/2006/main">
              <a:ext uri="{FF2B5EF4-FFF2-40B4-BE49-F238E27FC236}">
                <a16:creationId xmlns:a16="http://schemas.microsoft.com/office/drawing/2014/main" id="{45385DA8-B988-4CF2-8007-08BC80C8C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card-bullet-text-658-454">
            <a:extLst xmlns:a="http://schemas.openxmlformats.org/drawingml/2006/main">
              <a:ext uri="{FF2B5EF4-FFF2-40B4-BE49-F238E27FC236}">
                <a16:creationId xmlns:a16="http://schemas.microsoft.com/office/drawing/2014/main" id="{F11CD01C-A98C-4448-B2A3-71DB0F2D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4933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Result is stored for the next turn</a:t>
            </a:r>
          </a:p>
        </p:txBody>
      </p:sp>
      <p:sp>
        <p:nvSpPr>
          <p:cNvPr id="29" name="hybrid-trust-card">
            <a:extLst xmlns:a="http://schemas.openxmlformats.org/drawingml/2006/main">
              <a:ext uri="{FF2B5EF4-FFF2-40B4-BE49-F238E27FC236}">
                <a16:creationId xmlns:a16="http://schemas.microsoft.com/office/drawing/2014/main" id="{D1761BAA-7833-4A1E-9CB3-B3C06944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200650"/>
            <a:ext cx="113538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D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hybrid-trust-line">
            <a:extLst xmlns:a="http://schemas.openxmlformats.org/drawingml/2006/main">
              <a:ext uri="{FF2B5EF4-FFF2-40B4-BE49-F238E27FC236}">
                <a16:creationId xmlns:a16="http://schemas.microsoft.com/office/drawing/2014/main" id="{62C42324-56FA-4428-98BA-97A773F8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838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1" name="hybrid-trust-title">
            <a:extLst xmlns:a="http://schemas.openxmlformats.org/drawingml/2006/main">
              <a:ext uri="{FF2B5EF4-FFF2-40B4-BE49-F238E27FC236}">
                <a16:creationId xmlns:a16="http://schemas.microsoft.com/office/drawing/2014/main" id="{A676466F-A011-4D1B-8F90-090E4A4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Approved sources</a:t>
            </a:r>
          </a:p>
        </p:txBody>
      </p:sp>
      <p:sp>
        <p:nvSpPr>
          <p:cNvPr id="32" name="hybrid-trust-pill-1-panel">
            <a:extLst xmlns:a="http://schemas.openxmlformats.org/drawingml/2006/main">
              <a:ext uri="{FF2B5EF4-FFF2-40B4-BE49-F238E27FC236}">
                <a16:creationId xmlns:a16="http://schemas.microsoft.com/office/drawing/2014/main" id="{950A57B0-F519-4FD5-BD8D-04A36DDE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3" name="hybrid-trust-pill-1-text">
            <a:extLst xmlns:a="http://schemas.openxmlformats.org/drawingml/2006/main">
              <a:ext uri="{FF2B5EF4-FFF2-40B4-BE49-F238E27FC236}">
                <a16:creationId xmlns:a16="http://schemas.microsoft.com/office/drawing/2014/main" id="{1C583A17-D21F-42B0-96C2-E9105878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MedlinePlus</a:t>
            </a:r>
          </a:p>
        </p:txBody>
      </p:sp>
      <p:sp>
        <p:nvSpPr>
          <p:cNvPr id="34" name="hybrid-trust-pill-2-panel">
            <a:extLst xmlns:a="http://schemas.openxmlformats.org/drawingml/2006/main">
              <a:ext uri="{FF2B5EF4-FFF2-40B4-BE49-F238E27FC236}">
                <a16:creationId xmlns:a16="http://schemas.microsoft.com/office/drawing/2014/main" id="{24AA648D-DFB4-4E18-B54F-E3B8CFF2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5" name="hybrid-trust-pill-2-text">
            <a:extLst xmlns:a="http://schemas.openxmlformats.org/drawingml/2006/main">
              <a:ext uri="{FF2B5EF4-FFF2-40B4-BE49-F238E27FC236}">
                <a16:creationId xmlns:a16="http://schemas.microsoft.com/office/drawing/2014/main" id="{EF276779-4461-42EF-8ADF-F2A9BA88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RxNorm</a:t>
            </a:r>
          </a:p>
        </p:txBody>
      </p:sp>
      <p:sp>
        <p:nvSpPr>
          <p:cNvPr id="36" name="hybrid-trust-pill-3-panel">
            <a:extLst xmlns:a="http://schemas.openxmlformats.org/drawingml/2006/main">
              <a:ext uri="{FF2B5EF4-FFF2-40B4-BE49-F238E27FC236}">
                <a16:creationId xmlns:a16="http://schemas.microsoft.com/office/drawing/2014/main" id="{AD8EE110-F7B8-4ACE-9C32-ED3B894C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7" name="hybrid-trust-pill-3-text">
            <a:extLst xmlns:a="http://schemas.openxmlformats.org/drawingml/2006/main">
              <a:ext uri="{FF2B5EF4-FFF2-40B4-BE49-F238E27FC236}">
                <a16:creationId xmlns:a16="http://schemas.microsoft.com/office/drawing/2014/main" id="{B5731547-299A-4ABC-9A4B-A01C161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openFDA</a:t>
            </a:r>
          </a:p>
        </p:txBody>
      </p:sp>
      <p:sp>
        <p:nvSpPr>
          <p:cNvPr id="38" name="hybrid-trust-pill-4-panel">
            <a:extLst xmlns:a="http://schemas.openxmlformats.org/drawingml/2006/main">
              <a:ext uri="{FF2B5EF4-FFF2-40B4-BE49-F238E27FC236}">
                <a16:creationId xmlns:a16="http://schemas.microsoft.com/office/drawing/2014/main" id="{F32366AC-937D-41D5-B212-A8424E73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67350"/>
            <a:ext cx="12573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9" name="hybrid-trust-pill-4-text">
            <a:extLst xmlns:a="http://schemas.openxmlformats.org/drawingml/2006/main">
              <a:ext uri="{FF2B5EF4-FFF2-40B4-BE49-F238E27FC236}">
                <a16:creationId xmlns:a16="http://schemas.microsoft.com/office/drawing/2014/main" id="{2718D8EB-F9E3-4304-8696-A1FEAD97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864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LOINC</a:t>
            </a:r>
          </a:p>
        </p:txBody>
      </p:sp>
      <p:sp>
        <p:nvSpPr>
          <p:cNvPr id="40" name="hybrid-trust-pill-5-panel">
            <a:extLst xmlns:a="http://schemas.openxmlformats.org/drawingml/2006/main">
              <a:ext uri="{FF2B5EF4-FFF2-40B4-BE49-F238E27FC236}">
                <a16:creationId xmlns:a16="http://schemas.microsoft.com/office/drawing/2014/main" id="{05C76258-12F6-4092-A82B-9C1AB62D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6735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1" name="hybrid-trust-pill-5-text">
            <a:extLst xmlns:a="http://schemas.openxmlformats.org/drawingml/2006/main">
              <a:ext uri="{FF2B5EF4-FFF2-40B4-BE49-F238E27FC236}">
                <a16:creationId xmlns:a16="http://schemas.microsoft.com/office/drawing/2014/main" id="{2FF995E2-F175-4572-8FE0-82CB8ED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4864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SMART on FHIR</a:t>
            </a:r>
          </a:p>
        </p:txBody>
      </p:sp>
      <p:sp>
        <p:nvSpPr>
          <p:cNvPr id="42" name="hybrid-footer-text">
            <a:extLst xmlns:a="http://schemas.openxmlformats.org/drawingml/2006/main">
              <a:ext uri="{FF2B5EF4-FFF2-40B4-BE49-F238E27FC236}">
                <a16:creationId xmlns:a16="http://schemas.microsoft.com/office/drawing/2014/main" id="{B1E8B9B6-912F-47B9-8B21-41CE784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Online enrichment is optional. The core workflow still runs locally.</a:t>
            </a:r>
          </a:p>
        </p:txBody>
      </p:sp>
    </p:spTree>
    <p:extLst>
      <p:ext uri="{BB962C8B-B14F-4D97-AF65-F5344CB8AC3E}">
        <p14:creationId xmlns:p14="http://schemas.microsoft.com/office/powerpoint/2010/main" val="1117573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F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APPLICATION MODES">
            <a:extLst xmlns:a="http://schemas.openxmlformats.org/drawingml/2006/main">
              <a:ext uri="{FF2B5EF4-FFF2-40B4-BE49-F238E27FC236}">
                <a16:creationId xmlns:a16="http://schemas.microsoft.com/office/drawing/2014/main" id="{8830A77D-A1CA-4B8E-BE34-60E74E7C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APPLICATION MODES</a:t>
            </a:r>
          </a:p>
        </p:txBody>
      </p:sp>
      <p:sp>
        <p:nvSpPr>
          <p:cNvPr id="2" name="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B587069B-22B7-4A49-94CC-16DFE822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for patients. Expert for deep review.</a:t>
            </a:r>
          </a:p>
        </p:txBody>
      </p:sp>
      <p:sp>
        <p:nvSpPr>
          <p:cNvPr id="3" name="header-lin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5FA24D86-3CF2-4670-A6DE-222DBAE9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Guided for patients. Expert for deep review.">
            <a:extLst xmlns:a="http://schemas.openxmlformats.org/drawingml/2006/main">
              <a:ext uri="{FF2B5EF4-FFF2-40B4-BE49-F238E27FC236}">
                <a16:creationId xmlns:a16="http://schemas.microsoft.com/office/drawing/2014/main" id="{A4486F50-6ACE-4775-B4BC-BB8D00C5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The same local engine supports simple guidance and detailed evidence review.</a:t>
            </a:r>
          </a:p>
        </p:txBody>
      </p:sp>
      <p:sp>
        <p:nvSpPr>
          <p:cNvPr id="5" name="modes-mobile-backplate">
            <a:extLst xmlns:a="http://schemas.openxmlformats.org/drawingml/2006/main">
              <a:ext uri="{FF2B5EF4-FFF2-40B4-BE49-F238E27FC236}">
                <a16:creationId xmlns:a16="http://schemas.microsoft.com/office/drawing/2014/main" id="{9714D0B6-D2E3-41C8-BBB7-96A326DC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57400"/>
            <a:ext cx="2990850" cy="407670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0">
            <a:solidFill>
              <a:srgbClr val="EAF5FF"/>
            </a:solidFill>
            <a:prstDash val="solid"/>
          </a:ln>
        </p:spPr>
      </p:sp>
      <p:sp>
        <p:nvSpPr>
          <p:cNvPr id="6" name="modes-mobile-frame">
            <a:extLst xmlns:a="http://schemas.openxmlformats.org/drawingml/2006/main">
              <a:ext uri="{FF2B5EF4-FFF2-40B4-BE49-F238E27FC236}">
                <a16:creationId xmlns:a16="http://schemas.microsoft.com/office/drawing/2014/main" id="{8116C48A-6FC6-4A9B-8A2E-4CB84BC5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5c359608b4ae4"/>
          <a:srcRect xmlns:a="http://schemas.openxmlformats.org/drawingml/2006/main" l="0" t="19051" r="0" b="190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71700"/>
            <a:ext cx="2762250" cy="3848100"/>
          </a:xfrm>
          <a:prstGeom xmlns:a="http://schemas.openxmlformats.org/drawingml/2006/main" prst="roundRect">
            <a:avLst>
              <a:gd name="adj" fmla="val 5517"/>
            </a:avLst>
          </a:prstGeom>
        </p:spPr>
      </p:pic>
      <p:sp>
        <p:nvSpPr>
          <p:cNvPr id="8" name="modes-mobile-caption">
            <a:extLst xmlns:a="http://schemas.openxmlformats.org/drawingml/2006/main">
              <a:ext uri="{FF2B5EF4-FFF2-40B4-BE49-F238E27FC236}">
                <a16:creationId xmlns:a16="http://schemas.microsoft.com/office/drawing/2014/main" id="{2BE748F7-6939-40E7-9C5F-AC2299A0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134100"/>
            <a:ext cx="2933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16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Local-first PWA: laptop, mobile, and installable app shells.</a:t>
            </a:r>
          </a:p>
        </p:txBody>
      </p:sp>
      <p:sp>
        <p:nvSpPr>
          <p:cNvPr id="9" name="mode-panel-1">
            <a:extLst xmlns:a="http://schemas.openxmlformats.org/drawingml/2006/main">
              <a:ext uri="{FF2B5EF4-FFF2-40B4-BE49-F238E27FC236}">
                <a16:creationId xmlns:a16="http://schemas.microsoft.com/office/drawing/2014/main" id="{D06D2CF1-9227-4769-9667-FE63B9DF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717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mode-panel-line-1">
            <a:extLst xmlns:a="http://schemas.openxmlformats.org/drawingml/2006/main">
              <a:ext uri="{FF2B5EF4-FFF2-40B4-BE49-F238E27FC236}">
                <a16:creationId xmlns:a16="http://schemas.microsoft.com/office/drawing/2014/main" id="{F8BE06FE-ACDA-48E5-9E3B-3B589D5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812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1" name="mode-panel-title-1">
            <a:extLst xmlns:a="http://schemas.openxmlformats.org/drawingml/2006/main">
              <a:ext uri="{FF2B5EF4-FFF2-40B4-BE49-F238E27FC236}">
                <a16:creationId xmlns:a16="http://schemas.microsoft.com/office/drawing/2014/main" id="{9419FAA5-FEF7-432A-A3A6-C138476A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Guided mode</a:t>
            </a:r>
          </a:p>
        </p:txBody>
      </p:sp>
      <p:sp>
        <p:nvSpPr>
          <p:cNvPr id="12" name="mode-panel-body-1">
            <a:extLst xmlns:a="http://schemas.openxmlformats.org/drawingml/2006/main">
              <a:ext uri="{FF2B5EF4-FFF2-40B4-BE49-F238E27FC236}">
                <a16:creationId xmlns:a16="http://schemas.microsoft.com/office/drawing/2014/main" id="{268C3D2A-8D01-4243-8EC6-28B086D8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480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61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Simple patient flow that turns fragmented context into one safe next step.</a:t>
            </a:r>
          </a:p>
        </p:txBody>
      </p:sp>
      <p:sp>
        <p:nvSpPr>
          <p:cNvPr id="13" name="mode-panel-divider-1">
            <a:extLst xmlns:a="http://schemas.openxmlformats.org/drawingml/2006/main">
              <a:ext uri="{FF2B5EF4-FFF2-40B4-BE49-F238E27FC236}">
                <a16:creationId xmlns:a16="http://schemas.microsoft.com/office/drawing/2014/main" id="{1B6E0DEB-EA5E-4CD1-BDE7-034BC669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384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14" name="mode-panel-bullet-1-icon-810-262">
            <a:extLst xmlns:a="http://schemas.openxmlformats.org/drawingml/2006/main">
              <a:ext uri="{FF2B5EF4-FFF2-40B4-BE49-F238E27FC236}">
                <a16:creationId xmlns:a16="http://schemas.microsoft.com/office/drawing/2014/main" id="{602A6E0F-2FA6-4C4D-B776-6DCB8FB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717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5" name="mode-panel-bullet-1-text-810-262">
            <a:extLst xmlns:a="http://schemas.openxmlformats.org/drawingml/2006/main">
              <a:ext uri="{FF2B5EF4-FFF2-40B4-BE49-F238E27FC236}">
                <a16:creationId xmlns:a16="http://schemas.microsoft.com/office/drawing/2014/main" id="{9F7B1D62-B3D8-4783-AA60-A07E3E5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955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Low-friction experience</a:t>
            </a:r>
          </a:p>
        </p:txBody>
      </p:sp>
      <p:sp>
        <p:nvSpPr>
          <p:cNvPr id="16" name="mode-panel-bullet-1-icon-810-290">
            <a:extLst xmlns:a="http://schemas.openxmlformats.org/drawingml/2006/main">
              <a:ext uri="{FF2B5EF4-FFF2-40B4-BE49-F238E27FC236}">
                <a16:creationId xmlns:a16="http://schemas.microsoft.com/office/drawing/2014/main" id="{337024E2-F929-4614-8541-83489506E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384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7" name="mode-panel-bullet-1-text-810-290">
            <a:extLst xmlns:a="http://schemas.openxmlformats.org/drawingml/2006/main">
              <a:ext uri="{FF2B5EF4-FFF2-40B4-BE49-F238E27FC236}">
                <a16:creationId xmlns:a16="http://schemas.microsoft.com/office/drawing/2014/main" id="{7C00D37F-5501-4F4F-AC18-CBF0066D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622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 default path</a:t>
            </a:r>
          </a:p>
        </p:txBody>
      </p:sp>
      <p:sp>
        <p:nvSpPr>
          <p:cNvPr id="18" name="mode-panel-bullet-1-icon-810-318">
            <a:extLst xmlns:a="http://schemas.openxmlformats.org/drawingml/2006/main">
              <a:ext uri="{FF2B5EF4-FFF2-40B4-BE49-F238E27FC236}">
                <a16:creationId xmlns:a16="http://schemas.microsoft.com/office/drawing/2014/main" id="{C359143B-CE2B-457E-9433-404CA440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19" name="mode-panel-bullet-1-text-810-318">
            <a:extLst xmlns:a="http://schemas.openxmlformats.org/drawingml/2006/main">
              <a:ext uri="{FF2B5EF4-FFF2-40B4-BE49-F238E27FC236}">
                <a16:creationId xmlns:a16="http://schemas.microsoft.com/office/drawing/2014/main" id="{E0561DA3-239D-413A-A20A-CE13F668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289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Clear answer</a:t>
            </a:r>
          </a:p>
        </p:txBody>
      </p:sp>
      <p:sp>
        <p:nvSpPr>
          <p:cNvPr id="20" name="mode-panel-2">
            <a:extLst xmlns:a="http://schemas.openxmlformats.org/drawingml/2006/main">
              <a:ext uri="{FF2B5EF4-FFF2-40B4-BE49-F238E27FC236}">
                <a16:creationId xmlns:a16="http://schemas.microsoft.com/office/drawing/2014/main" id="{50362E3D-AEAD-4840-89FC-28A871265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33800"/>
            <a:ext cx="81153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mode-panel-line-2">
            <a:extLst xmlns:a="http://schemas.openxmlformats.org/drawingml/2006/main">
              <a:ext uri="{FF2B5EF4-FFF2-40B4-BE49-F238E27FC236}">
                <a16:creationId xmlns:a16="http://schemas.microsoft.com/office/drawing/2014/main" id="{00AE6FC8-8339-4E80-9E35-BB2F7E6F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433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2" name="mode-panel-title-2">
            <a:extLst xmlns:a="http://schemas.openxmlformats.org/drawingml/2006/main">
              <a:ext uri="{FF2B5EF4-FFF2-40B4-BE49-F238E27FC236}">
                <a16:creationId xmlns:a16="http://schemas.microsoft.com/office/drawing/2014/main" id="{0B3F48E9-954E-4BAA-858D-35486DC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910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777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Expert mode</a:t>
            </a:r>
          </a:p>
        </p:txBody>
      </p:sp>
      <p:sp>
        <p:nvSpPr>
          <p:cNvPr id="23" name="mode-panel-body-2">
            <a:extLst xmlns:a="http://schemas.openxmlformats.org/drawingml/2006/main">
              <a:ext uri="{FF2B5EF4-FFF2-40B4-BE49-F238E27FC236}">
                <a16:creationId xmlns:a16="http://schemas.microsoft.com/office/drawing/2014/main" id="{9C7D6AF6-3336-4564-AC22-976CE5E9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610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00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Full routes, evidence panels, records, and deeper review controls.</a:t>
            </a:r>
          </a:p>
        </p:txBody>
      </p:sp>
      <p:sp>
        <p:nvSpPr>
          <p:cNvPr id="24" name="mode-panel-divider-2">
            <a:extLst xmlns:a="http://schemas.openxmlformats.org/drawingml/2006/main">
              <a:ext uri="{FF2B5EF4-FFF2-40B4-BE49-F238E27FC236}">
                <a16:creationId xmlns:a16="http://schemas.microsoft.com/office/drawing/2014/main" id="{33FF121D-51A1-457E-8E46-4EB7A7FF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95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EF"/>
          </a:solidFill>
          <a:ln xmlns:a="http://schemas.openxmlformats.org/drawingml/2006/main" w="0">
            <a:solidFill>
              <a:srgbClr val="DEE7EF"/>
            </a:solidFill>
            <a:prstDash val="solid"/>
          </a:ln>
        </p:spPr>
      </p:sp>
      <p:sp>
        <p:nvSpPr>
          <p:cNvPr id="25" name="mode-panel-bullet-2-icon-810-426">
            <a:extLst xmlns:a="http://schemas.openxmlformats.org/drawingml/2006/main">
              <a:ext uri="{FF2B5EF4-FFF2-40B4-BE49-F238E27FC236}">
                <a16:creationId xmlns:a16="http://schemas.microsoft.com/office/drawing/2014/main" id="{F5052F65-A701-437E-9CCF-47805A64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6" name="mode-panel-bullet-2-text-810-426">
            <a:extLst xmlns:a="http://schemas.openxmlformats.org/drawingml/2006/main">
              <a:ext uri="{FF2B5EF4-FFF2-40B4-BE49-F238E27FC236}">
                <a16:creationId xmlns:a16="http://schemas.microsoft.com/office/drawing/2014/main" id="{9F9016E4-A787-4CA4-9992-EB35A10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Review risk and evidence</a:t>
            </a:r>
          </a:p>
        </p:txBody>
      </p:sp>
      <p:sp>
        <p:nvSpPr>
          <p:cNvPr id="27" name="mode-panel-bullet-2-icon-810-454">
            <a:extLst xmlns:a="http://schemas.openxmlformats.org/drawingml/2006/main">
              <a:ext uri="{FF2B5EF4-FFF2-40B4-BE49-F238E27FC236}">
                <a16:creationId xmlns:a16="http://schemas.microsoft.com/office/drawing/2014/main" id="{30920FA5-CAB7-44B3-842C-399F4F0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005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28" name="mode-panel-bullet-2-text-810-454">
            <a:extLst xmlns:a="http://schemas.openxmlformats.org/drawingml/2006/main">
              <a:ext uri="{FF2B5EF4-FFF2-40B4-BE49-F238E27FC236}">
                <a16:creationId xmlns:a16="http://schemas.microsoft.com/office/drawing/2014/main" id="{08B703FC-DE9A-46FE-B1F7-EFA4CF01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243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Inspect records and memory</a:t>
            </a:r>
          </a:p>
        </p:txBody>
      </p:sp>
      <p:sp>
        <p:nvSpPr>
          <p:cNvPr id="29" name="mode-panel-bullet-2-icon-810-482">
            <a:extLst xmlns:a="http://schemas.openxmlformats.org/drawingml/2006/main">
              <a:ext uri="{FF2B5EF4-FFF2-40B4-BE49-F238E27FC236}">
                <a16:creationId xmlns:a16="http://schemas.microsoft.com/office/drawing/2014/main" id="{0641ED41-1774-49B8-AA69-A250A23E2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672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30" name="mode-panel-bullet-2-text-810-482">
            <a:extLst xmlns:a="http://schemas.openxmlformats.org/drawingml/2006/main">
              <a:ext uri="{FF2B5EF4-FFF2-40B4-BE49-F238E27FC236}">
                <a16:creationId xmlns:a16="http://schemas.microsoft.com/office/drawing/2014/main" id="{FFEEF485-E6AB-473B-9A18-9E722085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340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Navigate specialist workspaces</a:t>
            </a:r>
          </a:p>
        </p:txBody>
      </p:sp>
      <p:sp>
        <p:nvSpPr>
          <p:cNvPr id="31" name="workspace-modes-panel">
            <a:extLst xmlns:a="http://schemas.openxmlformats.org/drawingml/2006/main">
              <a:ext uri="{FF2B5EF4-FFF2-40B4-BE49-F238E27FC236}">
                <a16:creationId xmlns:a16="http://schemas.microsoft.com/office/drawing/2014/main" id="{F938EB98-EED2-4E6A-BA78-6E9CD776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81153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workspace-modes-line">
            <a:extLst xmlns:a="http://schemas.openxmlformats.org/drawingml/2006/main">
              <a:ext uri="{FF2B5EF4-FFF2-40B4-BE49-F238E27FC236}">
                <a16:creationId xmlns:a16="http://schemas.microsoft.com/office/drawing/2014/main" id="{AF81732D-61DE-4682-9945-2F979CC1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33" name="workspace-modes-title">
            <a:extLst xmlns:a="http://schemas.openxmlformats.org/drawingml/2006/main">
              <a:ext uri="{FF2B5EF4-FFF2-40B4-BE49-F238E27FC236}">
                <a16:creationId xmlns:a16="http://schemas.microsoft.com/office/drawing/2014/main" id="{5228373C-9BDE-44B9-B7CC-3CE5A571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388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75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Focused workspaces</a:t>
            </a:r>
          </a:p>
        </p:txBody>
      </p:sp>
      <p:sp>
        <p:nvSpPr>
          <p:cNvPr id="34" name="workspace-mode-pill-1-panel">
            <a:extLst xmlns:a="http://schemas.openxmlformats.org/drawingml/2006/main">
              <a:ext uri="{FF2B5EF4-FFF2-40B4-BE49-F238E27FC236}">
                <a16:creationId xmlns:a16="http://schemas.microsoft.com/office/drawing/2014/main" id="{01B345BE-7570-4CA0-BFB2-9FCDB3EF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05450"/>
            <a:ext cx="781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5" name="workspace-mode-pill-1-text">
            <a:extLst xmlns:a="http://schemas.openxmlformats.org/drawingml/2006/main">
              <a:ext uri="{FF2B5EF4-FFF2-40B4-BE49-F238E27FC236}">
                <a16:creationId xmlns:a16="http://schemas.microsoft.com/office/drawing/2014/main" id="{1F61F9DE-B536-4D12-9B70-C0801BE78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524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Vitals</a:t>
            </a:r>
          </a:p>
        </p:txBody>
      </p:sp>
      <p:sp>
        <p:nvSpPr>
          <p:cNvPr id="36" name="workspace-mode-pill-2-panel">
            <a:extLst xmlns:a="http://schemas.openxmlformats.org/drawingml/2006/main">
              <a:ext uri="{FF2B5EF4-FFF2-40B4-BE49-F238E27FC236}">
                <a16:creationId xmlns:a16="http://schemas.microsoft.com/office/drawing/2014/main" id="{0279CDFB-7046-41EE-B2C3-E9D014B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05450"/>
            <a:ext cx="72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37" name="workspace-mode-pill-2-text">
            <a:extLst xmlns:a="http://schemas.openxmlformats.org/drawingml/2006/main">
              <a:ext uri="{FF2B5EF4-FFF2-40B4-BE49-F238E27FC236}">
                <a16:creationId xmlns:a16="http://schemas.microsoft.com/office/drawing/2014/main" id="{1B1BBAE9-D5BE-4894-ADD0-41815C1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5245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Labs</a:t>
            </a:r>
          </a:p>
        </p:txBody>
      </p:sp>
      <p:sp>
        <p:nvSpPr>
          <p:cNvPr id="38" name="workspace-mode-pill-3-panel">
            <a:extLst xmlns:a="http://schemas.openxmlformats.org/drawingml/2006/main">
              <a:ext uri="{FF2B5EF4-FFF2-40B4-BE49-F238E27FC236}">
                <a16:creationId xmlns:a16="http://schemas.microsoft.com/office/drawing/2014/main" id="{4F391048-AD96-4F1B-9928-6A9BBB3F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05450"/>
            <a:ext cx="1047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39" name="workspace-mode-pill-3-text">
            <a:extLst xmlns:a="http://schemas.openxmlformats.org/drawingml/2006/main">
              <a:ext uri="{FF2B5EF4-FFF2-40B4-BE49-F238E27FC236}">
                <a16:creationId xmlns:a16="http://schemas.microsoft.com/office/drawing/2014/main" id="{4E6ED42D-5ACC-4E06-AFB9-030E069F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5245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Wellness</a:t>
            </a:r>
          </a:p>
        </p:txBody>
      </p:sp>
      <p:sp>
        <p:nvSpPr>
          <p:cNvPr id="40" name="workspace-mode-pill-4-panel">
            <a:extLst xmlns:a="http://schemas.openxmlformats.org/drawingml/2006/main">
              <a:ext uri="{FF2B5EF4-FFF2-40B4-BE49-F238E27FC236}">
                <a16:creationId xmlns:a16="http://schemas.microsoft.com/office/drawing/2014/main" id="{F51441E0-DB4F-4035-9AD0-8297BA4A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05450"/>
            <a:ext cx="933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1" name="workspace-mode-pill-4-text">
            <a:extLst xmlns:a="http://schemas.openxmlformats.org/drawingml/2006/main">
              <a:ext uri="{FF2B5EF4-FFF2-40B4-BE49-F238E27FC236}">
                <a16:creationId xmlns:a16="http://schemas.microsoft.com/office/drawing/2014/main" id="{E38F92C1-F747-4649-9154-784E0DC1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24500"/>
            <a:ext cx="933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Records</a:t>
            </a:r>
          </a:p>
        </p:txBody>
      </p:sp>
      <p:sp>
        <p:nvSpPr>
          <p:cNvPr id="42" name="workspace-mode-pill-5-panel">
            <a:extLst xmlns:a="http://schemas.openxmlformats.org/drawingml/2006/main">
              <a:ext uri="{FF2B5EF4-FFF2-40B4-BE49-F238E27FC236}">
                <a16:creationId xmlns:a16="http://schemas.microsoft.com/office/drawing/2014/main" id="{25F6A826-5576-4B5B-A34B-CEB345B6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054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7E6F5"/>
            </a:solidFill>
            <a:prstDash val="solid"/>
          </a:ln>
        </p:spPr>
      </p:sp>
      <p:sp>
        <p:nvSpPr>
          <p:cNvPr id="43" name="workspace-mode-pill-5-text">
            <a:extLst xmlns:a="http://schemas.openxmlformats.org/drawingml/2006/main">
              <a:ext uri="{FF2B5EF4-FFF2-40B4-BE49-F238E27FC236}">
                <a16:creationId xmlns:a16="http://schemas.microsoft.com/office/drawing/2014/main" id="{B7F8E287-8DD1-476D-8584-4DBE8E8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52450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Insurance</a:t>
            </a:r>
          </a:p>
        </p:txBody>
      </p:sp>
      <p:sp>
        <p:nvSpPr>
          <p:cNvPr id="44" name="workspace-mode-pill-6-panel">
            <a:extLst xmlns:a="http://schemas.openxmlformats.org/drawingml/2006/main">
              <a:ext uri="{FF2B5EF4-FFF2-40B4-BE49-F238E27FC236}">
                <a16:creationId xmlns:a16="http://schemas.microsoft.com/office/drawing/2014/main" id="{5F2F7441-FF44-4DE5-B6FA-6B86EC62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054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9F7"/>
          </a:solidFill>
          <a:ln xmlns:a="http://schemas.openxmlformats.org/drawingml/2006/main" w="9525">
            <a:solidFill>
              <a:srgbClr val="D4EEE7"/>
            </a:solidFill>
            <a:prstDash val="solid"/>
          </a:ln>
        </p:spPr>
      </p:sp>
      <p:sp>
        <p:nvSpPr>
          <p:cNvPr id="45" name="workspace-mode-pill-6-text">
            <a:extLst xmlns:a="http://schemas.openxmlformats.org/drawingml/2006/main">
              <a:ext uri="{FF2B5EF4-FFF2-40B4-BE49-F238E27FC236}">
                <a16:creationId xmlns:a16="http://schemas.microsoft.com/office/drawing/2014/main" id="{4E9BA018-22AF-4002-9ED5-ABF0CAF8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5245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Summary</a:t>
            </a:r>
          </a:p>
        </p:txBody>
      </p:sp>
      <p:sp>
        <p:nvSpPr>
          <p:cNvPr id="46" name="access-footer-text">
            <a:extLst xmlns:a="http://schemas.openxmlformats.org/drawingml/2006/main">
              <a:ext uri="{FF2B5EF4-FFF2-40B4-BE49-F238E27FC236}">
                <a16:creationId xmlns:a16="http://schemas.microsoft.com/office/drawing/2014/main" id="{388C7AAD-C26B-447B-8ECA-852DA3CF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05550"/>
            <a:ext cx="1135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38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425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One product surface can support both fast guidance and detailed review.</a:t>
            </a:r>
          </a:p>
        </p:txBody>
      </p:sp>
    </p:spTree>
    <p:extLst>
      <p:ext uri="{BB962C8B-B14F-4D97-AF65-F5344CB8AC3E}">
        <p14:creationId xmlns:p14="http://schemas.microsoft.com/office/powerpoint/2010/main" val="6900752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SAFETY BOUNDARY">
            <a:extLst xmlns:a="http://schemas.openxmlformats.org/drawingml/2006/main">
              <a:ext uri="{FF2B5EF4-FFF2-40B4-BE49-F238E27FC236}">
                <a16:creationId xmlns:a16="http://schemas.microsoft.com/office/drawing/2014/main" id="{809073A7-72BF-4D88-8E50-26EBD014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 BOUNDARY</a:t>
            </a:r>
          </a:p>
        </p:txBody>
      </p:sp>
      <p:sp>
        <p:nvSpPr>
          <p:cNvPr id="2" name="titl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0477149B-4F3B-47E7-A76B-93B83568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Safety boundaries are explicit and enforced</a:t>
            </a:r>
          </a:p>
        </p:txBody>
      </p:sp>
      <p:sp>
        <p:nvSpPr>
          <p:cNvPr id="3" name="header-lin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1D25CD75-D536-4D45-85FA-2984746D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4" name="subtitle-Safety boundaries are explicit and enforced">
            <a:extLst xmlns:a="http://schemas.openxmlformats.org/drawingml/2006/main">
              <a:ext uri="{FF2B5EF4-FFF2-40B4-BE49-F238E27FC236}">
                <a16:creationId xmlns:a16="http://schemas.microsoft.com/office/drawing/2014/main" id="{37586F98-3513-4210-8C5F-E32E1B3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Useful support, with hard limits.</a:t>
            </a:r>
          </a:p>
        </p:txBody>
      </p:sp>
      <p:sp>
        <p:nvSpPr>
          <p:cNvPr id="5" name="final-supports-card">
            <a:extLst xmlns:a="http://schemas.openxmlformats.org/drawingml/2006/main">
              <a:ext uri="{FF2B5EF4-FFF2-40B4-BE49-F238E27FC236}">
                <a16:creationId xmlns:a16="http://schemas.microsoft.com/office/drawing/2014/main" id="{B113EC48-6488-4A67-9839-3F802DF0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71700"/>
            <a:ext cx="533400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7FFFD"/>
          </a:solidFill>
          <a:ln xmlns:a="http://schemas.openxmlformats.org/drawingml/2006/main" w="9525">
            <a:solidFill>
              <a:srgbClr val="DCEF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final-supports-line">
            <a:extLst xmlns:a="http://schemas.openxmlformats.org/drawingml/2006/main">
              <a:ext uri="{FF2B5EF4-FFF2-40B4-BE49-F238E27FC236}">
                <a16:creationId xmlns:a16="http://schemas.microsoft.com/office/drawing/2014/main" id="{61CA4145-4079-4786-93C2-87A7418B1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7" name="final-supports-title">
            <a:extLst xmlns:a="http://schemas.openxmlformats.org/drawingml/2006/main">
              <a:ext uri="{FF2B5EF4-FFF2-40B4-BE49-F238E27FC236}">
                <a16:creationId xmlns:a16="http://schemas.microsoft.com/office/drawing/2014/main" id="{05EF30A6-D503-4777-888F-F7BF105C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14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Does help</a:t>
            </a:r>
          </a:p>
        </p:txBody>
      </p:sp>
      <p:sp>
        <p:nvSpPr>
          <p:cNvPr id="8" name="final-supports-bullet-icon-52-320">
            <a:extLst xmlns:a="http://schemas.openxmlformats.org/drawingml/2006/main">
              <a:ext uri="{FF2B5EF4-FFF2-40B4-BE49-F238E27FC236}">
                <a16:creationId xmlns:a16="http://schemas.microsoft.com/office/drawing/2014/main" id="{25FB8AEE-ED81-4632-8B84-EAD8BC72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24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9" name="final-supports-bullet-text-52-320">
            <a:extLst xmlns:a="http://schemas.openxmlformats.org/drawingml/2006/main">
              <a:ext uri="{FF2B5EF4-FFF2-40B4-BE49-F238E27FC236}">
                <a16:creationId xmlns:a16="http://schemas.microsoft.com/office/drawing/2014/main" id="{C960EFB1-BF91-4A4E-B0D9-6324695D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Risk review and triage</a:t>
            </a:r>
          </a:p>
        </p:txBody>
      </p:sp>
      <p:sp>
        <p:nvSpPr>
          <p:cNvPr id="10" name="final-supports-bullet-icon-52-366">
            <a:extLst xmlns:a="http://schemas.openxmlformats.org/drawingml/2006/main">
              <a:ext uri="{FF2B5EF4-FFF2-40B4-BE49-F238E27FC236}">
                <a16:creationId xmlns:a16="http://schemas.microsoft.com/office/drawing/2014/main" id="{E609AA7E-5569-45BF-90D7-B11EA786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62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1" name="final-supports-bullet-text-52-366">
            <a:extLst xmlns:a="http://schemas.openxmlformats.org/drawingml/2006/main">
              <a:ext uri="{FF2B5EF4-FFF2-40B4-BE49-F238E27FC236}">
                <a16:creationId xmlns:a16="http://schemas.microsoft.com/office/drawing/2014/main" id="{84732108-0BAF-484A-BB9A-E68751BA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Medicine, lab, and insurance guidance</a:t>
            </a:r>
          </a:p>
        </p:txBody>
      </p:sp>
      <p:sp>
        <p:nvSpPr>
          <p:cNvPr id="12" name="final-supports-bullet-icon-52-412">
            <a:extLst xmlns:a="http://schemas.openxmlformats.org/drawingml/2006/main">
              <a:ext uri="{FF2B5EF4-FFF2-40B4-BE49-F238E27FC236}">
                <a16:creationId xmlns:a16="http://schemas.microsoft.com/office/drawing/2014/main" id="{06882946-FC5C-47BA-87D5-FE8DF1CB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final-supports-bullet-text-52-412">
            <a:extLst xmlns:a="http://schemas.openxmlformats.org/drawingml/2006/main">
              <a:ext uri="{FF2B5EF4-FFF2-40B4-BE49-F238E27FC236}">
                <a16:creationId xmlns:a16="http://schemas.microsoft.com/office/drawing/2014/main" id="{85B58FB5-89BC-4BB6-AA41-43ADEF1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243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Doctor-ready summary and follow-up prep</a:t>
            </a:r>
          </a:p>
        </p:txBody>
      </p:sp>
      <p:sp>
        <p:nvSpPr>
          <p:cNvPr id="14" name="final-supports-bullet-icon-52-458">
            <a:extLst xmlns:a="http://schemas.openxmlformats.org/drawingml/2006/main">
              <a:ext uri="{FF2B5EF4-FFF2-40B4-BE49-F238E27FC236}">
                <a16:creationId xmlns:a16="http://schemas.microsoft.com/office/drawing/2014/main" id="{394CF824-71B0-4B57-849B-5EC2917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5" name="final-supports-bullet-text-52-458">
            <a:extLst xmlns:a="http://schemas.openxmlformats.org/drawingml/2006/main">
              <a:ext uri="{FF2B5EF4-FFF2-40B4-BE49-F238E27FC236}">
                <a16:creationId xmlns:a16="http://schemas.microsoft.com/office/drawing/2014/main" id="{E1C80518-B82D-4870-A469-99EA207D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Urgent cases can force a safety-first route</a:t>
            </a:r>
          </a:p>
        </p:txBody>
      </p:sp>
      <p:sp>
        <p:nvSpPr>
          <p:cNvPr id="16" name="final-limits-card">
            <a:extLst xmlns:a="http://schemas.openxmlformats.org/drawingml/2006/main">
              <a:ext uri="{FF2B5EF4-FFF2-40B4-BE49-F238E27FC236}">
                <a16:creationId xmlns:a16="http://schemas.microsoft.com/office/drawing/2014/main" id="{1A106774-F9DB-4FA8-9C77-B83765C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5391150" cy="2724150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5D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final-limits-line">
            <a:extLst xmlns:a="http://schemas.openxmlformats.org/drawingml/2006/main">
              <a:ext uri="{FF2B5EF4-FFF2-40B4-BE49-F238E27FC236}">
                <a16:creationId xmlns:a16="http://schemas.microsoft.com/office/drawing/2014/main" id="{84D6E76F-DA0D-43B9-8B4A-07210DCD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8" name="final-limits-title">
            <a:extLst xmlns:a="http://schemas.openxmlformats.org/drawingml/2006/main">
              <a:ext uri="{FF2B5EF4-FFF2-40B4-BE49-F238E27FC236}">
                <a16:creationId xmlns:a16="http://schemas.microsoft.com/office/drawing/2014/main" id="{4DF60F8C-C5AF-47C4-9FAF-71D9405B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Never does</a:t>
            </a:r>
          </a:p>
        </p:txBody>
      </p:sp>
      <p:sp>
        <p:nvSpPr>
          <p:cNvPr id="19" name="final-limits-bullet-icon-678-320">
            <a:extLst xmlns:a="http://schemas.openxmlformats.org/drawingml/2006/main">
              <a:ext uri="{FF2B5EF4-FFF2-40B4-BE49-F238E27FC236}">
                <a16:creationId xmlns:a16="http://schemas.microsoft.com/office/drawing/2014/main" id="{6BF385AF-70F2-4891-A001-C68F262D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0" name="final-limits-bullet-text-678-320">
            <a:extLst xmlns:a="http://schemas.openxmlformats.org/drawingml/2006/main">
              <a:ext uri="{FF2B5EF4-FFF2-40B4-BE49-F238E27FC236}">
                <a16:creationId xmlns:a16="http://schemas.microsoft.com/office/drawing/2014/main" id="{569082ED-74AA-4241-A1A5-68151D13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Final diagnosis</a:t>
            </a:r>
          </a:p>
        </p:txBody>
      </p:sp>
      <p:sp>
        <p:nvSpPr>
          <p:cNvPr id="21" name="final-limits-bullet-icon-678-366">
            <a:extLst xmlns:a="http://schemas.openxmlformats.org/drawingml/2006/main">
              <a:ext uri="{FF2B5EF4-FFF2-40B4-BE49-F238E27FC236}">
                <a16:creationId xmlns:a16="http://schemas.microsoft.com/office/drawing/2014/main" id="{BB43AB57-D8C3-4FDB-AFF6-5E1912A3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623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2" name="final-limits-bullet-text-678-366">
            <a:extLst xmlns:a="http://schemas.openxmlformats.org/drawingml/2006/main">
              <a:ext uri="{FF2B5EF4-FFF2-40B4-BE49-F238E27FC236}">
                <a16:creationId xmlns:a16="http://schemas.microsoft.com/office/drawing/2014/main" id="{D4772DAD-DAB7-43CA-83B7-FB25E43F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Prescribing</a:t>
            </a:r>
          </a:p>
        </p:txBody>
      </p:sp>
      <p:sp>
        <p:nvSpPr>
          <p:cNvPr id="23" name="final-limits-bullet-icon-678-412">
            <a:extLst xmlns:a="http://schemas.openxmlformats.org/drawingml/2006/main">
              <a:ext uri="{FF2B5EF4-FFF2-40B4-BE49-F238E27FC236}">
                <a16:creationId xmlns:a16="http://schemas.microsoft.com/office/drawing/2014/main" id="{A0A9EA9F-7E65-4EB1-B89F-72C7EE4F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4" name="final-limits-bullet-text-678-412">
            <a:extLst xmlns:a="http://schemas.openxmlformats.org/drawingml/2006/main">
              <a:ext uri="{FF2B5EF4-FFF2-40B4-BE49-F238E27FC236}">
                <a16:creationId xmlns:a16="http://schemas.microsoft.com/office/drawing/2014/main" id="{E49DCF01-FF1E-4C12-8A60-36F6E9A1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2430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Dose calculation</a:t>
            </a:r>
          </a:p>
        </p:txBody>
      </p:sp>
      <p:sp>
        <p:nvSpPr>
          <p:cNvPr id="25" name="final-limits-bullet-icon-678-458">
            <a:extLst xmlns:a="http://schemas.openxmlformats.org/drawingml/2006/main">
              <a:ext uri="{FF2B5EF4-FFF2-40B4-BE49-F238E27FC236}">
                <a16:creationId xmlns:a16="http://schemas.microsoft.com/office/drawing/2014/main" id="{9E1B3C1B-98CB-4E5E-8867-5CC41270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386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26" name="final-limits-bullet-text-678-458">
            <a:extLst xmlns:a="http://schemas.openxmlformats.org/drawingml/2006/main">
              <a:ext uri="{FF2B5EF4-FFF2-40B4-BE49-F238E27FC236}">
                <a16:creationId xmlns:a16="http://schemas.microsoft.com/office/drawing/2014/main" id="{4F368BC7-5589-4D6F-AC55-648BA34A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Appointment booking or emergency calls</a:t>
            </a:r>
          </a:p>
        </p:txBody>
      </p:sp>
      <p:sp>
        <p:nvSpPr>
          <p:cNvPr id="27" name="final-memory-line">
            <a:extLst xmlns:a="http://schemas.openxmlformats.org/drawingml/2006/main">
              <a:ext uri="{FF2B5EF4-FFF2-40B4-BE49-F238E27FC236}">
                <a16:creationId xmlns:a16="http://schemas.microsoft.com/office/drawing/2014/main" id="{CE7A08F3-1081-47F5-A32F-3239D54D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28" name="final-memory-text">
            <a:extLst xmlns:a="http://schemas.openxmlformats.org/drawingml/2006/main">
              <a:ext uri="{FF2B5EF4-FFF2-40B4-BE49-F238E27FC236}">
                <a16:creationId xmlns:a16="http://schemas.microsoft.com/office/drawing/2014/main" id="{5D153FC2-158D-4919-9D29-8282A2AE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055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454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Patient context can grow. Medical facts stay locked.</a:t>
            </a:r>
          </a:p>
        </p:txBody>
      </p:sp>
    </p:spTree>
    <p:extLst>
      <p:ext uri="{BB962C8B-B14F-4D97-AF65-F5344CB8AC3E}">
        <p14:creationId xmlns:p14="http://schemas.microsoft.com/office/powerpoint/2010/main" val="13835334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WHY IT STANDS OUT">
            <a:extLst xmlns:a="http://schemas.openxmlformats.org/drawingml/2006/main">
              <a:ext uri="{FF2B5EF4-FFF2-40B4-BE49-F238E27FC236}">
                <a16:creationId xmlns:a16="http://schemas.microsoft.com/office/drawing/2014/main" id="{B1889385-6BD3-474F-BA51-88AEE20B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WHY IT STANDS OUT</a:t>
            </a:r>
          </a:p>
        </p:txBody>
      </p:sp>
      <p:sp>
        <p:nvSpPr>
          <p:cNvPr id="2" name="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E1B96764-9B27-484E-8BB9-5927029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0485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91624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091624"/>
                </a:solidFill>
                <a:latin typeface="Segoe UI"/>
                <a:ea typeface="Segoe UI"/>
                <a:cs typeface="Segoe UI"/>
              </a:rPr>
              <a:t>Care Nova adds the layers generic AI misses</a:t>
            </a:r>
          </a:p>
        </p:txBody>
      </p:sp>
      <p:sp>
        <p:nvSpPr>
          <p:cNvPr id="3" name="header-lin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364D38DE-7881-4C8D-A425-DCFBBD72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097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4" name="subtitle-Care Nova adds the layers generic AI misses">
            <a:extLst xmlns:a="http://schemas.openxmlformats.org/drawingml/2006/main">
              <a:ext uri="{FF2B5EF4-FFF2-40B4-BE49-F238E27FC236}">
                <a16:creationId xmlns:a16="http://schemas.microsoft.com/office/drawing/2014/main" id="{4BF43376-38A6-404B-8D54-E2B36AA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Memory, routing, and safety shift the answer from broad to focused.</a:t>
            </a:r>
          </a:p>
        </p:txBody>
      </p:sp>
      <p:sp>
        <p:nvSpPr>
          <p:cNvPr id="5" name="closing-band-1">
            <a:extLst xmlns:a="http://schemas.openxmlformats.org/drawingml/2006/main">
              <a:ext uri="{FF2B5EF4-FFF2-40B4-BE49-F238E27FC236}">
                <a16:creationId xmlns:a16="http://schemas.microsoft.com/office/drawing/2014/main" id="{BF1963EB-6830-4FAF-A2AC-A88E818F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losing-band-line-1">
            <a:extLst xmlns:a="http://schemas.openxmlformats.org/drawingml/2006/main">
              <a:ext uri="{FF2B5EF4-FFF2-40B4-BE49-F238E27FC236}">
                <a16:creationId xmlns:a16="http://schemas.microsoft.com/office/drawing/2014/main" id="{1193CF3F-ED2C-4E47-8388-DF2FB55E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  <a:ln xmlns:a="http://schemas.openxmlformats.org/drawingml/2006/main" w="0">
            <a:solidFill>
              <a:srgbClr val="1570EF"/>
            </a:solidFill>
            <a:prstDash val="solid"/>
          </a:ln>
        </p:spPr>
      </p:sp>
      <p:sp>
        <p:nvSpPr>
          <p:cNvPr id="7" name="closing-band-label-1">
            <a:extLst xmlns:a="http://schemas.openxmlformats.org/drawingml/2006/main">
              <a:ext uri="{FF2B5EF4-FFF2-40B4-BE49-F238E27FC236}">
                <a16:creationId xmlns:a16="http://schemas.microsoft.com/office/drawing/2014/main" id="{CB93FE9F-2479-4D8D-A636-A467182B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MEMORY</a:t>
            </a:r>
          </a:p>
        </p:txBody>
      </p:sp>
      <p:sp>
        <p:nvSpPr>
          <p:cNvPr id="8" name="closing-band-generic-1">
            <a:extLst xmlns:a="http://schemas.openxmlformats.org/drawingml/2006/main">
              <a:ext uri="{FF2B5EF4-FFF2-40B4-BE49-F238E27FC236}">
                <a16:creationId xmlns:a16="http://schemas.microsoft.com/office/drawing/2014/main" id="{C0566234-29D3-4102-8DD9-C47B0867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starts cold.</a:t>
            </a:r>
          </a:p>
        </p:txBody>
      </p:sp>
      <p:sp>
        <p:nvSpPr>
          <p:cNvPr id="9" name="closing-band-divider-1">
            <a:extLst xmlns:a="http://schemas.openxmlformats.org/drawingml/2006/main">
              <a:ext uri="{FF2B5EF4-FFF2-40B4-BE49-F238E27FC236}">
                <a16:creationId xmlns:a16="http://schemas.microsoft.com/office/drawing/2014/main" id="{505A1106-875B-466F-A3AE-84649C34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003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0" name="closing-band-care-1">
            <a:extLst xmlns:a="http://schemas.openxmlformats.org/drawingml/2006/main">
              <a:ext uri="{FF2B5EF4-FFF2-40B4-BE49-F238E27FC236}">
                <a16:creationId xmlns:a16="http://schemas.microsoft.com/office/drawing/2014/main" id="{88D7B5FA-A169-442E-BE53-40D18B53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556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70EF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570EF"/>
                </a:solidFill>
                <a:latin typeface="Segoe UI"/>
                <a:ea typeface="Segoe UI"/>
                <a:cs typeface="Segoe UI"/>
              </a:rPr>
              <a:t>Care Nova reloads patient memory, records, and graph context.</a:t>
            </a:r>
          </a:p>
        </p:txBody>
      </p:sp>
      <p:sp>
        <p:nvSpPr>
          <p:cNvPr id="11" name="closing-band-2">
            <a:extLst xmlns:a="http://schemas.openxmlformats.org/drawingml/2006/main">
              <a:ext uri="{FF2B5EF4-FFF2-40B4-BE49-F238E27FC236}">
                <a16:creationId xmlns:a16="http://schemas.microsoft.com/office/drawing/2014/main" id="{A1868717-F08C-4DEC-BB4F-0696BEFA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0520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FFD"/>
          </a:solidFill>
          <a:ln xmlns:a="http://schemas.openxmlformats.org/drawingml/2006/main" w="9525">
            <a:solidFill>
              <a:srgbClr val="DDEF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losing-band-line-2">
            <a:extLst xmlns:a="http://schemas.openxmlformats.org/drawingml/2006/main">
              <a:ext uri="{FF2B5EF4-FFF2-40B4-BE49-F238E27FC236}">
                <a16:creationId xmlns:a16="http://schemas.microsoft.com/office/drawing/2014/main" id="{FB491AC4-40E9-47D2-B209-13E621FD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9C9C"/>
          </a:solidFill>
          <a:ln xmlns:a="http://schemas.openxmlformats.org/drawingml/2006/main" w="0">
            <a:solidFill>
              <a:srgbClr val="149C9C"/>
            </a:solidFill>
            <a:prstDash val="solid"/>
          </a:ln>
        </p:spPr>
      </p:sp>
      <p:sp>
        <p:nvSpPr>
          <p:cNvPr id="13" name="closing-band-label-2">
            <a:extLst xmlns:a="http://schemas.openxmlformats.org/drawingml/2006/main">
              <a:ext uri="{FF2B5EF4-FFF2-40B4-BE49-F238E27FC236}">
                <a16:creationId xmlns:a16="http://schemas.microsoft.com/office/drawing/2014/main" id="{0C1CC0E1-4E27-4C3B-A0BD-84965DBB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ROUTING</a:t>
            </a:r>
          </a:p>
        </p:txBody>
      </p:sp>
      <p:sp>
        <p:nvSpPr>
          <p:cNvPr id="14" name="closing-band-generic-2">
            <a:extLst xmlns:a="http://schemas.openxmlformats.org/drawingml/2006/main">
              <a:ext uri="{FF2B5EF4-FFF2-40B4-BE49-F238E27FC236}">
                <a16:creationId xmlns:a16="http://schemas.microsoft.com/office/drawing/2014/main" id="{89BA277C-2021-42B6-AC55-F4145B95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gives one broad answer.</a:t>
            </a:r>
          </a:p>
        </p:txBody>
      </p:sp>
      <p:sp>
        <p:nvSpPr>
          <p:cNvPr id="15" name="closing-band-divider-2">
            <a:extLst xmlns:a="http://schemas.openxmlformats.org/drawingml/2006/main">
              <a:ext uri="{FF2B5EF4-FFF2-40B4-BE49-F238E27FC236}">
                <a16:creationId xmlns:a16="http://schemas.microsoft.com/office/drawing/2014/main" id="{46834463-7CBD-4DCB-98EC-A8BF36C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1475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16" name="closing-band-care-2">
            <a:extLst xmlns:a="http://schemas.openxmlformats.org/drawingml/2006/main">
              <a:ext uri="{FF2B5EF4-FFF2-40B4-BE49-F238E27FC236}">
                <a16:creationId xmlns:a16="http://schemas.microsoft.com/office/drawing/2014/main" id="{9F87A23E-3DE5-491B-BE47-870540AD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71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211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9C9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149C9C"/>
                </a:solidFill>
                <a:latin typeface="Segoe UI"/>
                <a:ea typeface="Segoe UI"/>
                <a:cs typeface="Segoe UI"/>
              </a:rPr>
              <a:t>Care Nova chooses the right specialist path before replying.</a:t>
            </a:r>
          </a:p>
        </p:txBody>
      </p:sp>
      <p:sp>
        <p:nvSpPr>
          <p:cNvPr id="17" name="closing-band-3">
            <a:extLst xmlns:a="http://schemas.openxmlformats.org/drawingml/2006/main">
              <a:ext uri="{FF2B5EF4-FFF2-40B4-BE49-F238E27FC236}">
                <a16:creationId xmlns:a16="http://schemas.microsoft.com/office/drawing/2014/main" id="{98872B77-26FC-497A-91D8-68531669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112014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F1"/>
          </a:solidFill>
          <a:ln xmlns:a="http://schemas.openxmlformats.org/drawingml/2006/main" w="9525">
            <a:solidFill>
              <a:srgbClr val="F3DF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closing-band-line-3">
            <a:extLst xmlns:a="http://schemas.openxmlformats.org/drawingml/2006/main">
              <a:ext uri="{FF2B5EF4-FFF2-40B4-BE49-F238E27FC236}">
                <a16:creationId xmlns:a16="http://schemas.microsoft.com/office/drawing/2014/main" id="{8A1638C4-E322-43CC-8310-95C02169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C"/>
          </a:solidFill>
          <a:ln xmlns:a="http://schemas.openxmlformats.org/drawingml/2006/main" w="0">
            <a:solidFill>
              <a:srgbClr val="F47C4C"/>
            </a:solidFill>
            <a:prstDash val="solid"/>
          </a:ln>
        </p:spPr>
      </p:sp>
      <p:sp>
        <p:nvSpPr>
          <p:cNvPr id="19" name="closing-band-label-3">
            <a:extLst xmlns:a="http://schemas.openxmlformats.org/drawingml/2006/main">
              <a:ext uri="{FF2B5EF4-FFF2-40B4-BE49-F238E27FC236}">
                <a16:creationId xmlns:a16="http://schemas.microsoft.com/office/drawing/2014/main" id="{E09AEA87-05A7-41F7-A483-B922F841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SAFETY</a:t>
            </a:r>
          </a:p>
        </p:txBody>
      </p:sp>
      <p:sp>
        <p:nvSpPr>
          <p:cNvPr id="20" name="closing-band-generic-3">
            <a:extLst xmlns:a="http://schemas.openxmlformats.org/drawingml/2006/main">
              <a:ext uri="{FF2B5EF4-FFF2-40B4-BE49-F238E27FC236}">
                <a16:creationId xmlns:a16="http://schemas.microsoft.com/office/drawing/2014/main" id="{644A75AE-23E6-4FED-821C-DC59D2F4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87A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3687A"/>
                </a:solidFill>
                <a:latin typeface="Segoe UI"/>
                <a:ea typeface="Segoe UI"/>
                <a:cs typeface="Segoe UI"/>
              </a:rPr>
              <a:t>Generic AI can overstep.</a:t>
            </a:r>
          </a:p>
        </p:txBody>
      </p:sp>
      <p:sp>
        <p:nvSpPr>
          <p:cNvPr id="21" name="closing-band-divider-3">
            <a:extLst xmlns:a="http://schemas.openxmlformats.org/drawingml/2006/main">
              <a:ext uri="{FF2B5EF4-FFF2-40B4-BE49-F238E27FC236}">
                <a16:creationId xmlns:a16="http://schemas.microsoft.com/office/drawing/2014/main" id="{499E020D-749B-49B6-AD74-71072405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95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5ED"/>
          </a:solidFill>
          <a:ln xmlns:a="http://schemas.openxmlformats.org/drawingml/2006/main" w="0">
            <a:solidFill>
              <a:srgbClr val="DCE5ED"/>
            </a:solidFill>
            <a:prstDash val="solid"/>
          </a:ln>
        </p:spPr>
      </p:sp>
      <p:sp>
        <p:nvSpPr>
          <p:cNvPr id="22" name="closing-band-care-3">
            <a:extLst xmlns:a="http://schemas.openxmlformats.org/drawingml/2006/main">
              <a:ext uri="{FF2B5EF4-FFF2-40B4-BE49-F238E27FC236}">
                <a16:creationId xmlns:a16="http://schemas.microsoft.com/office/drawing/2014/main" id="{75AC71B8-06CA-4204-A7FE-A29334AB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863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21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7C4C"/>
                </a:solidFill>
                <a:latin typeface="Segoe UI"/>
                <a:ea typeface="Segoe UI"/>
                <a:cs typeface="Segoe UI"/>
              </a:defRPr>
            </a:pPr>
            <a:r>
              <a:rPr sz="2325" b="1">
                <a:solidFill>
                  <a:srgbClr val="F47C4C"/>
                </a:solidFill>
                <a:latin typeface="Segoe UI"/>
                <a:ea typeface="Segoe UI"/>
                <a:cs typeface="Segoe UI"/>
              </a:rPr>
              <a:t>Care Nova blocks diagnosis, prescribing, and dosage advice in the demo build.</a:t>
            </a:r>
          </a:p>
        </p:txBody>
      </p:sp>
      <p:sp>
        <p:nvSpPr>
          <p:cNvPr id="23" name="closing-summary-strip">
            <a:extLst xmlns:a="http://schemas.openxmlformats.org/drawingml/2006/main">
              <a:ext uri="{FF2B5EF4-FFF2-40B4-BE49-F238E27FC236}">
                <a16:creationId xmlns:a16="http://schemas.microsoft.com/office/drawing/2014/main" id="{AF7AE241-69D5-4786-99F7-C8006A7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29350"/>
            <a:ext cx="11201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E6EFF7"/>
          </a:solidFill>
          <a:ln xmlns:a="http://schemas.openxmlformats.org/drawingml/2006/main" w="0">
            <a:solidFill>
              <a:srgbClr val="E6EFF7"/>
            </a:solidFill>
            <a:prstDash val="solid"/>
          </a:ln>
        </p:spPr>
      </p:sp>
      <p:sp>
        <p:nvSpPr>
          <p:cNvPr id="24" name="closing-final-text">
            <a:extLst xmlns:a="http://schemas.openxmlformats.org/drawingml/2006/main">
              <a:ext uri="{FF2B5EF4-FFF2-40B4-BE49-F238E27FC236}">
                <a16:creationId xmlns:a16="http://schemas.microsoft.com/office/drawing/2014/main" id="{27ACC255-7A32-430B-8C82-EA0689B9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2460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324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2324A"/>
                </a:solidFill>
                <a:latin typeface="Segoe UI"/>
                <a:ea typeface="Segoe UI"/>
                <a:cs typeface="Segoe UI"/>
              </a:rPr>
              <a:t>Result: faster triage, more consistent guidance, and one clear next step.</a:t>
            </a:r>
          </a:p>
        </p:txBody>
      </p:sp>
    </p:spTree>
    <p:extLst>
      <p:ext uri="{BB962C8B-B14F-4D97-AF65-F5344CB8AC3E}">
        <p14:creationId xmlns:p14="http://schemas.microsoft.com/office/powerpoint/2010/main" val="835855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2026-07-05T08:55:22.7480000Z</dcterms:created>
  <dcterms:modified xsi:type="dcterms:W3CDTF">2026-07-05T08:55:22.7480000Z</dcterms:modified>
</coreProperties>
</file>