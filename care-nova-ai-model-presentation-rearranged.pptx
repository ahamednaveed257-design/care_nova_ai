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0361370d7473d" /><Relationship Type="http://schemas.openxmlformats.org/officeDocument/2006/relationships/extended-properties" Target="/docProps/app.xml" Id="R8079f26bc66f4df1" /><Relationship Type="http://schemas.openxmlformats.org/officeDocument/2006/relationships/officeDocument" Target="/ppt/presentation.xml" Id="R4c712d5af4db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537e780c346f5"/>
  </p:sldMasterIdLst>
  <p:notesMasterIdLst>
    <p:notesMasterId xmlns:r="http://schemas.openxmlformats.org/officeDocument/2006/relationships" r:id="R5f63e5f9498649ec"/>
  </p:notesMasterIdLst>
  <p:sldIdLst>
    <p:sldId xmlns:r="http://schemas.openxmlformats.org/officeDocument/2006/relationships" id="256" r:id="Rcf3e21b030804c4a"/>
    <p:sldId xmlns:r="http://schemas.openxmlformats.org/officeDocument/2006/relationships" id="257" r:id="Rb7f6aaa44d684302"/>
    <p:sldId xmlns:r="http://schemas.openxmlformats.org/officeDocument/2006/relationships" id="258" r:id="R5b0e340d3b204905"/>
    <p:sldId xmlns:r="http://schemas.openxmlformats.org/officeDocument/2006/relationships" id="259" r:id="R7995fbc218034594"/>
    <p:sldId xmlns:r="http://schemas.openxmlformats.org/officeDocument/2006/relationships" id="260" r:id="R0dc4b2b7e03b43ae"/>
    <p:sldId xmlns:r="http://schemas.openxmlformats.org/officeDocument/2006/relationships" id="261" r:id="R77d8d459c8d44ab9"/>
    <p:sldId xmlns:r="http://schemas.openxmlformats.org/officeDocument/2006/relationships" id="262" r:id="Rf7b5a90367214d8c"/>
    <p:sldId xmlns:r="http://schemas.openxmlformats.org/officeDocument/2006/relationships" id="263" r:id="R52e08a06bdbd4cba"/>
    <p:sldId xmlns:r="http://schemas.openxmlformats.org/officeDocument/2006/relationships" id="264" r:id="R8f15c3884e704e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c4352577574769" /><Relationship Type="http://schemas.openxmlformats.org/officeDocument/2006/relationships/slideMaster" Target="/ppt/slideMasters/slideMaster1.xml" Id="R50c537e780c346f5" /><Relationship Type="http://schemas.openxmlformats.org/officeDocument/2006/relationships/notesMaster" Target="/ppt/notesMasters/notesMaster1.xml" Id="R5f63e5f9498649ec" /><Relationship Type="http://schemas.openxmlformats.org/officeDocument/2006/relationships/presProps" Target="/ppt/presProps.xml" Id="R1584b7622b324e93" /><Relationship Type="http://schemas.openxmlformats.org/officeDocument/2006/relationships/tableStyles" Target="/ppt/tableStyles.xml" Id="R1e62642225524a94" /><Relationship Type="http://schemas.openxmlformats.org/officeDocument/2006/relationships/slide" Target="/ppt/slides/slide1.xml" Id="Rcf3e21b030804c4a" /><Relationship Type="http://schemas.openxmlformats.org/officeDocument/2006/relationships/slide" Target="/ppt/slides/slide2.xml" Id="Rb7f6aaa44d684302" /><Relationship Type="http://schemas.openxmlformats.org/officeDocument/2006/relationships/slide" Target="/ppt/slides/slide3.xml" Id="R5b0e340d3b204905" /><Relationship Type="http://schemas.openxmlformats.org/officeDocument/2006/relationships/slide" Target="/ppt/slides/slide4.xml" Id="R7995fbc218034594" /><Relationship Type="http://schemas.openxmlformats.org/officeDocument/2006/relationships/slide" Target="/ppt/slides/slide5.xml" Id="R0dc4b2b7e03b43ae" /><Relationship Type="http://schemas.openxmlformats.org/officeDocument/2006/relationships/slide" Target="/ppt/slides/slide6.xml" Id="R77d8d459c8d44ab9" /><Relationship Type="http://schemas.openxmlformats.org/officeDocument/2006/relationships/slide" Target="/ppt/slides/slide7.xml" Id="Rf7b5a90367214d8c" /><Relationship Type="http://schemas.openxmlformats.org/officeDocument/2006/relationships/slide" Target="/ppt/slides/slide8.xml" Id="R52e08a06bdbd4cba" /><Relationship Type="http://schemas.openxmlformats.org/officeDocument/2006/relationships/slide" Target="/ppt/slides/slide9.xml" Id="R8f15c3884e70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3b8cfde3f7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c4f8c34b34862" /><Relationship Type="http://schemas.openxmlformats.org/officeDocument/2006/relationships/notesMaster" Target="/ppt/notesMasters/notesMaster1.xml" Id="R122f9c31d2fa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ab4f32f744499" /><Relationship Type="http://schemas.openxmlformats.org/officeDocument/2006/relationships/notesMaster" Target="/ppt/notesMasters/notesMaster1.xml" Id="R3b3e47591a86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bcaf0f73db4f64" /><Relationship Type="http://schemas.openxmlformats.org/officeDocument/2006/relationships/notesMaster" Target="/ppt/notesMasters/notesMaster1.xml" Id="R85668e59aad44f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9922be746d44c9" /><Relationship Type="http://schemas.openxmlformats.org/officeDocument/2006/relationships/notesMaster" Target="/ppt/notesMasters/notesMaster1.xml" Id="R76af0e41dd124e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fbceb8d584598" /><Relationship Type="http://schemas.openxmlformats.org/officeDocument/2006/relationships/notesMaster" Target="/ppt/notesMasters/notesMaster1.xml" Id="Rfbde10ac4b52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0e51422b4b4338" /><Relationship Type="http://schemas.openxmlformats.org/officeDocument/2006/relationships/notesMaster" Target="/ppt/notesMasters/notesMaster1.xml" Id="Raa56e721d293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706d39fd34388" /><Relationship Type="http://schemas.openxmlformats.org/officeDocument/2006/relationships/notesMaster" Target="/ppt/notesMasters/notesMaster1.xml" Id="Rcea96e06ef78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723e5d97f44908" /><Relationship Type="http://schemas.openxmlformats.org/officeDocument/2006/relationships/notesMaster" Target="/ppt/notesMasters/notesMaster1.xml" Id="R194a0ca4fef64a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e4a3e5edb4c59" /><Relationship Type="http://schemas.openxmlformats.org/officeDocument/2006/relationships/notesMaster" Target="/ppt/notesMasters/notesMaster1.xml" Id="R999206d563dd40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c33a3f0df48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a4b588890478a" /><Relationship Type="http://schemas.openxmlformats.org/officeDocument/2006/relationships/slideLayout" Target="/ppt/slideLayouts/slideLayout1.xml" Id="R7fec0a500ed5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ec0a500ed5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8ae002b2d4d34" /><Relationship Type="http://schemas.openxmlformats.org/officeDocument/2006/relationships/image" Target="/ppt/media/image.jpeg" Id="R3c28ecf36d094824" /><Relationship Type="http://schemas.openxmlformats.org/officeDocument/2006/relationships/notesSlide" Target="/ppt/notesSlides/notesSlide1.xml" Id="Rfff4efd3fe3d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9072343d44891" /><Relationship Type="http://schemas.openxmlformats.org/officeDocument/2006/relationships/notesSlide" Target="/ppt/notesSlides/notesSlide2.xml" Id="Rabcf3b5fe52b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b0c77b1545c9" /><Relationship Type="http://schemas.openxmlformats.org/officeDocument/2006/relationships/image" Target="/ppt/media/image2.jpeg" Id="R856b3ead3c3b4f82" /><Relationship Type="http://schemas.openxmlformats.org/officeDocument/2006/relationships/notesSlide" Target="/ppt/notesSlides/notesSlide3.xml" Id="Rca413c96d9464f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31abf47c04398" /><Relationship Type="http://schemas.openxmlformats.org/officeDocument/2006/relationships/image" Target="/ppt/media/image3.jpeg" Id="R4f602f64b44842e2" /><Relationship Type="http://schemas.openxmlformats.org/officeDocument/2006/relationships/notesSlide" Target="/ppt/notesSlides/notesSlide4.xml" Id="R3f0f743abd4847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6cbcef14432b" /><Relationship Type="http://schemas.openxmlformats.org/officeDocument/2006/relationships/notesSlide" Target="/ppt/notesSlides/notesSlide5.xml" Id="Rf91770af7d35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645bd4bdb4bea" /><Relationship Type="http://schemas.openxmlformats.org/officeDocument/2006/relationships/notesSlide" Target="/ppt/notesSlides/notesSlide6.xml" Id="Rd7c499d3de8d48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ded16effe46d3" /><Relationship Type="http://schemas.openxmlformats.org/officeDocument/2006/relationships/notesSlide" Target="/ppt/notesSlides/notesSlide7.xml" Id="R62498756f1b44e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a544acd94aee" /><Relationship Type="http://schemas.openxmlformats.org/officeDocument/2006/relationships/notesSlide" Target="/ppt/notesSlides/notesSlide8.xml" Id="Rf51d6c3f305c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4103a5cdc44d6" /><Relationship Type="http://schemas.openxmlformats.org/officeDocument/2006/relationships/notesSlide" Target="/ppt/notesSlides/notesSlide9.xml" Id="Ra8fcfc200e2447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07D5B0EB-BF20-4025-B1C4-8046DF5E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099B4B8-5E70-42B1-87B8-448D869B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HEALTHCARE AI DEMO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5569BC-B412-40FA-9483-922593FE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3657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AI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7057732A-FB97-415D-82B7-7E1238B2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96F628-7CBF-4F00-96AC-42E8C33A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69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25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Turns fragmented healthcare context into one clear, safety-checked next step.</a:t>
            </a:r>
          </a:p>
        </p:txBody>
      </p:sp>
      <p:sp>
        <p:nvSpPr>
          <p:cNvPr id="6" name="cover-supporting-line">
            <a:extLst xmlns:a="http://schemas.openxmlformats.org/drawingml/2006/main">
              <a:ext uri="{FF2B5EF4-FFF2-40B4-BE49-F238E27FC236}">
                <a16:creationId xmlns:a16="http://schemas.microsoft.com/office/drawing/2014/main" id="{C019A028-B469-46D5-8315-651C03B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Built for healthcare, not generic chat.</a:t>
            </a:r>
          </a:p>
        </p:txBody>
      </p:sp>
      <p:sp>
        <p:nvSpPr>
          <p:cNvPr id="7" name="cover-key-line-1">
            <a:extLst xmlns:a="http://schemas.openxmlformats.org/drawingml/2006/main">
              <a:ext uri="{FF2B5EF4-FFF2-40B4-BE49-F238E27FC236}">
                <a16:creationId xmlns:a16="http://schemas.microsoft.com/office/drawing/2014/main" id="{0623E6CC-AA00-46B8-84DD-040E4028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8" name="cover-key-text-1">
            <a:extLst xmlns:a="http://schemas.openxmlformats.org/drawingml/2006/main">
              <a:ext uri="{FF2B5EF4-FFF2-40B4-BE49-F238E27FC236}">
                <a16:creationId xmlns:a16="http://schemas.microsoft.com/office/drawing/2014/main" id="{1B170F19-1919-4C0D-AC28-3B452C4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privacy</a:t>
            </a:r>
          </a:p>
        </p:txBody>
      </p:sp>
      <p:sp>
        <p:nvSpPr>
          <p:cNvPr id="9" name="cover-key-line-2">
            <a:extLst xmlns:a="http://schemas.openxmlformats.org/drawingml/2006/main">
              <a:ext uri="{FF2B5EF4-FFF2-40B4-BE49-F238E27FC236}">
                <a16:creationId xmlns:a16="http://schemas.microsoft.com/office/drawing/2014/main" id="{F3C6AC49-5835-4D31-BC23-B3476CB5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0" name="cover-key-text-2">
            <a:extLst xmlns:a="http://schemas.openxmlformats.org/drawingml/2006/main">
              <a:ext uri="{FF2B5EF4-FFF2-40B4-BE49-F238E27FC236}">
                <a16:creationId xmlns:a16="http://schemas.microsoft.com/office/drawing/2014/main" id="{F220BEDC-7BB5-4480-8564-8EB165A7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Specialist routing + evidence</a:t>
            </a:r>
          </a:p>
        </p:txBody>
      </p:sp>
      <p:sp>
        <p:nvSpPr>
          <p:cNvPr id="11" name="cover-key-line-3">
            <a:extLst xmlns:a="http://schemas.openxmlformats.org/drawingml/2006/main">
              <a:ext uri="{FF2B5EF4-FFF2-40B4-BE49-F238E27FC236}">
                <a16:creationId xmlns:a16="http://schemas.microsoft.com/office/drawing/2014/main" id="{07B2C45F-2477-4352-AAA4-1334164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2" name="cover-key-text-3">
            <a:extLst xmlns:a="http://schemas.openxmlformats.org/drawingml/2006/main">
              <a:ext uri="{FF2B5EF4-FFF2-40B4-BE49-F238E27FC236}">
                <a16:creationId xmlns:a16="http://schemas.microsoft.com/office/drawing/2014/main" id="{5CDC7DF8-9FE3-4D12-A684-09A9E12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 boundary built in</a:t>
            </a:r>
          </a:p>
        </p:txBody>
      </p:sp>
      <p:sp>
        <p:nvSpPr>
          <p:cNvPr id="13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35C09A7-9233-4333-9FD8-A2A0EA1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Cloud access is optional, not required.</a:t>
            </a:r>
          </a:p>
        </p:txBody>
      </p:sp>
      <p:sp>
        <p:nvSpPr>
          <p:cNvPr id="14" name="cover-desktop-backplate">
            <a:extLst xmlns:a="http://schemas.openxmlformats.org/drawingml/2006/main">
              <a:ext uri="{FF2B5EF4-FFF2-40B4-BE49-F238E27FC236}">
                <a16:creationId xmlns:a16="http://schemas.microsoft.com/office/drawing/2014/main" id="{1A6EC189-87EC-4547-81A4-C625648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"/>
            <a:ext cx="7429500" cy="60198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15" name="cover-desktop-frame">
            <a:extLst xmlns:a="http://schemas.openxmlformats.org/drawingml/2006/main">
              <a:ext uri="{FF2B5EF4-FFF2-40B4-BE49-F238E27FC236}">
                <a16:creationId xmlns:a16="http://schemas.microsoft.com/office/drawing/2014/main" id="{537EC0A3-B381-4415-99F8-A0EF3E7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8ecf36d094824"/>
          <a:srcRect xmlns:a="http://schemas.openxmlformats.org/drawingml/2006/main" l="14614" t="0" r="146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514350"/>
            <a:ext cx="7200900" cy="57912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453330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">
            <a:extLst xmlns:a="http://schemas.openxmlformats.org/drawingml/2006/main">
              <a:ext uri="{FF2B5EF4-FFF2-40B4-BE49-F238E27FC236}">
                <a16:creationId xmlns:a16="http://schemas.microsoft.com/office/drawing/2014/main" id="{0153DAF8-819C-4AA5-90FB-72DC64E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2" name="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A7A07802-F013-4335-BF5D-27CE1A1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From fragmented care data to one next step</a:t>
            </a:r>
          </a:p>
        </p:txBody>
      </p:sp>
      <p:sp>
        <p:nvSpPr>
          <p:cNvPr id="3" name="header-lin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5C8FF504-AD6E-4E77-A793-9D946DEE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CA841368-EDF8-46E8-A39D-3E604397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Scattered care context becomes one focused, safety-checked response.</a:t>
            </a:r>
          </a:p>
        </p:txBody>
      </p:sp>
      <p:sp>
        <p:nvSpPr>
          <p:cNvPr id="5" name="application-input-panel">
            <a:extLst xmlns:a="http://schemas.openxmlformats.org/drawingml/2006/main">
              <a:ext uri="{FF2B5EF4-FFF2-40B4-BE49-F238E27FC236}">
                <a16:creationId xmlns:a16="http://schemas.microsoft.com/office/drawing/2014/main" id="{FA4E5BA8-6AB1-42A6-B74C-61C98E5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38350"/>
            <a:ext cx="4362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pplication-input-line">
            <a:extLst xmlns:a="http://schemas.openxmlformats.org/drawingml/2006/main">
              <a:ext uri="{FF2B5EF4-FFF2-40B4-BE49-F238E27FC236}">
                <a16:creationId xmlns:a16="http://schemas.microsoft.com/office/drawing/2014/main" id="{BFC8F1E0-2622-4106-AA61-AA0448F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application-input-title">
            <a:extLst xmlns:a="http://schemas.openxmlformats.org/drawingml/2006/main">
              <a:ext uri="{FF2B5EF4-FFF2-40B4-BE49-F238E27FC236}">
                <a16:creationId xmlns:a16="http://schemas.microsoft.com/office/drawing/2014/main" id="{36B3446B-02A0-4DF4-B64A-A84134DE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in</a:t>
            </a:r>
          </a:p>
        </p:txBody>
      </p:sp>
      <p:sp>
        <p:nvSpPr>
          <p:cNvPr id="8" name="application-input-body">
            <a:extLst xmlns:a="http://schemas.openxmlformats.org/drawingml/2006/main">
              <a:ext uri="{FF2B5EF4-FFF2-40B4-BE49-F238E27FC236}">
                <a16:creationId xmlns:a16="http://schemas.microsoft.com/office/drawing/2014/main" id="{B53AA7B9-E324-4EE8-8F24-0B042DF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Healthcare context is usually scattered.</a:t>
            </a:r>
          </a:p>
        </p:txBody>
      </p:sp>
      <p:sp>
        <p:nvSpPr>
          <p:cNvPr id="9" name="application-input-pill-1-panel">
            <a:extLst xmlns:a="http://schemas.openxmlformats.org/drawingml/2006/main">
              <a:ext uri="{FF2B5EF4-FFF2-40B4-BE49-F238E27FC236}">
                <a16:creationId xmlns:a16="http://schemas.microsoft.com/office/drawing/2014/main" id="{80BBD610-0556-4A01-BCF3-01184F3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0" name="application-input-pill-1-text">
            <a:extLst xmlns:a="http://schemas.openxmlformats.org/drawingml/2006/main">
              <a:ext uri="{FF2B5EF4-FFF2-40B4-BE49-F238E27FC236}">
                <a16:creationId xmlns:a16="http://schemas.microsoft.com/office/drawing/2014/main" id="{3CA99CB0-37C0-4A72-BA10-4FC0B33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Symptoms</a:t>
            </a:r>
          </a:p>
        </p:txBody>
      </p:sp>
      <p:sp>
        <p:nvSpPr>
          <p:cNvPr id="11" name="application-input-pill-2-panel">
            <a:extLst xmlns:a="http://schemas.openxmlformats.org/drawingml/2006/main">
              <a:ext uri="{FF2B5EF4-FFF2-40B4-BE49-F238E27FC236}">
                <a16:creationId xmlns:a16="http://schemas.microsoft.com/office/drawing/2014/main" id="{C83CEBDD-5355-477D-8F22-8878C0E9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2" name="application-input-pill-2-text">
            <a:extLst xmlns:a="http://schemas.openxmlformats.org/drawingml/2006/main">
              <a:ext uri="{FF2B5EF4-FFF2-40B4-BE49-F238E27FC236}">
                <a16:creationId xmlns:a16="http://schemas.microsoft.com/office/drawing/2014/main" id="{82EB3DE7-D583-4EF4-84E0-0932DEBA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13" name="application-input-pill-3-panel">
            <a:extLst xmlns:a="http://schemas.openxmlformats.org/drawingml/2006/main">
              <a:ext uri="{FF2B5EF4-FFF2-40B4-BE49-F238E27FC236}">
                <a16:creationId xmlns:a16="http://schemas.microsoft.com/office/drawing/2014/main" id="{599EEAED-8910-4DA7-9966-24C0B8F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14" name="application-input-pill-3-text">
            <a:extLst xmlns:a="http://schemas.openxmlformats.org/drawingml/2006/main">
              <a:ext uri="{FF2B5EF4-FFF2-40B4-BE49-F238E27FC236}">
                <a16:creationId xmlns:a16="http://schemas.microsoft.com/office/drawing/2014/main" id="{ADA84D81-9097-4C42-A632-1C164D9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Medicines</a:t>
            </a:r>
          </a:p>
        </p:txBody>
      </p:sp>
      <p:sp>
        <p:nvSpPr>
          <p:cNvPr id="15" name="application-input-pill-4-panel">
            <a:extLst xmlns:a="http://schemas.openxmlformats.org/drawingml/2006/main">
              <a:ext uri="{FF2B5EF4-FFF2-40B4-BE49-F238E27FC236}">
                <a16:creationId xmlns:a16="http://schemas.microsoft.com/office/drawing/2014/main" id="{9231E7E9-6C85-4FED-B3F2-AB8FCBD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6" name="application-input-pill-4-text">
            <a:extLst xmlns:a="http://schemas.openxmlformats.org/drawingml/2006/main">
              <a:ext uri="{FF2B5EF4-FFF2-40B4-BE49-F238E27FC236}">
                <a16:creationId xmlns:a16="http://schemas.microsoft.com/office/drawing/2014/main" id="{E8CEC4DE-ADD4-415E-9148-12045C2F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17" name="application-input-pill-5-panel">
            <a:extLst xmlns:a="http://schemas.openxmlformats.org/drawingml/2006/main">
              <a:ext uri="{FF2B5EF4-FFF2-40B4-BE49-F238E27FC236}">
                <a16:creationId xmlns:a16="http://schemas.microsoft.com/office/drawing/2014/main" id="{298C4BF7-0CD0-44D9-953E-1E6B582B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8" name="application-input-pill-5-text">
            <a:extLst xmlns:a="http://schemas.openxmlformats.org/drawingml/2006/main">
              <a:ext uri="{FF2B5EF4-FFF2-40B4-BE49-F238E27FC236}">
                <a16:creationId xmlns:a16="http://schemas.microsoft.com/office/drawing/2014/main" id="{3B4CE895-12D1-44AD-9955-D3AD3B7D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19" name="application-input-pill-6-panel">
            <a:extLst xmlns:a="http://schemas.openxmlformats.org/drawingml/2006/main">
              <a:ext uri="{FF2B5EF4-FFF2-40B4-BE49-F238E27FC236}">
                <a16:creationId xmlns:a16="http://schemas.microsoft.com/office/drawing/2014/main" id="{081525BB-4E01-4570-98E7-3D071A02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20" name="application-input-pill-6-text">
            <a:extLst xmlns:a="http://schemas.openxmlformats.org/drawingml/2006/main">
              <a:ext uri="{FF2B5EF4-FFF2-40B4-BE49-F238E27FC236}">
                <a16:creationId xmlns:a16="http://schemas.microsoft.com/office/drawing/2014/main" id="{41BE75D4-0FB1-4DF9-B4C4-961D2E3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21" name="application-input-close">
            <a:extLst xmlns:a="http://schemas.openxmlformats.org/drawingml/2006/main">
              <a:ext uri="{FF2B5EF4-FFF2-40B4-BE49-F238E27FC236}">
                <a16:creationId xmlns:a16="http://schemas.microsoft.com/office/drawing/2014/main" id="{3C833A3E-D812-43C8-9C3E-A1AAFA3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Users struggle to turn this into one safe action.</a:t>
            </a:r>
          </a:p>
        </p:txBody>
      </p:sp>
      <p:sp>
        <p:nvSpPr>
          <p:cNvPr id="22" name="application-output-panel">
            <a:extLst xmlns:a="http://schemas.openxmlformats.org/drawingml/2006/main">
              <a:ext uri="{FF2B5EF4-FFF2-40B4-BE49-F238E27FC236}">
                <a16:creationId xmlns:a16="http://schemas.microsoft.com/office/drawing/2014/main" id="{9CF20DAD-ADE3-4D83-A35C-EDC58C8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6648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pplication-output-line">
            <a:extLst xmlns:a="http://schemas.openxmlformats.org/drawingml/2006/main">
              <a:ext uri="{FF2B5EF4-FFF2-40B4-BE49-F238E27FC236}">
                <a16:creationId xmlns:a16="http://schemas.microsoft.com/office/drawing/2014/main" id="{10A28335-44B4-4720-B9A4-DEAE2C6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application-output-title">
            <a:extLst xmlns:a="http://schemas.openxmlformats.org/drawingml/2006/main">
              <a:ext uri="{FF2B5EF4-FFF2-40B4-BE49-F238E27FC236}">
                <a16:creationId xmlns:a16="http://schemas.microsoft.com/office/drawing/2014/main" id="{FAC9B6CB-E8BF-4DC8-BB9F-871BF8A6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out</a:t>
            </a:r>
          </a:p>
        </p:txBody>
      </p:sp>
      <p:sp>
        <p:nvSpPr>
          <p:cNvPr id="25" name="application-output-hero">
            <a:extLst xmlns:a="http://schemas.openxmlformats.org/drawingml/2006/main">
              <a:ext uri="{FF2B5EF4-FFF2-40B4-BE49-F238E27FC236}">
                <a16:creationId xmlns:a16="http://schemas.microsoft.com/office/drawing/2014/main" id="{95557B0E-E3CE-4BB1-A5F9-60DA998F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focused,</a:t>
            </a:r>
          </a:p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safety-checked next step.</a:t>
            </a:r>
          </a:p>
        </p:txBody>
      </p:sp>
      <p:sp>
        <p:nvSpPr>
          <p:cNvPr id="26" name="application-output-bullet-icon-562-432">
            <a:extLst xmlns:a="http://schemas.openxmlformats.org/drawingml/2006/main">
              <a:ext uri="{FF2B5EF4-FFF2-40B4-BE49-F238E27FC236}">
                <a16:creationId xmlns:a16="http://schemas.microsoft.com/office/drawing/2014/main" id="{843AC49C-9EAC-4AA9-9AA1-A6DC1499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7" name="application-output-bullet-text-562-432">
            <a:extLst xmlns:a="http://schemas.openxmlformats.org/drawingml/2006/main">
              <a:ext uri="{FF2B5EF4-FFF2-40B4-BE49-F238E27FC236}">
                <a16:creationId xmlns:a16="http://schemas.microsoft.com/office/drawing/2014/main" id="{3CEC6B7E-E02A-46F6-AA84-EE2630A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Relevant risk level</a:t>
            </a:r>
          </a:p>
        </p:txBody>
      </p:sp>
      <p:sp>
        <p:nvSpPr>
          <p:cNvPr id="28" name="application-output-bullet-icon-562-474">
            <a:extLst xmlns:a="http://schemas.openxmlformats.org/drawingml/2006/main">
              <a:ext uri="{FF2B5EF4-FFF2-40B4-BE49-F238E27FC236}">
                <a16:creationId xmlns:a16="http://schemas.microsoft.com/office/drawing/2014/main" id="{3ED7E560-3CB2-4A65-890D-F1066C5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9" name="application-output-bullet-text-562-474">
            <a:extLst xmlns:a="http://schemas.openxmlformats.org/drawingml/2006/main">
              <a:ext uri="{FF2B5EF4-FFF2-40B4-BE49-F238E27FC236}">
                <a16:creationId xmlns:a16="http://schemas.microsoft.com/office/drawing/2014/main" id="{1D55CEB5-ECED-4522-ABD9-5D5ED532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Evidence-backed reason</a:t>
            </a:r>
          </a:p>
        </p:txBody>
      </p:sp>
      <p:sp>
        <p:nvSpPr>
          <p:cNvPr id="30" name="application-output-bullet-icon-562-516">
            <a:extLst xmlns:a="http://schemas.openxmlformats.org/drawingml/2006/main">
              <a:ext uri="{FF2B5EF4-FFF2-40B4-BE49-F238E27FC236}">
                <a16:creationId xmlns:a16="http://schemas.microsoft.com/office/drawing/2014/main" id="{659DD0EB-BC08-41E8-8250-43CBBEBC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91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application-output-bullet-text-562-516">
            <a:extLst xmlns:a="http://schemas.openxmlformats.org/drawingml/2006/main">
              <a:ext uri="{FF2B5EF4-FFF2-40B4-BE49-F238E27FC236}">
                <a16:creationId xmlns:a16="http://schemas.microsoft.com/office/drawing/2014/main" id="{9CB4BF26-C5F4-421C-BB28-32CA69D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next action</a:t>
            </a:r>
          </a:p>
        </p:txBody>
      </p:sp>
      <p:sp>
        <p:nvSpPr>
          <p:cNvPr id="32" name="application-output-close">
            <a:extLst xmlns:a="http://schemas.openxmlformats.org/drawingml/2006/main">
              <a:ext uri="{FF2B5EF4-FFF2-40B4-BE49-F238E27FC236}">
                <a16:creationId xmlns:a16="http://schemas.microsoft.com/office/drawing/2014/main" id="{3C0F1347-797E-4CBC-9D97-C626454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Not a broad answer. A guided next step.</a:t>
            </a:r>
          </a:p>
        </p:txBody>
      </p:sp>
      <p:sp>
        <p:nvSpPr>
          <p:cNvPr id="33" name="app-footer-card">
            <a:extLst xmlns:a="http://schemas.openxmlformats.org/drawingml/2006/main">
              <a:ext uri="{FF2B5EF4-FFF2-40B4-BE49-F238E27FC236}">
                <a16:creationId xmlns:a16="http://schemas.microsoft.com/office/drawing/2014/main" id="{7D48BD8D-17AF-4F7D-851A-DB4CAFF9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72200"/>
            <a:ext cx="113538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pp-bottom-line">
            <a:extLst xmlns:a="http://schemas.openxmlformats.org/drawingml/2006/main">
              <a:ext uri="{FF2B5EF4-FFF2-40B4-BE49-F238E27FC236}">
                <a16:creationId xmlns:a16="http://schemas.microsoft.com/office/drawing/2014/main" id="{1A6A15A2-7C34-4786-9C1A-517BB7A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35" name="app-bottom-text">
            <a:extLst xmlns:a="http://schemas.openxmlformats.org/drawingml/2006/main">
              <a:ext uri="{FF2B5EF4-FFF2-40B4-BE49-F238E27FC236}">
                <a16:creationId xmlns:a16="http://schemas.microsoft.com/office/drawing/2014/main" id="{32A6DB8B-B13D-4419-A10F-302A26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Care Nova organizes context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53823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 MODES">
            <a:extLst xmlns:a="http://schemas.openxmlformats.org/drawingml/2006/main">
              <a:ext uri="{FF2B5EF4-FFF2-40B4-BE49-F238E27FC236}">
                <a16:creationId xmlns:a16="http://schemas.microsoft.com/office/drawing/2014/main" id="{8D0B21AD-D099-4D08-9C47-7EAFCAD2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 MODES</a:t>
            </a:r>
          </a:p>
        </p:txBody>
      </p:sp>
      <p:sp>
        <p:nvSpPr>
          <p:cNvPr id="2" name="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A26CD55A-28C0-42C8-B7BE-44AF380B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for patients. Expert for deep review.</a:t>
            </a:r>
          </a:p>
        </p:txBody>
      </p:sp>
      <p:sp>
        <p:nvSpPr>
          <p:cNvPr id="3" name="header-lin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82885C33-4B78-4119-A635-5C7E81D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6B22B3AD-C21A-4DA4-9343-E0B938A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same local engine supports simple guidance and detailed evidence review.</a:t>
            </a:r>
          </a:p>
        </p:txBody>
      </p:sp>
      <p:sp>
        <p:nvSpPr>
          <p:cNvPr id="5" name="modes-mobile-backplate">
            <a:extLst xmlns:a="http://schemas.openxmlformats.org/drawingml/2006/main">
              <a:ext uri="{FF2B5EF4-FFF2-40B4-BE49-F238E27FC236}">
                <a16:creationId xmlns:a16="http://schemas.microsoft.com/office/drawing/2014/main" id="{E01B3DC3-E9D7-4A16-9980-FF65A5CA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57400"/>
            <a:ext cx="2990850" cy="40767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modes-mobile-frame">
            <a:extLst xmlns:a="http://schemas.openxmlformats.org/drawingml/2006/main">
              <a:ext uri="{FF2B5EF4-FFF2-40B4-BE49-F238E27FC236}">
                <a16:creationId xmlns:a16="http://schemas.microsoft.com/office/drawing/2014/main" id="{5BDE262F-D4FC-4901-880B-B13AF1A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b3ead3c3b4f82"/>
          <a:srcRect xmlns:a="http://schemas.openxmlformats.org/drawingml/2006/main" l="0" t="19051" r="0" b="19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8" name="modes-mobile-caption">
            <a:extLst xmlns:a="http://schemas.openxmlformats.org/drawingml/2006/main">
              <a:ext uri="{FF2B5EF4-FFF2-40B4-BE49-F238E27FC236}">
                <a16:creationId xmlns:a16="http://schemas.microsoft.com/office/drawing/2014/main" id="{6E9D0E1E-0BB1-4B13-8889-11FF3203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Local-first PWA: laptop, mobile, and installable app shells.</a:t>
            </a:r>
          </a:p>
        </p:txBody>
      </p:sp>
      <p:sp>
        <p:nvSpPr>
          <p:cNvPr id="9" name="mode-panel-1">
            <a:extLst xmlns:a="http://schemas.openxmlformats.org/drawingml/2006/main">
              <a:ext uri="{FF2B5EF4-FFF2-40B4-BE49-F238E27FC236}">
                <a16:creationId xmlns:a16="http://schemas.microsoft.com/office/drawing/2014/main" id="{54F6F5D4-A841-45DD-909C-5CE09DF7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ode-panel-line-1">
            <a:extLst xmlns:a="http://schemas.openxmlformats.org/drawingml/2006/main">
              <a:ext uri="{FF2B5EF4-FFF2-40B4-BE49-F238E27FC236}">
                <a16:creationId xmlns:a16="http://schemas.microsoft.com/office/drawing/2014/main" id="{20D8C747-3220-4ED5-A08F-68693D99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1" name="mode-panel-title-1">
            <a:extLst xmlns:a="http://schemas.openxmlformats.org/drawingml/2006/main">
              <a:ext uri="{FF2B5EF4-FFF2-40B4-BE49-F238E27FC236}">
                <a16:creationId xmlns:a16="http://schemas.microsoft.com/office/drawing/2014/main" id="{D7C151DA-9202-45E4-9506-5BA5046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mode</a:t>
            </a:r>
          </a:p>
        </p:txBody>
      </p:sp>
      <p:sp>
        <p:nvSpPr>
          <p:cNvPr id="12" name="mode-panel-body-1">
            <a:extLst xmlns:a="http://schemas.openxmlformats.org/drawingml/2006/main">
              <a:ext uri="{FF2B5EF4-FFF2-40B4-BE49-F238E27FC236}">
                <a16:creationId xmlns:a16="http://schemas.microsoft.com/office/drawing/2014/main" id="{525635E9-076E-4C98-AB97-5E01C2F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1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Simple patient flow that turns fragmented context into one safe next step.</a:t>
            </a:r>
          </a:p>
        </p:txBody>
      </p:sp>
      <p:sp>
        <p:nvSpPr>
          <p:cNvPr id="13" name="mode-panel-divider-1">
            <a:extLst xmlns:a="http://schemas.openxmlformats.org/drawingml/2006/main">
              <a:ext uri="{FF2B5EF4-FFF2-40B4-BE49-F238E27FC236}">
                <a16:creationId xmlns:a16="http://schemas.microsoft.com/office/drawing/2014/main" id="{B6947A0A-67C8-4EEA-AB05-6795C88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14" name="mode-panel-bullet-1-icon-810-262">
            <a:extLst xmlns:a="http://schemas.openxmlformats.org/drawingml/2006/main">
              <a:ext uri="{FF2B5EF4-FFF2-40B4-BE49-F238E27FC236}">
                <a16:creationId xmlns:a16="http://schemas.microsoft.com/office/drawing/2014/main" id="{2BD36455-0674-48AC-92D0-0163FCC6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5" name="mode-panel-bullet-1-text-810-262">
            <a:extLst xmlns:a="http://schemas.openxmlformats.org/drawingml/2006/main">
              <a:ext uri="{FF2B5EF4-FFF2-40B4-BE49-F238E27FC236}">
                <a16:creationId xmlns:a16="http://schemas.microsoft.com/office/drawing/2014/main" id="{08845BB2-4CB0-426A-9C0B-8C59CC85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Low-friction experience</a:t>
            </a:r>
          </a:p>
        </p:txBody>
      </p:sp>
      <p:sp>
        <p:nvSpPr>
          <p:cNvPr id="16" name="mode-panel-bullet-1-icon-810-290">
            <a:extLst xmlns:a="http://schemas.openxmlformats.org/drawingml/2006/main">
              <a:ext uri="{FF2B5EF4-FFF2-40B4-BE49-F238E27FC236}">
                <a16:creationId xmlns:a16="http://schemas.microsoft.com/office/drawing/2014/main" id="{FECE7E8C-3BA6-49C4-AC18-D2AE3C84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7" name="mode-panel-bullet-1-text-810-290">
            <a:extLst xmlns:a="http://schemas.openxmlformats.org/drawingml/2006/main">
              <a:ext uri="{FF2B5EF4-FFF2-40B4-BE49-F238E27FC236}">
                <a16:creationId xmlns:a16="http://schemas.microsoft.com/office/drawing/2014/main" id="{86A09451-B36C-4980-A6CC-49B4BC8B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 default path</a:t>
            </a:r>
          </a:p>
        </p:txBody>
      </p:sp>
      <p:sp>
        <p:nvSpPr>
          <p:cNvPr id="18" name="mode-panel-bullet-1-icon-810-318">
            <a:extLst xmlns:a="http://schemas.openxmlformats.org/drawingml/2006/main">
              <a:ext uri="{FF2B5EF4-FFF2-40B4-BE49-F238E27FC236}">
                <a16:creationId xmlns:a16="http://schemas.microsoft.com/office/drawing/2014/main" id="{C01B9604-CD6E-4E74-B86D-44599C85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9" name="mode-panel-bullet-1-text-810-318">
            <a:extLst xmlns:a="http://schemas.openxmlformats.org/drawingml/2006/main">
              <a:ext uri="{FF2B5EF4-FFF2-40B4-BE49-F238E27FC236}">
                <a16:creationId xmlns:a16="http://schemas.microsoft.com/office/drawing/2014/main" id="{07AFB137-80FB-43CC-876E-9F66847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Clear answer</a:t>
            </a:r>
          </a:p>
        </p:txBody>
      </p:sp>
      <p:sp>
        <p:nvSpPr>
          <p:cNvPr id="20" name="mode-panel-2">
            <a:extLst xmlns:a="http://schemas.openxmlformats.org/drawingml/2006/main">
              <a:ext uri="{FF2B5EF4-FFF2-40B4-BE49-F238E27FC236}">
                <a16:creationId xmlns:a16="http://schemas.microsoft.com/office/drawing/2014/main" id="{3EDAA4E8-353D-4639-B884-6B76AC4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ode-panel-line-2">
            <a:extLst xmlns:a="http://schemas.openxmlformats.org/drawingml/2006/main">
              <a:ext uri="{FF2B5EF4-FFF2-40B4-BE49-F238E27FC236}">
                <a16:creationId xmlns:a16="http://schemas.microsoft.com/office/drawing/2014/main" id="{093B27D9-AF43-47FA-8AFF-EDAE875B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mode-panel-title-2">
            <a:extLst xmlns:a="http://schemas.openxmlformats.org/drawingml/2006/main">
              <a:ext uri="{FF2B5EF4-FFF2-40B4-BE49-F238E27FC236}">
                <a16:creationId xmlns:a16="http://schemas.microsoft.com/office/drawing/2014/main" id="{41902414-8768-4492-970F-C75D487A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Expert mode</a:t>
            </a:r>
          </a:p>
        </p:txBody>
      </p:sp>
      <p:sp>
        <p:nvSpPr>
          <p:cNvPr id="23" name="mode-panel-body-2">
            <a:extLst xmlns:a="http://schemas.openxmlformats.org/drawingml/2006/main">
              <a:ext uri="{FF2B5EF4-FFF2-40B4-BE49-F238E27FC236}">
                <a16:creationId xmlns:a16="http://schemas.microsoft.com/office/drawing/2014/main" id="{33C8DD37-2D88-4192-8C14-BEBE3A3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0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Full routes, evidence panels, records, and deeper review controls.</a:t>
            </a:r>
          </a:p>
        </p:txBody>
      </p:sp>
      <p:sp>
        <p:nvSpPr>
          <p:cNvPr id="24" name="mode-panel-divider-2">
            <a:extLst xmlns:a="http://schemas.openxmlformats.org/drawingml/2006/main">
              <a:ext uri="{FF2B5EF4-FFF2-40B4-BE49-F238E27FC236}">
                <a16:creationId xmlns:a16="http://schemas.microsoft.com/office/drawing/2014/main" id="{FB60FC1B-CDED-4F80-A5A8-E0BF197F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25" name="mode-panel-bullet-2-icon-810-426">
            <a:extLst xmlns:a="http://schemas.openxmlformats.org/drawingml/2006/main">
              <a:ext uri="{FF2B5EF4-FFF2-40B4-BE49-F238E27FC236}">
                <a16:creationId xmlns:a16="http://schemas.microsoft.com/office/drawing/2014/main" id="{DCF4B409-46CA-42BE-ACEB-1A944D38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panel-bullet-2-text-810-426">
            <a:extLst xmlns:a="http://schemas.openxmlformats.org/drawingml/2006/main">
              <a:ext uri="{FF2B5EF4-FFF2-40B4-BE49-F238E27FC236}">
                <a16:creationId xmlns:a16="http://schemas.microsoft.com/office/drawing/2014/main" id="{9A88B315-0271-4514-8A06-3DCFF3A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Review risk and evidence</a:t>
            </a:r>
          </a:p>
        </p:txBody>
      </p:sp>
      <p:sp>
        <p:nvSpPr>
          <p:cNvPr id="27" name="mode-panel-bullet-2-icon-810-454">
            <a:extLst xmlns:a="http://schemas.openxmlformats.org/drawingml/2006/main">
              <a:ext uri="{FF2B5EF4-FFF2-40B4-BE49-F238E27FC236}">
                <a16:creationId xmlns:a16="http://schemas.microsoft.com/office/drawing/2014/main" id="{23A55F5B-8125-49B2-9E6B-77A1506D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panel-bullet-2-text-810-454">
            <a:extLst xmlns:a="http://schemas.openxmlformats.org/drawingml/2006/main">
              <a:ext uri="{FF2B5EF4-FFF2-40B4-BE49-F238E27FC236}">
                <a16:creationId xmlns:a16="http://schemas.microsoft.com/office/drawing/2014/main" id="{EF4E46CE-2446-42D4-837F-4978A22F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Inspect records and memory</a:t>
            </a:r>
          </a:p>
        </p:txBody>
      </p:sp>
      <p:sp>
        <p:nvSpPr>
          <p:cNvPr id="29" name="mode-panel-bullet-2-icon-810-482">
            <a:extLst xmlns:a="http://schemas.openxmlformats.org/drawingml/2006/main">
              <a:ext uri="{FF2B5EF4-FFF2-40B4-BE49-F238E27FC236}">
                <a16:creationId xmlns:a16="http://schemas.microsoft.com/office/drawing/2014/main" id="{DB45F7DB-BB0B-462E-835A-B480F53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0" name="mode-panel-bullet-2-text-810-482">
            <a:extLst xmlns:a="http://schemas.openxmlformats.org/drawingml/2006/main">
              <a:ext uri="{FF2B5EF4-FFF2-40B4-BE49-F238E27FC236}">
                <a16:creationId xmlns:a16="http://schemas.microsoft.com/office/drawing/2014/main" id="{270BC609-11A3-490A-812C-FA6295C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Navigate specialist workspaces</a:t>
            </a:r>
          </a:p>
        </p:txBody>
      </p:sp>
      <p:sp>
        <p:nvSpPr>
          <p:cNvPr id="31" name="workspace-modes-panel">
            <a:extLst xmlns:a="http://schemas.openxmlformats.org/drawingml/2006/main">
              <a:ext uri="{FF2B5EF4-FFF2-40B4-BE49-F238E27FC236}">
                <a16:creationId xmlns:a16="http://schemas.microsoft.com/office/drawing/2014/main" id="{3B0B98D7-43DC-44F4-9AEC-E0E37200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8115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workspace-modes-line">
            <a:extLst xmlns:a="http://schemas.openxmlformats.org/drawingml/2006/main">
              <a:ext uri="{FF2B5EF4-FFF2-40B4-BE49-F238E27FC236}">
                <a16:creationId xmlns:a16="http://schemas.microsoft.com/office/drawing/2014/main" id="{99B2A8DC-22C2-4452-96DD-A36164B3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3" name="workspace-modes-title">
            <a:extLst xmlns:a="http://schemas.openxmlformats.org/drawingml/2006/main">
              <a:ext uri="{FF2B5EF4-FFF2-40B4-BE49-F238E27FC236}">
                <a16:creationId xmlns:a16="http://schemas.microsoft.com/office/drawing/2014/main" id="{BE9DEE87-CEA5-4EB7-B094-E67BC53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workspaces</a:t>
            </a:r>
          </a:p>
        </p:txBody>
      </p:sp>
      <p:sp>
        <p:nvSpPr>
          <p:cNvPr id="34" name="workspace-mode-pill-1-panel">
            <a:extLst xmlns:a="http://schemas.openxmlformats.org/drawingml/2006/main">
              <a:ext uri="{FF2B5EF4-FFF2-40B4-BE49-F238E27FC236}">
                <a16:creationId xmlns:a16="http://schemas.microsoft.com/office/drawing/2014/main" id="{A1F168F2-E033-4A3C-B1E5-F8B2858B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workspace-mode-pill-1-text">
            <a:extLst xmlns:a="http://schemas.openxmlformats.org/drawingml/2006/main">
              <a:ext uri="{FF2B5EF4-FFF2-40B4-BE49-F238E27FC236}">
                <a16:creationId xmlns:a16="http://schemas.microsoft.com/office/drawing/2014/main" id="{AB5F185F-BD1E-4DCE-B034-C6B3A89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36" name="workspace-mode-pill-2-panel">
            <a:extLst xmlns:a="http://schemas.openxmlformats.org/drawingml/2006/main">
              <a:ext uri="{FF2B5EF4-FFF2-40B4-BE49-F238E27FC236}">
                <a16:creationId xmlns:a16="http://schemas.microsoft.com/office/drawing/2014/main" id="{64638A3E-449C-413B-983C-BC37FAEA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7" name="workspace-mode-pill-2-text">
            <a:extLst xmlns:a="http://schemas.openxmlformats.org/drawingml/2006/main">
              <a:ext uri="{FF2B5EF4-FFF2-40B4-BE49-F238E27FC236}">
                <a16:creationId xmlns:a16="http://schemas.microsoft.com/office/drawing/2014/main" id="{AA6C5EE8-C115-4063-A730-D99FC49A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38" name="workspace-mode-pill-3-panel">
            <a:extLst xmlns:a="http://schemas.openxmlformats.org/drawingml/2006/main">
              <a:ext uri="{FF2B5EF4-FFF2-40B4-BE49-F238E27FC236}">
                <a16:creationId xmlns:a16="http://schemas.microsoft.com/office/drawing/2014/main" id="{7EFCCE82-EAEC-4BA2-83CF-A0BB1DF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9" name="workspace-mode-pill-3-text">
            <a:extLst xmlns:a="http://schemas.openxmlformats.org/drawingml/2006/main">
              <a:ext uri="{FF2B5EF4-FFF2-40B4-BE49-F238E27FC236}">
                <a16:creationId xmlns:a16="http://schemas.microsoft.com/office/drawing/2014/main" id="{F1F872FE-432D-4F76-B9C6-D783F3C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Wellness</a:t>
            </a:r>
          </a:p>
        </p:txBody>
      </p:sp>
      <p:sp>
        <p:nvSpPr>
          <p:cNvPr id="40" name="workspace-mode-pill-4-panel">
            <a:extLst xmlns:a="http://schemas.openxmlformats.org/drawingml/2006/main">
              <a:ext uri="{FF2B5EF4-FFF2-40B4-BE49-F238E27FC236}">
                <a16:creationId xmlns:a16="http://schemas.microsoft.com/office/drawing/2014/main" id="{44AF7C4E-B9FA-48F4-925D-690F194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1" name="workspace-mode-pill-4-text">
            <a:extLst xmlns:a="http://schemas.openxmlformats.org/drawingml/2006/main">
              <a:ext uri="{FF2B5EF4-FFF2-40B4-BE49-F238E27FC236}">
                <a16:creationId xmlns:a16="http://schemas.microsoft.com/office/drawing/2014/main" id="{B56A837F-3952-4EE1-950B-4AF952B7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42" name="workspace-mode-pill-5-panel">
            <a:extLst xmlns:a="http://schemas.openxmlformats.org/drawingml/2006/main">
              <a:ext uri="{FF2B5EF4-FFF2-40B4-BE49-F238E27FC236}">
                <a16:creationId xmlns:a16="http://schemas.microsoft.com/office/drawing/2014/main" id="{E09F06BA-F864-4B56-BBE8-98D2A4B7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05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3" name="workspace-mode-pill-5-text">
            <a:extLst xmlns:a="http://schemas.openxmlformats.org/drawingml/2006/main">
              <a:ext uri="{FF2B5EF4-FFF2-40B4-BE49-F238E27FC236}">
                <a16:creationId xmlns:a16="http://schemas.microsoft.com/office/drawing/2014/main" id="{0DE575E8-411C-4D0A-A119-273F34A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24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44" name="workspace-mode-pill-6-panel">
            <a:extLst xmlns:a="http://schemas.openxmlformats.org/drawingml/2006/main">
              <a:ext uri="{FF2B5EF4-FFF2-40B4-BE49-F238E27FC236}">
                <a16:creationId xmlns:a16="http://schemas.microsoft.com/office/drawing/2014/main" id="{53AEC924-0EF0-4AF6-86F8-B5E87E6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054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5" name="workspace-mode-pill-6-text">
            <a:extLst xmlns:a="http://schemas.openxmlformats.org/drawingml/2006/main">
              <a:ext uri="{FF2B5EF4-FFF2-40B4-BE49-F238E27FC236}">
                <a16:creationId xmlns:a16="http://schemas.microsoft.com/office/drawing/2014/main" id="{39BE0158-25A3-443D-9CC9-BFAB24C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6" name="access-footer-text">
            <a:extLst xmlns:a="http://schemas.openxmlformats.org/drawingml/2006/main">
              <a:ext uri="{FF2B5EF4-FFF2-40B4-BE49-F238E27FC236}">
                <a16:creationId xmlns:a16="http://schemas.microsoft.com/office/drawing/2014/main" id="{0BAFDB4F-6A85-43BE-B0AF-DE2A1570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0555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product surface can support both fast guidance and detailed review.</a:t>
            </a:r>
          </a:p>
        </p:txBody>
      </p:sp>
    </p:spTree>
    <p:extLst>
      <p:ext uri="{BB962C8B-B14F-4D97-AF65-F5344CB8AC3E}">
        <p14:creationId xmlns:p14="http://schemas.microsoft.com/office/powerpoint/2010/main" val="473194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DEL WORKFLOW">
            <a:extLst xmlns:a="http://schemas.openxmlformats.org/drawingml/2006/main">
              <a:ext uri="{FF2B5EF4-FFF2-40B4-BE49-F238E27FC236}">
                <a16:creationId xmlns:a16="http://schemas.microsoft.com/office/drawing/2014/main" id="{F628579B-55AB-42C2-A5F1-C0B40EF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MODEL WORKFLOW</a:t>
            </a:r>
          </a:p>
        </p:txBody>
      </p:sp>
      <p:sp>
        <p:nvSpPr>
          <p:cNvPr id="2" name="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4651805D-B547-4A64-A029-CDCB7591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is not a normal chatbot</a:t>
            </a:r>
          </a:p>
        </p:txBody>
      </p:sp>
      <p:sp>
        <p:nvSpPr>
          <p:cNvPr id="3" name="header-lin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08F0599D-5A09-4192-BFF5-0C2A968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84CF4503-14ED-4BEB-A963-616E34D3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generic chatbot answers once. Care Nova checks, routes, and guards first.</a:t>
            </a:r>
          </a:p>
        </p:txBody>
      </p:sp>
      <p:sp>
        <p:nvSpPr>
          <p:cNvPr id="5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F261E9FF-6150-4A30-8E71-A1CF8E33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4"/>
          </a:solidFill>
          <a:ln xmlns:a="http://schemas.openxmlformats.org/drawingml/2006/main" w="0">
            <a:solidFill>
              <a:srgbClr val="CCD9E4"/>
            </a:solidFill>
            <a:prstDash val="solid"/>
          </a:ln>
        </p:spPr>
      </p:sp>
      <p:sp>
        <p:nvSpPr>
          <p:cNvPr id="6" name="workflow-step-1-panel">
            <a:extLst xmlns:a="http://schemas.openxmlformats.org/drawingml/2006/main">
              <a:ext uri="{FF2B5EF4-FFF2-40B4-BE49-F238E27FC236}">
                <a16:creationId xmlns:a16="http://schemas.microsoft.com/office/drawing/2014/main" id="{0A3017E3-AB9D-4B27-A7CC-1AB5B7A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7" name="workflow-step-1-text">
            <a:extLst xmlns:a="http://schemas.openxmlformats.org/drawingml/2006/main">
              <a:ext uri="{FF2B5EF4-FFF2-40B4-BE49-F238E27FC236}">
                <a16:creationId xmlns:a16="http://schemas.microsoft.com/office/drawing/2014/main" id="{6C3F6A55-FC5E-4687-B704-39049801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F4788D8E-81E0-45E3-9174-76DF3D5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input</a:t>
            </a:r>
          </a:p>
        </p:txBody>
      </p:sp>
      <p:sp>
        <p:nvSpPr>
          <p:cNvPr id="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8E0E6636-FD5E-4144-A1E7-08A3243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Symptom, reading, medicine question, or care request enters.</a:t>
            </a:r>
          </a:p>
        </p:txBody>
      </p:sp>
      <p:sp>
        <p:nvSpPr>
          <p:cNvPr id="10" name="workflow-step-2-panel">
            <a:extLst xmlns:a="http://schemas.openxmlformats.org/drawingml/2006/main">
              <a:ext uri="{FF2B5EF4-FFF2-40B4-BE49-F238E27FC236}">
                <a16:creationId xmlns:a16="http://schemas.microsoft.com/office/drawing/2014/main" id="{AFC85565-EB42-4F2A-AC1C-17DB197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11" name="workflow-step-2-text">
            <a:extLst xmlns:a="http://schemas.openxmlformats.org/drawingml/2006/main">
              <a:ext uri="{FF2B5EF4-FFF2-40B4-BE49-F238E27FC236}">
                <a16:creationId xmlns:a16="http://schemas.microsoft.com/office/drawing/2014/main" id="{5D04B881-3157-41DE-9364-DBDB9D6E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4D2B6E8B-DDCE-4A6D-BADA-D7FE418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 load</a:t>
            </a:r>
          </a:p>
        </p:txBody>
      </p:sp>
      <p:sp>
        <p:nvSpPr>
          <p:cNvPr id="13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E8E3B05D-EFF6-4117-A9CB-DBBD98A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Recent patient context reloads before analysis starts.</a:t>
            </a:r>
          </a:p>
        </p:txBody>
      </p:sp>
      <p:sp>
        <p:nvSpPr>
          <p:cNvPr id="14" name="workflow-step-3-panel">
            <a:extLst xmlns:a="http://schemas.openxmlformats.org/drawingml/2006/main">
              <a:ext uri="{FF2B5EF4-FFF2-40B4-BE49-F238E27FC236}">
                <a16:creationId xmlns:a16="http://schemas.microsoft.com/office/drawing/2014/main" id="{2A9D5DDB-64C0-4897-A9E4-ECCF1BAB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15" name="workflow-step-3-text">
            <a:extLst xmlns:a="http://schemas.openxmlformats.org/drawingml/2006/main">
              <a:ext uri="{FF2B5EF4-FFF2-40B4-BE49-F238E27FC236}">
                <a16:creationId xmlns:a16="http://schemas.microsoft.com/office/drawing/2014/main" id="{12B23D18-B58F-4C0C-977E-814FD63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88382DCF-3848-4E29-966A-3C2AC98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Intent classify</a:t>
            </a:r>
          </a:p>
        </p:txBody>
      </p:sp>
      <p:sp>
        <p:nvSpPr>
          <p:cNvPr id="17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F935F6CB-6266-4EB0-AF57-B8E270C5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request is routed into the correct care path.</a:t>
            </a:r>
          </a:p>
        </p:txBody>
      </p:sp>
      <p:sp>
        <p:nvSpPr>
          <p:cNvPr id="18" name="workflow-step-4-panel">
            <a:extLst xmlns:a="http://schemas.openxmlformats.org/drawingml/2006/main">
              <a:ext uri="{FF2B5EF4-FFF2-40B4-BE49-F238E27FC236}">
                <a16:creationId xmlns:a16="http://schemas.microsoft.com/office/drawing/2014/main" id="{E9B18CFD-D340-4BD0-9FFE-6F3A9355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19" name="workflow-step-4-text">
            <a:extLst xmlns:a="http://schemas.openxmlformats.org/drawingml/2006/main">
              <a:ext uri="{FF2B5EF4-FFF2-40B4-BE49-F238E27FC236}">
                <a16:creationId xmlns:a16="http://schemas.microsoft.com/office/drawing/2014/main" id="{13838D79-7CAC-40B4-B47B-F1AE9E4C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workflow-step-title-4">
            <a:extLst xmlns:a="http://schemas.openxmlformats.org/drawingml/2006/main">
              <a:ext uri="{FF2B5EF4-FFF2-40B4-BE49-F238E27FC236}">
                <a16:creationId xmlns:a16="http://schemas.microsoft.com/office/drawing/2014/main" id="{BF3B42B2-E92A-45FF-B5FA-24AC412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 + specialist</a:t>
            </a:r>
          </a:p>
        </p:txBody>
      </p:sp>
      <p:sp>
        <p:nvSpPr>
          <p:cNvPr id="21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E6442C27-48E7-4B52-B86A-076ADBA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Local evidence and specialist workflow shape the answer.</a:t>
            </a:r>
          </a:p>
        </p:txBody>
      </p:sp>
      <p:sp>
        <p:nvSpPr>
          <p:cNvPr id="22" name="workflow-step-5-panel">
            <a:extLst xmlns:a="http://schemas.openxmlformats.org/drawingml/2006/main">
              <a:ext uri="{FF2B5EF4-FFF2-40B4-BE49-F238E27FC236}">
                <a16:creationId xmlns:a16="http://schemas.microsoft.com/office/drawing/2014/main" id="{31E63278-905A-4269-AED4-AE5377EC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23" name="workflow-step-5-text">
            <a:extLst xmlns:a="http://schemas.openxmlformats.org/drawingml/2006/main">
              <a:ext uri="{FF2B5EF4-FFF2-40B4-BE49-F238E27FC236}">
                <a16:creationId xmlns:a16="http://schemas.microsoft.com/office/drawing/2014/main" id="{16AAEF04-831E-49A6-9567-FE1E5067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4" name="workflow-step-title-5">
            <a:extLst xmlns:a="http://schemas.openxmlformats.org/drawingml/2006/main">
              <a:ext uri="{FF2B5EF4-FFF2-40B4-BE49-F238E27FC236}">
                <a16:creationId xmlns:a16="http://schemas.microsoft.com/office/drawing/2014/main" id="{616DD975-23F6-4A24-B7E9-107A7862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reply</a:t>
            </a:r>
          </a:p>
        </p:txBody>
      </p:sp>
      <p:sp>
        <p:nvSpPr>
          <p:cNvPr id="25" name="workflow-step-body-5">
            <a:extLst xmlns:a="http://schemas.openxmlformats.org/drawingml/2006/main">
              <a:ext uri="{FF2B5EF4-FFF2-40B4-BE49-F238E27FC236}">
                <a16:creationId xmlns:a16="http://schemas.microsoft.com/office/drawing/2014/main" id="{7F83ABF0-2821-4DF0-B963-83B08DA2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Guardrails check the response before it is shown.</a:t>
            </a:r>
          </a:p>
        </p:txBody>
      </p:sp>
      <p:sp>
        <p:nvSpPr>
          <p:cNvPr id="26" name="example-route-card-backplate">
            <a:extLst xmlns:a="http://schemas.openxmlformats.org/drawingml/2006/main">
              <a:ext uri="{FF2B5EF4-FFF2-40B4-BE49-F238E27FC236}">
                <a16:creationId xmlns:a16="http://schemas.microsoft.com/office/drawing/2014/main" id="{BAD90DA2-973F-4421-B5DB-92E2C6E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0579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27" name="example-route-card-frame">
            <a:extLst xmlns:a="http://schemas.openxmlformats.org/drawingml/2006/main">
              <a:ext uri="{FF2B5EF4-FFF2-40B4-BE49-F238E27FC236}">
                <a16:creationId xmlns:a16="http://schemas.microsoft.com/office/drawing/2014/main" id="{89377E85-543E-4249-B8F9-064DAF7E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02f64b44842e2"/>
          <a:srcRect xmlns:a="http://schemas.openxmlformats.org/drawingml/2006/main" l="5342" t="0" r="5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9" name="workflow-close-panel">
            <a:extLst xmlns:a="http://schemas.openxmlformats.org/drawingml/2006/main">
              <a:ext uri="{FF2B5EF4-FFF2-40B4-BE49-F238E27FC236}">
                <a16:creationId xmlns:a16="http://schemas.microsoft.com/office/drawing/2014/main" id="{53AF6A77-30CC-4BDC-B97F-28940C2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1201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workflow-close-line">
            <a:extLst xmlns:a="http://schemas.openxmlformats.org/drawingml/2006/main">
              <a:ext uri="{FF2B5EF4-FFF2-40B4-BE49-F238E27FC236}">
                <a16:creationId xmlns:a16="http://schemas.microsoft.com/office/drawing/2014/main" id="{EF6E4376-C9D9-4031-BE81-28A6C8D3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workflow-close-text">
            <a:extLst xmlns:a="http://schemas.openxmlformats.org/drawingml/2006/main">
              <a:ext uri="{FF2B5EF4-FFF2-40B4-BE49-F238E27FC236}">
                <a16:creationId xmlns:a16="http://schemas.microsoft.com/office/drawing/2014/main" id="{16620DBD-85BE-4031-B37E-90E58E6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769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reply is shaped by workflow, not by one free-form prompt.</a:t>
            </a:r>
          </a:p>
        </p:txBody>
      </p:sp>
    </p:spTree>
    <p:extLst>
      <p:ext uri="{BB962C8B-B14F-4D97-AF65-F5344CB8AC3E}">
        <p14:creationId xmlns:p14="http://schemas.microsoft.com/office/powerpoint/2010/main" val="2089974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YSTEM DESIGN">
            <a:extLst xmlns:a="http://schemas.openxmlformats.org/drawingml/2006/main">
              <a:ext uri="{FF2B5EF4-FFF2-40B4-BE49-F238E27FC236}">
                <a16:creationId xmlns:a16="http://schemas.microsoft.com/office/drawing/2014/main" id="{D829ACE9-66EB-488F-B815-1F8F14B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" name="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C28FD467-F54B-46E8-BDCE-459E987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Each request is routed to the right specialist path</a:t>
            </a:r>
          </a:p>
        </p:txBody>
      </p:sp>
      <p:sp>
        <p:nvSpPr>
          <p:cNvPr id="3" name="header-lin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C0C5760D-795F-4863-B755-73E7AF5A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0120FC5A-8697-40FD-8295-CB543F1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Single model? No. Agentic? Yes. RAG? Yes, with memory and safety.</a:t>
            </a:r>
          </a:p>
        </p:txBody>
      </p:sp>
      <p:sp>
        <p:nvSpPr>
          <p:cNvPr id="5" name="router-callout-line">
            <a:extLst xmlns:a="http://schemas.openxmlformats.org/drawingml/2006/main">
              <a:ext uri="{FF2B5EF4-FFF2-40B4-BE49-F238E27FC236}">
                <a16:creationId xmlns:a16="http://schemas.microsoft.com/office/drawing/2014/main" id="{0CD35FAB-E441-47CE-A4C9-6FDBBE7C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6" name="router-callout-title">
            <a:extLst xmlns:a="http://schemas.openxmlformats.org/drawingml/2006/main">
              <a:ext uri="{FF2B5EF4-FFF2-40B4-BE49-F238E27FC236}">
                <a16:creationId xmlns:a16="http://schemas.microsoft.com/office/drawing/2014/main" id="{60C07A59-B72E-4D84-9A1B-AC6DA77E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System, not a flat chatbot call.</a:t>
            </a:r>
          </a:p>
        </p:txBody>
      </p:sp>
      <p:sp>
        <p:nvSpPr>
          <p:cNvPr id="7" name="router-callout-body">
            <a:extLst xmlns:a="http://schemas.openxmlformats.org/drawingml/2006/main">
              <a:ext uri="{FF2B5EF4-FFF2-40B4-BE49-F238E27FC236}">
                <a16:creationId xmlns:a16="http://schemas.microsoft.com/office/drawing/2014/main" id="{C7232E31-5901-4B63-8492-92A10526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workflow reloads memory, classifies intent, selects a specialist path, retrieves evidence, and then checks safety.</a:t>
            </a:r>
          </a:p>
        </p:txBody>
      </p:sp>
      <p:sp>
        <p:nvSpPr>
          <p:cNvPr id="8" name="router-label-Single model">
            <a:extLst xmlns:a="http://schemas.openxmlformats.org/drawingml/2006/main">
              <a:ext uri="{FF2B5EF4-FFF2-40B4-BE49-F238E27FC236}">
                <a16:creationId xmlns:a16="http://schemas.microsoft.com/office/drawing/2014/main" id="{AEBB136E-A420-4A6C-8BFB-A4F382AA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Single model</a:t>
            </a:r>
          </a:p>
        </p:txBody>
      </p:sp>
      <p:sp>
        <p:nvSpPr>
          <p:cNvPr id="9" name="router-value-Single model">
            <a:extLst xmlns:a="http://schemas.openxmlformats.org/drawingml/2006/main">
              <a:ext uri="{FF2B5EF4-FFF2-40B4-BE49-F238E27FC236}">
                <a16:creationId xmlns:a16="http://schemas.microsoft.com/office/drawing/2014/main" id="{4C68A2AE-D3CD-4FA7-9DB5-2D55ED2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</a:t>
            </a:r>
          </a:p>
        </p:txBody>
      </p:sp>
      <p:sp>
        <p:nvSpPr>
          <p:cNvPr id="10" name="router-label-Agentic">
            <a:extLst xmlns:a="http://schemas.openxmlformats.org/drawingml/2006/main">
              <a:ext uri="{FF2B5EF4-FFF2-40B4-BE49-F238E27FC236}">
                <a16:creationId xmlns:a16="http://schemas.microsoft.com/office/drawing/2014/main" id="{4867766C-A9A7-4A90-957D-80B61CD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Agentic</a:t>
            </a:r>
          </a:p>
        </p:txBody>
      </p:sp>
      <p:sp>
        <p:nvSpPr>
          <p:cNvPr id="11" name="router-value-Agentic">
            <a:extLst xmlns:a="http://schemas.openxmlformats.org/drawingml/2006/main">
              <a:ext uri="{FF2B5EF4-FFF2-40B4-BE49-F238E27FC236}">
                <a16:creationId xmlns:a16="http://schemas.microsoft.com/office/drawing/2014/main" id="{F86AB5F6-E62B-4D76-8497-8EB0D25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12" name="router-label-RAG">
            <a:extLst xmlns:a="http://schemas.openxmlformats.org/drawingml/2006/main">
              <a:ext uri="{FF2B5EF4-FFF2-40B4-BE49-F238E27FC236}">
                <a16:creationId xmlns:a16="http://schemas.microsoft.com/office/drawing/2014/main" id="{B6E835FE-4721-43A1-931E-E21A7962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13" name="router-value-RAG">
            <a:extLst xmlns:a="http://schemas.openxmlformats.org/drawingml/2006/main">
              <a:ext uri="{FF2B5EF4-FFF2-40B4-BE49-F238E27FC236}">
                <a16:creationId xmlns:a16="http://schemas.microsoft.com/office/drawing/2014/main" id="{77C5FFAB-01F3-41EA-84C5-B2E2E4AB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Yes, memory + safety</a:t>
            </a:r>
          </a:p>
        </p:txBody>
      </p:sp>
      <p:sp>
        <p:nvSpPr>
          <p:cNvPr id="14" name="specialist-route-1">
            <a:extLst xmlns:a="http://schemas.openxmlformats.org/drawingml/2006/main">
              <a:ext uri="{FF2B5EF4-FFF2-40B4-BE49-F238E27FC236}">
                <a16:creationId xmlns:a16="http://schemas.microsoft.com/office/drawing/2014/main" id="{D8EBA0E7-D1A1-4262-907A-938DF4A6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pecialist-route-line-1">
            <a:extLst xmlns:a="http://schemas.openxmlformats.org/drawingml/2006/main">
              <a:ext uri="{FF2B5EF4-FFF2-40B4-BE49-F238E27FC236}">
                <a16:creationId xmlns:a16="http://schemas.microsoft.com/office/drawing/2014/main" id="{3C685990-3497-47B4-BAE6-2BA724D0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specialist-route-title-1">
            <a:extLst xmlns:a="http://schemas.openxmlformats.org/drawingml/2006/main">
              <a:ext uri="{FF2B5EF4-FFF2-40B4-BE49-F238E27FC236}">
                <a16:creationId xmlns:a16="http://schemas.microsoft.com/office/drawing/2014/main" id="{A27CAAA5-5079-4DD9-8CA6-36054858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Agent</a:t>
            </a:r>
          </a:p>
        </p:txBody>
      </p:sp>
      <p:sp>
        <p:nvSpPr>
          <p:cNvPr id="17" name="specialist-route-body-1">
            <a:extLst xmlns:a="http://schemas.openxmlformats.org/drawingml/2006/main">
              <a:ext uri="{FF2B5EF4-FFF2-40B4-BE49-F238E27FC236}">
                <a16:creationId xmlns:a16="http://schemas.microsoft.com/office/drawing/2014/main" id="{F0765187-9510-48B6-B517-3BEC15B5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4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Grounds general medical answers in local healthcare evidence.</a:t>
            </a:r>
          </a:p>
        </p:txBody>
      </p:sp>
      <p:sp>
        <p:nvSpPr>
          <p:cNvPr id="18" name="specialist-route-2">
            <a:extLst xmlns:a="http://schemas.openxmlformats.org/drawingml/2006/main">
              <a:ext uri="{FF2B5EF4-FFF2-40B4-BE49-F238E27FC236}">
                <a16:creationId xmlns:a16="http://schemas.microsoft.com/office/drawing/2014/main" id="{E02483E5-794F-43E3-8C53-1E4581B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ecialist-route-line-2">
            <a:extLst xmlns:a="http://schemas.openxmlformats.org/drawingml/2006/main">
              <a:ext uri="{FF2B5EF4-FFF2-40B4-BE49-F238E27FC236}">
                <a16:creationId xmlns:a16="http://schemas.microsoft.com/office/drawing/2014/main" id="{D6C52CFE-8D69-4651-B293-5A66893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specialist-route-title-2">
            <a:extLst xmlns:a="http://schemas.openxmlformats.org/drawingml/2006/main">
              <a:ext uri="{FF2B5EF4-FFF2-40B4-BE49-F238E27FC236}">
                <a16:creationId xmlns:a16="http://schemas.microsoft.com/office/drawing/2014/main" id="{BC12F04E-7E15-4961-BB20-301E3ED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Pharmacy Agent</a:t>
            </a:r>
          </a:p>
        </p:txBody>
      </p:sp>
      <p:sp>
        <p:nvSpPr>
          <p:cNvPr id="21" name="specialist-route-body-2">
            <a:extLst xmlns:a="http://schemas.openxmlformats.org/drawingml/2006/main">
              <a:ext uri="{FF2B5EF4-FFF2-40B4-BE49-F238E27FC236}">
                <a16:creationId xmlns:a16="http://schemas.microsoft.com/office/drawing/2014/main" id="{F3E4D7C5-822E-45A1-80AB-AA1AB7C4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0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Handles medicine questions with medication-specific safety checks.</a:t>
            </a:r>
          </a:p>
        </p:txBody>
      </p:sp>
      <p:sp>
        <p:nvSpPr>
          <p:cNvPr id="22" name="specialist-route-3">
            <a:extLst xmlns:a="http://schemas.openxmlformats.org/drawingml/2006/main">
              <a:ext uri="{FF2B5EF4-FFF2-40B4-BE49-F238E27FC236}">
                <a16:creationId xmlns:a16="http://schemas.microsoft.com/office/drawing/2014/main" id="{BE1BD466-353D-43C0-A3D2-98D008D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pecialist-route-line-3">
            <a:extLst xmlns:a="http://schemas.openxmlformats.org/drawingml/2006/main">
              <a:ext uri="{FF2B5EF4-FFF2-40B4-BE49-F238E27FC236}">
                <a16:creationId xmlns:a16="http://schemas.microsoft.com/office/drawing/2014/main" id="{CACBB94F-8F63-41D2-BC9F-E1F6DE37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specialist-route-title-3">
            <a:extLst xmlns:a="http://schemas.openxmlformats.org/drawingml/2006/main">
              <a:ext uri="{FF2B5EF4-FFF2-40B4-BE49-F238E27FC236}">
                <a16:creationId xmlns:a16="http://schemas.microsoft.com/office/drawing/2014/main" id="{0D1B9FBB-42E7-4BBB-8376-A293A985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Scheduling Agent</a:t>
            </a:r>
          </a:p>
        </p:txBody>
      </p:sp>
      <p:sp>
        <p:nvSpPr>
          <p:cNvPr id="25" name="specialist-route-body-3">
            <a:extLst xmlns:a="http://schemas.openxmlformats.org/drawingml/2006/main">
              <a:ext uri="{FF2B5EF4-FFF2-40B4-BE49-F238E27FC236}">
                <a16:creationId xmlns:a16="http://schemas.microsoft.com/office/drawing/2014/main" id="{67C7971D-2B91-4FD8-85EE-8D56931B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Supports visit prep, follow-up flow, and coordination requests.</a:t>
            </a:r>
          </a:p>
        </p:txBody>
      </p:sp>
      <p:sp>
        <p:nvSpPr>
          <p:cNvPr id="26" name="specialist-route-4">
            <a:extLst xmlns:a="http://schemas.openxmlformats.org/drawingml/2006/main">
              <a:ext uri="{FF2B5EF4-FFF2-40B4-BE49-F238E27FC236}">
                <a16:creationId xmlns:a16="http://schemas.microsoft.com/office/drawing/2014/main" id="{8D01E348-289C-4C9F-B70C-FC99C4F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pecialist-route-line-4">
            <a:extLst xmlns:a="http://schemas.openxmlformats.org/drawingml/2006/main">
              <a:ext uri="{FF2B5EF4-FFF2-40B4-BE49-F238E27FC236}">
                <a16:creationId xmlns:a16="http://schemas.microsoft.com/office/drawing/2014/main" id="{ED74BDBF-7E94-45BC-9D12-16F77F7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12324A"/>
            </a:solidFill>
            <a:prstDash val="solid"/>
          </a:ln>
        </p:spPr>
      </p:sp>
      <p:sp>
        <p:nvSpPr>
          <p:cNvPr id="28" name="specialist-route-title-4">
            <a:extLst xmlns:a="http://schemas.openxmlformats.org/drawingml/2006/main">
              <a:ext uri="{FF2B5EF4-FFF2-40B4-BE49-F238E27FC236}">
                <a16:creationId xmlns:a16="http://schemas.microsoft.com/office/drawing/2014/main" id="{A0D8EA57-C023-475C-81FB-3E5FAF2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Alert Agent</a:t>
            </a:r>
          </a:p>
        </p:txBody>
      </p:sp>
      <p:sp>
        <p:nvSpPr>
          <p:cNvPr id="29" name="specialist-route-body-4">
            <a:extLst xmlns:a="http://schemas.openxmlformats.org/drawingml/2006/main">
              <a:ext uri="{FF2B5EF4-FFF2-40B4-BE49-F238E27FC236}">
                <a16:creationId xmlns:a16="http://schemas.microsoft.com/office/drawing/2014/main" id="{38ADA549-2A3B-44F2-9834-3E4C6E9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Escalates urgent patterns into a safety-first response path.</a:t>
            </a:r>
          </a:p>
        </p:txBody>
      </p:sp>
      <p:sp>
        <p:nvSpPr>
          <p:cNvPr id="30" name="workspace-strip">
            <a:extLst xmlns:a="http://schemas.openxmlformats.org/drawingml/2006/main">
              <a:ext uri="{FF2B5EF4-FFF2-40B4-BE49-F238E27FC236}">
                <a16:creationId xmlns:a16="http://schemas.microsoft.com/office/drawing/2014/main" id="{EAC833A5-D301-46B2-9A40-24C5A193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7962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31" name="workspace-strip-text">
            <a:extLst xmlns:a="http://schemas.openxmlformats.org/drawingml/2006/main">
              <a:ext uri="{FF2B5EF4-FFF2-40B4-BE49-F238E27FC236}">
                <a16:creationId xmlns:a16="http://schemas.microsoft.com/office/drawing/2014/main" id="{767F0274-598E-4CDC-89B7-E008BB74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91150"/>
            <a:ext cx="746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Focused workspaces: Vitals, Labs, Wellness, Records, Insurance, Summary.</a:t>
            </a:r>
          </a:p>
        </p:txBody>
      </p:sp>
      <p:sp>
        <p:nvSpPr>
          <p:cNvPr id="32" name="router-close">
            <a:extLst xmlns:a="http://schemas.openxmlformats.org/drawingml/2006/main">
              <a:ext uri="{FF2B5EF4-FFF2-40B4-BE49-F238E27FC236}">
                <a16:creationId xmlns:a16="http://schemas.microsoft.com/office/drawing/2014/main" id="{AA5E7AC8-8FCD-4348-A4FC-B6060C62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That is why Care Nova can answer narrowly instead of broadly.</a:t>
            </a:r>
          </a:p>
        </p:txBody>
      </p:sp>
    </p:spTree>
    <p:extLst>
      <p:ext uri="{BB962C8B-B14F-4D97-AF65-F5344CB8AC3E}">
        <p14:creationId xmlns:p14="http://schemas.microsoft.com/office/powerpoint/2010/main" val="1576373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RAG + MEMORY">
            <a:extLst xmlns:a="http://schemas.openxmlformats.org/drawingml/2006/main">
              <a:ext uri="{FF2B5EF4-FFF2-40B4-BE49-F238E27FC236}">
                <a16:creationId xmlns:a16="http://schemas.microsoft.com/office/drawing/2014/main" id="{74774B01-B9E9-475E-B6CA-57EA5E9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 + MEMORY</a:t>
            </a:r>
          </a:p>
        </p:txBody>
      </p:sp>
      <p:sp>
        <p:nvSpPr>
          <p:cNvPr id="2" name="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FF9CFE22-E2A6-4654-B9E2-8FF643C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Retrieval grounds facts. Memory grounds context.</a:t>
            </a:r>
          </a:p>
        </p:txBody>
      </p:sp>
      <p:sp>
        <p:nvSpPr>
          <p:cNvPr id="3" name="header-lin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78C63E9A-34E7-4A10-9020-DF85924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Retrieval grounds facts. Memory grounds context.">
            <a:extLst xmlns:a="http://schemas.openxmlformats.org/drawingml/2006/main">
              <a:ext uri="{FF2B5EF4-FFF2-40B4-BE49-F238E27FC236}">
                <a16:creationId xmlns:a16="http://schemas.microsoft.com/office/drawing/2014/main" id="{CA9C1081-B4BE-4161-AA9F-8BD8BA38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Together they cut broad guessing and keep answers patient-specific.</a:t>
            </a:r>
          </a:p>
        </p:txBody>
      </p:sp>
      <p:sp>
        <p:nvSpPr>
          <p:cNvPr id="5" name="hybrid-retrieval-block">
            <a:extLst xmlns:a="http://schemas.openxmlformats.org/drawingml/2006/main">
              <a:ext uri="{FF2B5EF4-FFF2-40B4-BE49-F238E27FC236}">
                <a16:creationId xmlns:a16="http://schemas.microsoft.com/office/drawing/2014/main" id="{68ADC3A3-DD3B-4A69-AB33-7F54C857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53911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hybrid-retrieval-label">
            <a:extLst xmlns:a="http://schemas.openxmlformats.org/drawingml/2006/main">
              <a:ext uri="{FF2B5EF4-FFF2-40B4-BE49-F238E27FC236}">
                <a16:creationId xmlns:a16="http://schemas.microsoft.com/office/drawing/2014/main" id="{B2BE1D1C-1650-4FB4-BAC5-D163DAE5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7" name="hybrid-retrieval-title">
            <a:extLst xmlns:a="http://schemas.openxmlformats.org/drawingml/2006/main">
              <a:ext uri="{FF2B5EF4-FFF2-40B4-BE49-F238E27FC236}">
                <a16:creationId xmlns:a16="http://schemas.microsoft.com/office/drawing/2014/main" id="{D38711A5-173A-4E66-B0AA-3D0B16DD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medical facts</a:t>
            </a:r>
          </a:p>
        </p:txBody>
      </p:sp>
      <p:sp>
        <p:nvSpPr>
          <p:cNvPr id="8" name="hybrid-retrieval-body">
            <a:extLst xmlns:a="http://schemas.openxmlformats.org/drawingml/2006/main">
              <a:ext uri="{FF2B5EF4-FFF2-40B4-BE49-F238E27FC236}">
                <a16:creationId xmlns:a16="http://schemas.microsoft.com/office/drawing/2014/main" id="{E10F7E06-FB39-4FA4-8DA4-3A3C873E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84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8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Query is built from the message, vitals, profile, and memory.</a:t>
            </a:r>
          </a:p>
        </p:txBody>
      </p:sp>
      <p:sp>
        <p:nvSpPr>
          <p:cNvPr id="9" name="hybrid-retrieval-bullet-icon-64-398">
            <a:extLst xmlns:a="http://schemas.openxmlformats.org/drawingml/2006/main">
              <a:ext uri="{FF2B5EF4-FFF2-40B4-BE49-F238E27FC236}">
                <a16:creationId xmlns:a16="http://schemas.microsoft.com/office/drawing/2014/main" id="{168F53A0-9A13-4D16-948B-018BFA5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0" name="hybrid-retrieval-bullet-text-64-398">
            <a:extLst xmlns:a="http://schemas.openxmlformats.org/drawingml/2006/main">
              <a:ext uri="{FF2B5EF4-FFF2-40B4-BE49-F238E27FC236}">
                <a16:creationId xmlns:a16="http://schemas.microsoft.com/office/drawing/2014/main" id="{343C663C-5DEE-445D-BA38-44466CB9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Ranks local healthcare knowledge</a:t>
            </a:r>
          </a:p>
        </p:txBody>
      </p:sp>
      <p:sp>
        <p:nvSpPr>
          <p:cNvPr id="11" name="hybrid-retrieval-bullet-icon-64-436">
            <a:extLst xmlns:a="http://schemas.openxmlformats.org/drawingml/2006/main">
              <a:ext uri="{FF2B5EF4-FFF2-40B4-BE49-F238E27FC236}">
                <a16:creationId xmlns:a16="http://schemas.microsoft.com/office/drawing/2014/main" id="{A95D827C-4C31-48BE-9529-74B43596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2" name="hybrid-retrieval-bullet-text-64-436">
            <a:extLst xmlns:a="http://schemas.openxmlformats.org/drawingml/2006/main">
              <a:ext uri="{FF2B5EF4-FFF2-40B4-BE49-F238E27FC236}">
                <a16:creationId xmlns:a16="http://schemas.microsoft.com/office/drawing/2014/main" id="{7CFE478D-1852-4BD9-BA80-2FC94D5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Can reuse approved cached references</a:t>
            </a:r>
          </a:p>
        </p:txBody>
      </p:sp>
      <p:sp>
        <p:nvSpPr>
          <p:cNvPr id="13" name="hybrid-retrieval-bullet-icon-64-474">
            <a:extLst xmlns:a="http://schemas.openxmlformats.org/drawingml/2006/main">
              <a:ext uri="{FF2B5EF4-FFF2-40B4-BE49-F238E27FC236}">
                <a16:creationId xmlns:a16="http://schemas.microsoft.com/office/drawing/2014/main" id="{FFDC8EEF-1591-478E-96B7-5F33637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4" name="hybrid-retrieval-bullet-text-64-474">
            <a:extLst xmlns:a="http://schemas.openxmlformats.org/drawingml/2006/main">
              <a:ext uri="{FF2B5EF4-FFF2-40B4-BE49-F238E27FC236}">
                <a16:creationId xmlns:a16="http://schemas.microsoft.com/office/drawing/2014/main" id="{B342A02A-C2C6-4414-A5AD-399CAFC2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the reply in evidence</a:t>
            </a:r>
          </a:p>
        </p:txBody>
      </p:sp>
      <p:sp>
        <p:nvSpPr>
          <p:cNvPr id="15" name="hybrid-memory-block">
            <a:extLst xmlns:a="http://schemas.openxmlformats.org/drawingml/2006/main">
              <a:ext uri="{FF2B5EF4-FFF2-40B4-BE49-F238E27FC236}">
                <a16:creationId xmlns:a16="http://schemas.microsoft.com/office/drawing/2014/main" id="{F1C959C1-C9BC-4C33-BEC6-5B0E6B43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573405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0">
            <a:solidFill>
              <a:srgbClr val="EAF9F7"/>
            </a:solidFill>
            <a:prstDash val="solid"/>
          </a:ln>
        </p:spPr>
      </p:sp>
      <p:sp>
        <p:nvSpPr>
          <p:cNvPr id="16" name="hybrid-memory-label">
            <a:extLst xmlns:a="http://schemas.openxmlformats.org/drawingml/2006/main">
              <a:ext uri="{FF2B5EF4-FFF2-40B4-BE49-F238E27FC236}">
                <a16:creationId xmlns:a16="http://schemas.microsoft.com/office/drawing/2014/main" id="{6E2B9693-F567-4060-9BD5-5EFD4D6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17" name="hybrid-memory-title">
            <a:extLst xmlns:a="http://schemas.openxmlformats.org/drawingml/2006/main">
              <a:ext uri="{FF2B5EF4-FFF2-40B4-BE49-F238E27FC236}">
                <a16:creationId xmlns:a16="http://schemas.microsoft.com/office/drawing/2014/main" id="{FED231BA-05DD-447B-94A8-DDAE78A9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patient context</a:t>
            </a:r>
          </a:p>
        </p:txBody>
      </p:sp>
      <p:sp>
        <p:nvSpPr>
          <p:cNvPr id="18" name="hybrid-memory-body">
            <a:extLst xmlns:a="http://schemas.openxmlformats.org/drawingml/2006/main">
              <a:ext uri="{FF2B5EF4-FFF2-40B4-BE49-F238E27FC236}">
                <a16:creationId xmlns:a16="http://schemas.microsoft.com/office/drawing/2014/main" id="{FD369A78-7351-4DDA-BE07-FDB8BB3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Persistent local context reloads before every analysis.</a:t>
            </a:r>
          </a:p>
        </p:txBody>
      </p:sp>
      <p:sp>
        <p:nvSpPr>
          <p:cNvPr id="19" name="hybrid-memory-bullet-icon-654-398">
            <a:extLst xmlns:a="http://schemas.openxmlformats.org/drawingml/2006/main">
              <a:ext uri="{FF2B5EF4-FFF2-40B4-BE49-F238E27FC236}">
                <a16:creationId xmlns:a16="http://schemas.microsoft.com/office/drawing/2014/main" id="{1C6F7B1E-BCA3-4337-8948-F205FF3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hybrid-memory-bullet-text-654-398">
            <a:extLst xmlns:a="http://schemas.openxmlformats.org/drawingml/2006/main">
              <a:ext uri="{FF2B5EF4-FFF2-40B4-BE49-F238E27FC236}">
                <a16:creationId xmlns:a16="http://schemas.microsoft.com/office/drawing/2014/main" id="{1463BC6C-7F66-4B31-A230-10B0FFE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knowledge graph</a:t>
            </a:r>
          </a:p>
        </p:txBody>
      </p:sp>
      <p:sp>
        <p:nvSpPr>
          <p:cNvPr id="21" name="hybrid-memory-bullet-icon-654-436">
            <a:extLst xmlns:a="http://schemas.openxmlformats.org/drawingml/2006/main">
              <a:ext uri="{FF2B5EF4-FFF2-40B4-BE49-F238E27FC236}">
                <a16:creationId xmlns:a16="http://schemas.microsoft.com/office/drawing/2014/main" id="{6179E818-D69D-4DB9-8590-38BDBDFB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29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hybrid-memory-bullet-text-654-436">
            <a:extLst xmlns:a="http://schemas.openxmlformats.org/drawingml/2006/main">
              <a:ext uri="{FF2B5EF4-FFF2-40B4-BE49-F238E27FC236}">
                <a16:creationId xmlns:a16="http://schemas.microsoft.com/office/drawing/2014/main" id="{67735CE6-3AD2-4DDF-82D5-91F0BB91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is not stateless</a:t>
            </a:r>
          </a:p>
        </p:txBody>
      </p:sp>
      <p:sp>
        <p:nvSpPr>
          <p:cNvPr id="23" name="hybrid-memory-bullet-icon-654-474">
            <a:extLst xmlns:a="http://schemas.openxmlformats.org/drawingml/2006/main">
              <a:ext uri="{FF2B5EF4-FFF2-40B4-BE49-F238E27FC236}">
                <a16:creationId xmlns:a16="http://schemas.microsoft.com/office/drawing/2014/main" id="{FA1E40B6-B85F-4225-9B21-3349161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hybrid-memory-bullet-text-654-474">
            <a:extLst xmlns:a="http://schemas.openxmlformats.org/drawingml/2006/main">
              <a:ext uri="{FF2B5EF4-FFF2-40B4-BE49-F238E27FC236}">
                <a16:creationId xmlns:a16="http://schemas.microsoft.com/office/drawing/2014/main" id="{1F3E25A4-6DE7-4521-BE3F-17626921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Result is stored for the next turn</a:t>
            </a:r>
          </a:p>
        </p:txBody>
      </p:sp>
      <p:sp>
        <p:nvSpPr>
          <p:cNvPr id="25" name="hybrid-trust-title">
            <a:extLst xmlns:a="http://schemas.openxmlformats.org/drawingml/2006/main">
              <a:ext uri="{FF2B5EF4-FFF2-40B4-BE49-F238E27FC236}">
                <a16:creationId xmlns:a16="http://schemas.microsoft.com/office/drawing/2014/main" id="{0031FD12-C52A-4E9E-9C01-0AE822F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72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Approved sources</a:t>
            </a:r>
          </a:p>
        </p:txBody>
      </p:sp>
      <p:sp>
        <p:nvSpPr>
          <p:cNvPr id="26" name="hybrid-trust-pill-1-panel">
            <a:extLst xmlns:a="http://schemas.openxmlformats.org/drawingml/2006/main">
              <a:ext uri="{FF2B5EF4-FFF2-40B4-BE49-F238E27FC236}">
                <a16:creationId xmlns:a16="http://schemas.microsoft.com/office/drawing/2014/main" id="{9237E4E3-6D42-4ACF-B601-AA4D7AB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7" name="hybrid-trust-pill-1-text">
            <a:extLst xmlns:a="http://schemas.openxmlformats.org/drawingml/2006/main">
              <a:ext uri="{FF2B5EF4-FFF2-40B4-BE49-F238E27FC236}">
                <a16:creationId xmlns:a16="http://schemas.microsoft.com/office/drawing/2014/main" id="{10F7F82F-596B-4443-963D-86477B71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MedlinePlus</a:t>
            </a:r>
          </a:p>
        </p:txBody>
      </p:sp>
      <p:sp>
        <p:nvSpPr>
          <p:cNvPr id="28" name="hybrid-trust-pill-2-panel">
            <a:extLst xmlns:a="http://schemas.openxmlformats.org/drawingml/2006/main">
              <a:ext uri="{FF2B5EF4-FFF2-40B4-BE49-F238E27FC236}">
                <a16:creationId xmlns:a16="http://schemas.microsoft.com/office/drawing/2014/main" id="{7B006998-AC43-406F-A044-6B5488B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29" name="hybrid-trust-pill-2-text">
            <a:extLst xmlns:a="http://schemas.openxmlformats.org/drawingml/2006/main">
              <a:ext uri="{FF2B5EF4-FFF2-40B4-BE49-F238E27FC236}">
                <a16:creationId xmlns:a16="http://schemas.microsoft.com/office/drawing/2014/main" id="{E8547143-BCEA-49D4-9430-7454D50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RxNorm</a:t>
            </a:r>
          </a:p>
        </p:txBody>
      </p:sp>
      <p:sp>
        <p:nvSpPr>
          <p:cNvPr id="30" name="hybrid-trust-pill-3-panel">
            <a:extLst xmlns:a="http://schemas.openxmlformats.org/drawingml/2006/main">
              <a:ext uri="{FF2B5EF4-FFF2-40B4-BE49-F238E27FC236}">
                <a16:creationId xmlns:a16="http://schemas.microsoft.com/office/drawing/2014/main" id="{AC3ACA95-FBF2-4D7E-A452-B109A3E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1" name="hybrid-trust-pill-3-text">
            <a:extLst xmlns:a="http://schemas.openxmlformats.org/drawingml/2006/main">
              <a:ext uri="{FF2B5EF4-FFF2-40B4-BE49-F238E27FC236}">
                <a16:creationId xmlns:a16="http://schemas.microsoft.com/office/drawing/2014/main" id="{7AD07535-6CC3-47F1-B4F9-98F0EB16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openFDA</a:t>
            </a:r>
          </a:p>
        </p:txBody>
      </p:sp>
      <p:sp>
        <p:nvSpPr>
          <p:cNvPr id="32" name="hybrid-trust-pill-4-panel">
            <a:extLst xmlns:a="http://schemas.openxmlformats.org/drawingml/2006/main">
              <a:ext uri="{FF2B5EF4-FFF2-40B4-BE49-F238E27FC236}">
                <a16:creationId xmlns:a16="http://schemas.microsoft.com/office/drawing/2014/main" id="{9A54E688-07FA-42CD-897D-F7262826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3" name="hybrid-trust-pill-4-text">
            <a:extLst xmlns:a="http://schemas.openxmlformats.org/drawingml/2006/main">
              <a:ext uri="{FF2B5EF4-FFF2-40B4-BE49-F238E27FC236}">
                <a16:creationId xmlns:a16="http://schemas.microsoft.com/office/drawing/2014/main" id="{7466AD69-7E67-4CD0-8611-9FFEBBB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3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LOINC</a:t>
            </a:r>
          </a:p>
        </p:txBody>
      </p:sp>
      <p:sp>
        <p:nvSpPr>
          <p:cNvPr id="34" name="hybrid-trust-pill-5-panel">
            <a:extLst xmlns:a="http://schemas.openxmlformats.org/drawingml/2006/main">
              <a:ext uri="{FF2B5EF4-FFF2-40B4-BE49-F238E27FC236}">
                <a16:creationId xmlns:a16="http://schemas.microsoft.com/office/drawing/2014/main" id="{0E1A1563-4333-41A1-9CC5-FABC1CDA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hybrid-trust-pill-5-text">
            <a:extLst xmlns:a="http://schemas.openxmlformats.org/drawingml/2006/main">
              <a:ext uri="{FF2B5EF4-FFF2-40B4-BE49-F238E27FC236}">
                <a16:creationId xmlns:a16="http://schemas.microsoft.com/office/drawing/2014/main" id="{386C074C-3459-4F83-9124-60274D9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53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SMART on FHIR</a:t>
            </a:r>
          </a:p>
        </p:txBody>
      </p:sp>
      <p:sp>
        <p:nvSpPr>
          <p:cNvPr id="36" name="hybrid-footer-text">
            <a:extLst xmlns:a="http://schemas.openxmlformats.org/drawingml/2006/main">
              <a:ext uri="{FF2B5EF4-FFF2-40B4-BE49-F238E27FC236}">
                <a16:creationId xmlns:a16="http://schemas.microsoft.com/office/drawing/2014/main" id="{94297604-1412-4034-940B-CA4ADCE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answers use local evidence and prior patient context, not raw model memory alone.</a:t>
            </a:r>
          </a:p>
        </p:txBody>
      </p:sp>
    </p:spTree>
    <p:extLst>
      <p:ext uri="{BB962C8B-B14F-4D97-AF65-F5344CB8AC3E}">
        <p14:creationId xmlns:p14="http://schemas.microsoft.com/office/powerpoint/2010/main" val="2028307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BUSINESS RELEVANCE">
            <a:extLst xmlns:a="http://schemas.openxmlformats.org/drawingml/2006/main">
              <a:ext uri="{FF2B5EF4-FFF2-40B4-BE49-F238E27FC236}">
                <a16:creationId xmlns:a16="http://schemas.microsoft.com/office/drawing/2014/main" id="{83D75772-AAE5-489A-84D6-5450D5F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BUSINESS RELEVANCE</a:t>
            </a:r>
          </a:p>
        </p:txBody>
      </p:sp>
      <p:sp>
        <p:nvSpPr>
          <p:cNvPr id="2" name="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642A52F3-C7FE-44C7-8A06-1F40B93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makes Care Nova practical to adopt</a:t>
            </a:r>
          </a:p>
        </p:txBody>
      </p:sp>
      <p:sp>
        <p:nvSpPr>
          <p:cNvPr id="3" name="header-lin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EFC21068-16FC-472A-87DA-86C4D92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4" name="sub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C580AF0D-F914-4A9C-B755-F3044D38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Privacy, reliability, and low deployment friction turn the demo into a usable product.</a:t>
            </a:r>
          </a:p>
        </p:txBody>
      </p:sp>
      <p:sp>
        <p:nvSpPr>
          <p:cNvPr id="5" name="offline-metric-panel">
            <a:extLst xmlns:a="http://schemas.openxmlformats.org/drawingml/2006/main">
              <a:ext uri="{FF2B5EF4-FFF2-40B4-BE49-F238E27FC236}">
                <a16:creationId xmlns:a16="http://schemas.microsoft.com/office/drawing/2014/main" id="{3D3D7D4C-70BF-4EDF-AF2A-9339034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40957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offline-metric-line">
            <a:extLst xmlns:a="http://schemas.openxmlformats.org/drawingml/2006/main">
              <a:ext uri="{FF2B5EF4-FFF2-40B4-BE49-F238E27FC236}">
                <a16:creationId xmlns:a16="http://schemas.microsoft.com/office/drawing/2014/main" id="{E6360DA8-DB8F-4058-85D3-088B833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offline-metric-pill-panel">
            <a:extLst xmlns:a="http://schemas.openxmlformats.org/drawingml/2006/main">
              <a:ext uri="{FF2B5EF4-FFF2-40B4-BE49-F238E27FC236}">
                <a16:creationId xmlns:a16="http://schemas.microsoft.com/office/drawing/2014/main" id="{1D02345B-6D8C-4EAC-BECE-CFE02716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8" name="offline-metric-pill-text">
            <a:extLst xmlns:a="http://schemas.openxmlformats.org/drawingml/2006/main">
              <a:ext uri="{FF2B5EF4-FFF2-40B4-BE49-F238E27FC236}">
                <a16:creationId xmlns:a16="http://schemas.microsoft.com/office/drawing/2014/main" id="{FA2ED17A-AD26-4875-AB66-AE18E1BE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Default mode</a:t>
            </a:r>
          </a:p>
        </p:txBody>
      </p:sp>
      <p:sp>
        <p:nvSpPr>
          <p:cNvPr id="9" name="offline-metric-number">
            <a:extLst xmlns:a="http://schemas.openxmlformats.org/drawingml/2006/main">
              <a:ext uri="{FF2B5EF4-FFF2-40B4-BE49-F238E27FC236}">
                <a16:creationId xmlns:a16="http://schemas.microsoft.com/office/drawing/2014/main" id="{DA232E48-54F8-433C-B204-302C9D2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10" name="offline-metric-label">
            <a:extLst xmlns:a="http://schemas.openxmlformats.org/drawingml/2006/main">
              <a:ext uri="{FF2B5EF4-FFF2-40B4-BE49-F238E27FC236}">
                <a16:creationId xmlns:a16="http://schemas.microsoft.com/office/drawing/2014/main" id="{17735608-7BAE-491D-A2C4-7C6F479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mandatory cloud calls</a:t>
            </a:r>
          </a:p>
        </p:txBody>
      </p:sp>
      <p:sp>
        <p:nvSpPr>
          <p:cNvPr id="11" name="offline-metric-body">
            <a:extLst xmlns:a="http://schemas.openxmlformats.org/drawingml/2006/main">
              <a:ext uri="{FF2B5EF4-FFF2-40B4-BE49-F238E27FC236}">
                <a16:creationId xmlns:a16="http://schemas.microsoft.com/office/drawing/2014/main" id="{2ECA64C7-190A-41B1-9705-ED1D5959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core workflow still runs locally, even when cloud access is limited or unavailable.</a:t>
            </a:r>
          </a:p>
        </p:txBody>
      </p:sp>
      <p:sp>
        <p:nvSpPr>
          <p:cNvPr id="12" name="offline-metric-bullet-icon-68-476">
            <a:extLst xmlns:a="http://schemas.openxmlformats.org/drawingml/2006/main">
              <a:ext uri="{FF2B5EF4-FFF2-40B4-BE49-F238E27FC236}">
                <a16:creationId xmlns:a16="http://schemas.microsoft.com/office/drawing/2014/main" id="{B1411439-3D73-4C5A-997F-88CB9962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offline-metric-bullet-text-68-476">
            <a:extLst xmlns:a="http://schemas.openxmlformats.org/drawingml/2006/main">
              <a:ext uri="{FF2B5EF4-FFF2-40B4-BE49-F238E27FC236}">
                <a16:creationId xmlns:a16="http://schemas.microsoft.com/office/drawing/2014/main" id="{59B4463B-26DE-4A09-B8B4-068461D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Privacy by default for patient context</a:t>
            </a:r>
          </a:p>
        </p:txBody>
      </p:sp>
      <p:sp>
        <p:nvSpPr>
          <p:cNvPr id="14" name="offline-metric-bullet-icon-68-510">
            <a:extLst xmlns:a="http://schemas.openxmlformats.org/drawingml/2006/main">
              <a:ext uri="{FF2B5EF4-FFF2-40B4-BE49-F238E27FC236}">
                <a16:creationId xmlns:a16="http://schemas.microsoft.com/office/drawing/2014/main" id="{FFDE410E-F37A-470F-B446-C65F3335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offline-metric-bullet-text-68-510">
            <a:extLst xmlns:a="http://schemas.openxmlformats.org/drawingml/2006/main">
              <a:ext uri="{FF2B5EF4-FFF2-40B4-BE49-F238E27FC236}">
                <a16:creationId xmlns:a16="http://schemas.microsoft.com/office/drawing/2014/main" id="{46CE0A60-F759-43F5-ABCB-145307A9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Reliable on weak or unstable networks</a:t>
            </a:r>
          </a:p>
        </p:txBody>
      </p:sp>
      <p:sp>
        <p:nvSpPr>
          <p:cNvPr id="16" name="offline-metric-bullet-icon-68-544">
            <a:extLst xmlns:a="http://schemas.openxmlformats.org/drawingml/2006/main">
              <a:ext uri="{FF2B5EF4-FFF2-40B4-BE49-F238E27FC236}">
                <a16:creationId xmlns:a16="http://schemas.microsoft.com/office/drawing/2014/main" id="{F88BE167-16CA-4961-86C4-BC0A1D31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7" name="offline-metric-bullet-text-68-544">
            <a:extLst xmlns:a="http://schemas.openxmlformats.org/drawingml/2006/main">
              <a:ext uri="{FF2B5EF4-FFF2-40B4-BE49-F238E27FC236}">
                <a16:creationId xmlns:a16="http://schemas.microsoft.com/office/drawing/2014/main" id="{7CB217FA-CC35-4F6E-BC4F-6B93E3E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Works in controlled environments</a:t>
            </a:r>
          </a:p>
        </p:txBody>
      </p:sp>
      <p:sp>
        <p:nvSpPr>
          <p:cNvPr id="18" name="offline-local-card">
            <a:extLst xmlns:a="http://schemas.openxmlformats.org/drawingml/2006/main">
              <a:ext uri="{FF2B5EF4-FFF2-40B4-BE49-F238E27FC236}">
                <a16:creationId xmlns:a16="http://schemas.microsoft.com/office/drawing/2014/main" id="{A108CC0E-75B9-4C44-9B19-07338BA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68770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offline-local-line">
            <a:extLst xmlns:a="http://schemas.openxmlformats.org/drawingml/2006/main">
              <a:ext uri="{FF2B5EF4-FFF2-40B4-BE49-F238E27FC236}">
                <a16:creationId xmlns:a16="http://schemas.microsoft.com/office/drawing/2014/main" id="{8CE55EE7-7CCB-477C-8B47-36283056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0" name="offline-local-title">
            <a:extLst xmlns:a="http://schemas.openxmlformats.org/drawingml/2006/main">
              <a:ext uri="{FF2B5EF4-FFF2-40B4-BE49-F238E27FC236}">
                <a16:creationId xmlns:a16="http://schemas.microsoft.com/office/drawing/2014/main" id="{450B4517-9F77-4FF9-9A7D-78C0D60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deploys</a:t>
            </a:r>
          </a:p>
        </p:txBody>
      </p:sp>
      <p:sp>
        <p:nvSpPr>
          <p:cNvPr id="21" name="offline-local-body">
            <a:extLst xmlns:a="http://schemas.openxmlformats.org/drawingml/2006/main">
              <a:ext uri="{FF2B5EF4-FFF2-40B4-BE49-F238E27FC236}">
                <a16:creationId xmlns:a16="http://schemas.microsoft.com/office/drawing/2014/main" id="{1B5F4164-F73D-4200-90F6-6F91FC69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Patient memory, records, graph facts, and app state stay local by default, so pilots do not start with a cloud dependency.</a:t>
            </a:r>
          </a:p>
        </p:txBody>
      </p:sp>
      <p:sp>
        <p:nvSpPr>
          <p:cNvPr id="22" name="offline-why-card">
            <a:extLst xmlns:a="http://schemas.openxmlformats.org/drawingml/2006/main">
              <a:ext uri="{FF2B5EF4-FFF2-40B4-BE49-F238E27FC236}">
                <a16:creationId xmlns:a16="http://schemas.microsoft.com/office/drawing/2014/main" id="{DA609454-9F1D-457D-9BA5-878453F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8770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offline-why-line">
            <a:extLst xmlns:a="http://schemas.openxmlformats.org/drawingml/2006/main">
              <a:ext uri="{FF2B5EF4-FFF2-40B4-BE49-F238E27FC236}">
                <a16:creationId xmlns:a16="http://schemas.microsoft.com/office/drawing/2014/main" id="{0DB17FA3-8BCC-4B5F-9BE7-5B4AF9C1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offline-why-title">
            <a:extLst xmlns:a="http://schemas.openxmlformats.org/drawingml/2006/main">
              <a:ext uri="{FF2B5EF4-FFF2-40B4-BE49-F238E27FC236}">
                <a16:creationId xmlns:a16="http://schemas.microsoft.com/office/drawing/2014/main" id="{697F2E5E-9A8E-4272-8A99-482A1AC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Business impact</a:t>
            </a:r>
          </a:p>
        </p:txBody>
      </p:sp>
      <p:sp>
        <p:nvSpPr>
          <p:cNvPr id="25" name="offline-why-bullet-icon-538-494">
            <a:extLst xmlns:a="http://schemas.openxmlformats.org/drawingml/2006/main">
              <a:ext uri="{FF2B5EF4-FFF2-40B4-BE49-F238E27FC236}">
                <a16:creationId xmlns:a16="http://schemas.microsoft.com/office/drawing/2014/main" id="{B1E1AB40-5ABF-4824-A8DB-0A043492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offline-why-bullet-text-538-494">
            <a:extLst xmlns:a="http://schemas.openxmlformats.org/drawingml/2006/main">
              <a:ext uri="{FF2B5EF4-FFF2-40B4-BE49-F238E27FC236}">
                <a16:creationId xmlns:a16="http://schemas.microsoft.com/office/drawing/2014/main" id="{CDAF3E4F-B5A3-4AC4-8343-D3928BD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Faster first-level triage</a:t>
            </a:r>
          </a:p>
        </p:txBody>
      </p:sp>
      <p:sp>
        <p:nvSpPr>
          <p:cNvPr id="27" name="offline-why-bullet-icon-538-526">
            <a:extLst xmlns:a="http://schemas.openxmlformats.org/drawingml/2006/main">
              <a:ext uri="{FF2B5EF4-FFF2-40B4-BE49-F238E27FC236}">
                <a16:creationId xmlns:a16="http://schemas.microsoft.com/office/drawing/2014/main" id="{1A0ABC1B-8316-46B6-94B0-C83E9AFE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8" name="offline-why-bullet-text-538-526">
            <a:extLst xmlns:a="http://schemas.openxmlformats.org/drawingml/2006/main">
              <a:ext uri="{FF2B5EF4-FFF2-40B4-BE49-F238E27FC236}">
                <a16:creationId xmlns:a16="http://schemas.microsoft.com/office/drawing/2014/main" id="{29C18618-42E2-457F-B438-C5B83DD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More consistent patient guidance</a:t>
            </a:r>
          </a:p>
        </p:txBody>
      </p:sp>
      <p:sp>
        <p:nvSpPr>
          <p:cNvPr id="29" name="offline-why-bullet-icon-538-558">
            <a:extLst xmlns:a="http://schemas.openxmlformats.org/drawingml/2006/main">
              <a:ext uri="{FF2B5EF4-FFF2-40B4-BE49-F238E27FC236}">
                <a16:creationId xmlns:a16="http://schemas.microsoft.com/office/drawing/2014/main" id="{A2A069F3-2250-4541-BAF2-6D468A5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0" name="offline-why-bullet-text-538-558">
            <a:extLst xmlns:a="http://schemas.openxmlformats.org/drawingml/2006/main">
              <a:ext uri="{FF2B5EF4-FFF2-40B4-BE49-F238E27FC236}">
                <a16:creationId xmlns:a16="http://schemas.microsoft.com/office/drawing/2014/main" id="{A0E213F4-27D0-44C6-9578-8F1B308B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Lower deployment friction for pilots</a:t>
            </a:r>
          </a:p>
        </p:txBody>
      </p:sp>
    </p:spTree>
    <p:extLst>
      <p:ext uri="{BB962C8B-B14F-4D97-AF65-F5344CB8AC3E}">
        <p14:creationId xmlns:p14="http://schemas.microsoft.com/office/powerpoint/2010/main" val="1199560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AFETY BOUNDARY">
            <a:extLst xmlns:a="http://schemas.openxmlformats.org/drawingml/2006/main">
              <a:ext uri="{FF2B5EF4-FFF2-40B4-BE49-F238E27FC236}">
                <a16:creationId xmlns:a16="http://schemas.microsoft.com/office/drawing/2014/main" id="{52099A2C-2784-4061-BDEB-4747F1D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 BOUNDARY</a:t>
            </a:r>
          </a:p>
        </p:txBody>
      </p:sp>
      <p:sp>
        <p:nvSpPr>
          <p:cNvPr id="2" name="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A99AC1D5-B5EB-42FD-88DE-D4D7766E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helps, but it does not overstep</a:t>
            </a:r>
          </a:p>
        </p:txBody>
      </p:sp>
      <p:sp>
        <p:nvSpPr>
          <p:cNvPr id="3" name="header-lin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2B6DC8BC-E88A-45AC-9555-4DC6BCB3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The system helps, but it does not overstep">
            <a:extLst xmlns:a="http://schemas.openxmlformats.org/drawingml/2006/main">
              <a:ext uri="{FF2B5EF4-FFF2-40B4-BE49-F238E27FC236}">
                <a16:creationId xmlns:a16="http://schemas.microsoft.com/office/drawing/2014/main" id="{75B0E3D9-6A68-440B-AF3F-2C27A01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That keeps the demo useful and honest.</a:t>
            </a:r>
          </a:p>
        </p:txBody>
      </p:sp>
      <p:sp>
        <p:nvSpPr>
          <p:cNvPr id="5" name="final-supports-card">
            <a:extLst xmlns:a="http://schemas.openxmlformats.org/drawingml/2006/main">
              <a:ext uri="{FF2B5EF4-FFF2-40B4-BE49-F238E27FC236}">
                <a16:creationId xmlns:a16="http://schemas.microsoft.com/office/drawing/2014/main" id="{8B4A231A-D144-434C-8FBF-521AFA8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0">
            <a:solidFill>
              <a:srgbClr val="F7FFFD"/>
            </a:solidFill>
            <a:prstDash val="solid"/>
          </a:ln>
        </p:spPr>
      </p:sp>
      <p:sp>
        <p:nvSpPr>
          <p:cNvPr id="6" name="final-supports-line">
            <a:extLst xmlns:a="http://schemas.openxmlformats.org/drawingml/2006/main">
              <a:ext uri="{FF2B5EF4-FFF2-40B4-BE49-F238E27FC236}">
                <a16:creationId xmlns:a16="http://schemas.microsoft.com/office/drawing/2014/main" id="{0A21F50F-82E3-4FA1-81FB-1DCF4D9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final-supports-title">
            <a:extLst xmlns:a="http://schemas.openxmlformats.org/drawingml/2006/main">
              <a:ext uri="{FF2B5EF4-FFF2-40B4-BE49-F238E27FC236}">
                <a16:creationId xmlns:a16="http://schemas.microsoft.com/office/drawing/2014/main" id="{E8244740-2CCA-4870-999B-6FC61DAA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Does help</a:t>
            </a:r>
          </a:p>
        </p:txBody>
      </p:sp>
      <p:sp>
        <p:nvSpPr>
          <p:cNvPr id="8" name="final-supports-bullet-icon-52-346">
            <a:extLst xmlns:a="http://schemas.openxmlformats.org/drawingml/2006/main">
              <a:ext uri="{FF2B5EF4-FFF2-40B4-BE49-F238E27FC236}">
                <a16:creationId xmlns:a16="http://schemas.microsoft.com/office/drawing/2014/main" id="{7A2581D8-165F-4B5E-A9F2-8E2ABF0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final-supports-bullet-text-52-346">
            <a:extLst xmlns:a="http://schemas.openxmlformats.org/drawingml/2006/main">
              <a:ext uri="{FF2B5EF4-FFF2-40B4-BE49-F238E27FC236}">
                <a16:creationId xmlns:a16="http://schemas.microsoft.com/office/drawing/2014/main" id="{9AF247B2-AB5C-45AE-A64D-4DDF69B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Risk review and triage</a:t>
            </a:r>
          </a:p>
        </p:txBody>
      </p:sp>
      <p:sp>
        <p:nvSpPr>
          <p:cNvPr id="10" name="final-supports-bullet-icon-52-394">
            <a:extLst xmlns:a="http://schemas.openxmlformats.org/drawingml/2006/main">
              <a:ext uri="{FF2B5EF4-FFF2-40B4-BE49-F238E27FC236}">
                <a16:creationId xmlns:a16="http://schemas.microsoft.com/office/drawing/2014/main" id="{572940AF-6853-4CD7-AC58-605576F2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1" name="final-supports-bullet-text-52-394">
            <a:extLst xmlns:a="http://schemas.openxmlformats.org/drawingml/2006/main">
              <a:ext uri="{FF2B5EF4-FFF2-40B4-BE49-F238E27FC236}">
                <a16:creationId xmlns:a16="http://schemas.microsoft.com/office/drawing/2014/main" id="{791CB82D-95AE-4E73-84ED-9DE6ABC6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Medicine, lab, and insurance guidance</a:t>
            </a:r>
          </a:p>
        </p:txBody>
      </p:sp>
      <p:sp>
        <p:nvSpPr>
          <p:cNvPr id="12" name="final-supports-bullet-icon-52-442">
            <a:extLst xmlns:a="http://schemas.openxmlformats.org/drawingml/2006/main">
              <a:ext uri="{FF2B5EF4-FFF2-40B4-BE49-F238E27FC236}">
                <a16:creationId xmlns:a16="http://schemas.microsoft.com/office/drawing/2014/main" id="{F8E26190-2436-4F44-83D5-0A86807F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final-supports-bullet-text-52-442">
            <a:extLst xmlns:a="http://schemas.openxmlformats.org/drawingml/2006/main">
              <a:ext uri="{FF2B5EF4-FFF2-40B4-BE49-F238E27FC236}">
                <a16:creationId xmlns:a16="http://schemas.microsoft.com/office/drawing/2014/main" id="{26EE566D-3750-474B-BC65-8C1D0044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Doctor-ready summary and follow-up prep</a:t>
            </a:r>
          </a:p>
        </p:txBody>
      </p:sp>
      <p:sp>
        <p:nvSpPr>
          <p:cNvPr id="14" name="final-supports-bullet-icon-52-490">
            <a:extLst xmlns:a="http://schemas.openxmlformats.org/drawingml/2006/main">
              <a:ext uri="{FF2B5EF4-FFF2-40B4-BE49-F238E27FC236}">
                <a16:creationId xmlns:a16="http://schemas.microsoft.com/office/drawing/2014/main" id="{2B77595A-DF66-461B-880C-865FB57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final-supports-bullet-text-52-490">
            <a:extLst xmlns:a="http://schemas.openxmlformats.org/drawingml/2006/main">
              <a:ext uri="{FF2B5EF4-FFF2-40B4-BE49-F238E27FC236}">
                <a16:creationId xmlns:a16="http://schemas.microsoft.com/office/drawing/2014/main" id="{957A8121-7DC5-44FC-B075-2BD5920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Urgent cases can force a safety-first route</a:t>
            </a:r>
          </a:p>
        </p:txBody>
      </p:sp>
      <p:sp>
        <p:nvSpPr>
          <p:cNvPr id="16" name="final-limits-card">
            <a:extLst xmlns:a="http://schemas.openxmlformats.org/drawingml/2006/main">
              <a:ext uri="{FF2B5EF4-FFF2-40B4-BE49-F238E27FC236}">
                <a16:creationId xmlns:a16="http://schemas.microsoft.com/office/drawing/2014/main" id="{BFA6474D-B855-4E36-8C32-4B84CA5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5245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0">
            <a:solidFill>
              <a:srgbClr val="FFF5EE"/>
            </a:solidFill>
            <a:prstDash val="solid"/>
          </a:ln>
        </p:spPr>
      </p:sp>
      <p:sp>
        <p:nvSpPr>
          <p:cNvPr id="17" name="final-limits-line">
            <a:extLst xmlns:a="http://schemas.openxmlformats.org/drawingml/2006/main">
              <a:ext uri="{FF2B5EF4-FFF2-40B4-BE49-F238E27FC236}">
                <a16:creationId xmlns:a16="http://schemas.microsoft.com/office/drawing/2014/main" id="{F02D1CF1-E604-4C21-9D48-EBD9B92A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8" name="final-limits-title">
            <a:extLst xmlns:a="http://schemas.openxmlformats.org/drawingml/2006/main">
              <a:ext uri="{FF2B5EF4-FFF2-40B4-BE49-F238E27FC236}">
                <a16:creationId xmlns:a16="http://schemas.microsoft.com/office/drawing/2014/main" id="{5FF90E58-2FED-44DF-8DD8-6F491F8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Never does</a:t>
            </a:r>
          </a:p>
        </p:txBody>
      </p:sp>
      <p:sp>
        <p:nvSpPr>
          <p:cNvPr id="19" name="final-limits-bullet-icon-674-346">
            <a:extLst xmlns:a="http://schemas.openxmlformats.org/drawingml/2006/main">
              <a:ext uri="{FF2B5EF4-FFF2-40B4-BE49-F238E27FC236}">
                <a16:creationId xmlns:a16="http://schemas.microsoft.com/office/drawing/2014/main" id="{6797C774-4ABD-4863-BE89-5ED7F47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0" name="final-limits-bullet-text-674-346">
            <a:extLst xmlns:a="http://schemas.openxmlformats.org/drawingml/2006/main">
              <a:ext uri="{FF2B5EF4-FFF2-40B4-BE49-F238E27FC236}">
                <a16:creationId xmlns:a16="http://schemas.microsoft.com/office/drawing/2014/main" id="{77CBD8ED-AD7F-4A50-A6A4-4911C915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Final diagnosis</a:t>
            </a:r>
          </a:p>
        </p:txBody>
      </p:sp>
      <p:sp>
        <p:nvSpPr>
          <p:cNvPr id="21" name="final-limits-bullet-icon-674-394">
            <a:extLst xmlns:a="http://schemas.openxmlformats.org/drawingml/2006/main">
              <a:ext uri="{FF2B5EF4-FFF2-40B4-BE49-F238E27FC236}">
                <a16:creationId xmlns:a16="http://schemas.microsoft.com/office/drawing/2014/main" id="{BB6706B7-201D-49BD-8629-04BEC50D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2" name="final-limits-bullet-text-674-394">
            <a:extLst xmlns:a="http://schemas.openxmlformats.org/drawingml/2006/main">
              <a:ext uri="{FF2B5EF4-FFF2-40B4-BE49-F238E27FC236}">
                <a16:creationId xmlns:a16="http://schemas.microsoft.com/office/drawing/2014/main" id="{62A3EDCE-4780-47FB-A18B-26596F6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Prescribing</a:t>
            </a:r>
          </a:p>
        </p:txBody>
      </p:sp>
      <p:sp>
        <p:nvSpPr>
          <p:cNvPr id="23" name="final-limits-bullet-icon-674-442">
            <a:extLst xmlns:a="http://schemas.openxmlformats.org/drawingml/2006/main">
              <a:ext uri="{FF2B5EF4-FFF2-40B4-BE49-F238E27FC236}">
                <a16:creationId xmlns:a16="http://schemas.microsoft.com/office/drawing/2014/main" id="{137E7459-A640-43C0-B56A-AA01773F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final-limits-bullet-text-674-442">
            <a:extLst xmlns:a="http://schemas.openxmlformats.org/drawingml/2006/main">
              <a:ext uri="{FF2B5EF4-FFF2-40B4-BE49-F238E27FC236}">
                <a16:creationId xmlns:a16="http://schemas.microsoft.com/office/drawing/2014/main" id="{106A744C-FF25-4501-9EC1-4D6386E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Dose calculation</a:t>
            </a:r>
          </a:p>
        </p:txBody>
      </p:sp>
      <p:sp>
        <p:nvSpPr>
          <p:cNvPr id="25" name="final-limits-bullet-icon-674-490">
            <a:extLst xmlns:a="http://schemas.openxmlformats.org/drawingml/2006/main">
              <a:ext uri="{FF2B5EF4-FFF2-40B4-BE49-F238E27FC236}">
                <a16:creationId xmlns:a16="http://schemas.microsoft.com/office/drawing/2014/main" id="{96AEBB96-DAD9-412D-9414-6E74064C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final-limits-bullet-text-674-490">
            <a:extLst xmlns:a="http://schemas.openxmlformats.org/drawingml/2006/main">
              <a:ext uri="{FF2B5EF4-FFF2-40B4-BE49-F238E27FC236}">
                <a16:creationId xmlns:a16="http://schemas.microsoft.com/office/drawing/2014/main" id="{AB779446-06BC-46DF-ACE3-784DF134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Appointment booking or emergency calls</a:t>
            </a:r>
          </a:p>
        </p:txBody>
      </p:sp>
      <p:sp>
        <p:nvSpPr>
          <p:cNvPr id="27" name="final-memory-band">
            <a:extLst xmlns:a="http://schemas.openxmlformats.org/drawingml/2006/main">
              <a:ext uri="{FF2B5EF4-FFF2-40B4-BE49-F238E27FC236}">
                <a16:creationId xmlns:a16="http://schemas.microsoft.com/office/drawing/2014/main" id="{88AB7EBB-D026-4B76-8C62-9B7AF2C2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610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8" name="final-memory-text">
            <a:extLst xmlns:a="http://schemas.openxmlformats.org/drawingml/2006/main">
              <a:ext uri="{FF2B5EF4-FFF2-40B4-BE49-F238E27FC236}">
                <a16:creationId xmlns:a16="http://schemas.microsoft.com/office/drawing/2014/main" id="{D796AB38-46B0-49F8-9455-F56692B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Patient context can grow. Clinical boundaries stay locked.</a:t>
            </a:r>
          </a:p>
        </p:txBody>
      </p:sp>
    </p:spTree>
    <p:extLst>
      <p:ext uri="{BB962C8B-B14F-4D97-AF65-F5344CB8AC3E}">
        <p14:creationId xmlns:p14="http://schemas.microsoft.com/office/powerpoint/2010/main" val="442036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WHY IT STANDS OUT">
            <a:extLst xmlns:a="http://schemas.openxmlformats.org/drawingml/2006/main">
              <a:ext uri="{FF2B5EF4-FFF2-40B4-BE49-F238E27FC236}">
                <a16:creationId xmlns:a16="http://schemas.microsoft.com/office/drawing/2014/main" id="{786EC47B-4C54-45DD-8947-04269F8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WHY IT STANDS OUT</a:t>
            </a:r>
          </a:p>
        </p:txBody>
      </p:sp>
      <p:sp>
        <p:nvSpPr>
          <p:cNvPr id="2" name="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FA6414F5-F893-42E5-B7C8-75F7BC9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adds the layers generic AI misses</a:t>
            </a:r>
          </a:p>
        </p:txBody>
      </p:sp>
      <p:sp>
        <p:nvSpPr>
          <p:cNvPr id="3" name="header-lin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9BEBD34B-43AC-4145-B469-F0F195B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24E9B570-B7BB-4242-891B-3FDA506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Memory, routing, and safety shift the answer from broad to focused.</a:t>
            </a:r>
          </a:p>
        </p:txBody>
      </p:sp>
      <p:sp>
        <p:nvSpPr>
          <p:cNvPr id="5" name="closing-band-1">
            <a:extLst xmlns:a="http://schemas.openxmlformats.org/drawingml/2006/main">
              <a:ext uri="{FF2B5EF4-FFF2-40B4-BE49-F238E27FC236}">
                <a16:creationId xmlns:a16="http://schemas.microsoft.com/office/drawing/2014/main" id="{4F317AB7-3445-4B6B-93EA-AB8DD15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osing-band-line-1">
            <a:extLst xmlns:a="http://schemas.openxmlformats.org/drawingml/2006/main">
              <a:ext uri="{FF2B5EF4-FFF2-40B4-BE49-F238E27FC236}">
                <a16:creationId xmlns:a16="http://schemas.microsoft.com/office/drawing/2014/main" id="{7893C896-1974-4341-907E-874F22F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losing-band-label-1">
            <a:extLst xmlns:a="http://schemas.openxmlformats.org/drawingml/2006/main">
              <a:ext uri="{FF2B5EF4-FFF2-40B4-BE49-F238E27FC236}">
                <a16:creationId xmlns:a16="http://schemas.microsoft.com/office/drawing/2014/main" id="{1CD980C9-3492-49E2-9AD6-1E8777BA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8" name="closing-band-generic-1">
            <a:extLst xmlns:a="http://schemas.openxmlformats.org/drawingml/2006/main">
              <a:ext uri="{FF2B5EF4-FFF2-40B4-BE49-F238E27FC236}">
                <a16:creationId xmlns:a16="http://schemas.microsoft.com/office/drawing/2014/main" id="{2CBB59D7-16DF-48F5-AC83-B65987A4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starts cold.</a:t>
            </a:r>
          </a:p>
        </p:txBody>
      </p:sp>
      <p:sp>
        <p:nvSpPr>
          <p:cNvPr id="9" name="closing-band-divider-1">
            <a:extLst xmlns:a="http://schemas.openxmlformats.org/drawingml/2006/main">
              <a:ext uri="{FF2B5EF4-FFF2-40B4-BE49-F238E27FC236}">
                <a16:creationId xmlns:a16="http://schemas.microsoft.com/office/drawing/2014/main" id="{69317E87-50FC-4AE9-86A1-478F1610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0" name="closing-band-care-1">
            <a:extLst xmlns:a="http://schemas.openxmlformats.org/drawingml/2006/main">
              <a:ext uri="{FF2B5EF4-FFF2-40B4-BE49-F238E27FC236}">
                <a16:creationId xmlns:a16="http://schemas.microsoft.com/office/drawing/2014/main" id="{ADB90335-23B3-4ADB-8548-3C81DC36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5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Care Nova reloads patient memory, records, and graph context.</a:t>
            </a:r>
          </a:p>
        </p:txBody>
      </p:sp>
      <p:sp>
        <p:nvSpPr>
          <p:cNvPr id="11" name="closing-band-2">
            <a:extLst xmlns:a="http://schemas.openxmlformats.org/drawingml/2006/main">
              <a:ext uri="{FF2B5EF4-FFF2-40B4-BE49-F238E27FC236}">
                <a16:creationId xmlns:a16="http://schemas.microsoft.com/office/drawing/2014/main" id="{F6A304BE-5285-45BB-B01A-D6106BC1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osing-band-line-2">
            <a:extLst xmlns:a="http://schemas.openxmlformats.org/drawingml/2006/main">
              <a:ext uri="{FF2B5EF4-FFF2-40B4-BE49-F238E27FC236}">
                <a16:creationId xmlns:a16="http://schemas.microsoft.com/office/drawing/2014/main" id="{FB20B1CE-4A3B-4335-83BE-5A0EF41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closing-band-label-2">
            <a:extLst xmlns:a="http://schemas.openxmlformats.org/drawingml/2006/main">
              <a:ext uri="{FF2B5EF4-FFF2-40B4-BE49-F238E27FC236}">
                <a16:creationId xmlns:a16="http://schemas.microsoft.com/office/drawing/2014/main" id="{4D12CAFA-9AC9-4998-86D1-489BBC2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ROUTING</a:t>
            </a:r>
          </a:p>
        </p:txBody>
      </p:sp>
      <p:sp>
        <p:nvSpPr>
          <p:cNvPr id="14" name="closing-band-generic-2">
            <a:extLst xmlns:a="http://schemas.openxmlformats.org/drawingml/2006/main">
              <a:ext uri="{FF2B5EF4-FFF2-40B4-BE49-F238E27FC236}">
                <a16:creationId xmlns:a16="http://schemas.microsoft.com/office/drawing/2014/main" id="{0096FAB3-DB83-4456-B368-592D4737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gives one broad answer.</a:t>
            </a:r>
          </a:p>
        </p:txBody>
      </p:sp>
      <p:sp>
        <p:nvSpPr>
          <p:cNvPr id="15" name="closing-band-divider-2">
            <a:extLst xmlns:a="http://schemas.openxmlformats.org/drawingml/2006/main">
              <a:ext uri="{FF2B5EF4-FFF2-40B4-BE49-F238E27FC236}">
                <a16:creationId xmlns:a16="http://schemas.microsoft.com/office/drawing/2014/main" id="{E03F4A08-1841-46EA-B784-C76A902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6" name="closing-band-care-2">
            <a:extLst xmlns:a="http://schemas.openxmlformats.org/drawingml/2006/main">
              <a:ext uri="{FF2B5EF4-FFF2-40B4-BE49-F238E27FC236}">
                <a16:creationId xmlns:a16="http://schemas.microsoft.com/office/drawing/2014/main" id="{2A8D10B7-E103-4549-8D7E-F22CC13B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Care Nova chooses the right specialist path before replying.</a:t>
            </a:r>
          </a:p>
        </p:txBody>
      </p:sp>
      <p:sp>
        <p:nvSpPr>
          <p:cNvPr id="17" name="closing-band-3">
            <a:extLst xmlns:a="http://schemas.openxmlformats.org/drawingml/2006/main">
              <a:ext uri="{FF2B5EF4-FFF2-40B4-BE49-F238E27FC236}">
                <a16:creationId xmlns:a16="http://schemas.microsoft.com/office/drawing/2014/main" id="{60F3795B-3C6A-4BCB-AEB9-1E466747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osing-band-line-3">
            <a:extLst xmlns:a="http://schemas.openxmlformats.org/drawingml/2006/main">
              <a:ext uri="{FF2B5EF4-FFF2-40B4-BE49-F238E27FC236}">
                <a16:creationId xmlns:a16="http://schemas.microsoft.com/office/drawing/2014/main" id="{880FCD2B-CC59-426F-B175-3FAA612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9" name="closing-band-label-3">
            <a:extLst xmlns:a="http://schemas.openxmlformats.org/drawingml/2006/main">
              <a:ext uri="{FF2B5EF4-FFF2-40B4-BE49-F238E27FC236}">
                <a16:creationId xmlns:a16="http://schemas.microsoft.com/office/drawing/2014/main" id="{50413802-22DD-404D-AA39-256296AB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0" name="closing-band-generic-3">
            <a:extLst xmlns:a="http://schemas.openxmlformats.org/drawingml/2006/main">
              <a:ext uri="{FF2B5EF4-FFF2-40B4-BE49-F238E27FC236}">
                <a16:creationId xmlns:a16="http://schemas.microsoft.com/office/drawing/2014/main" id="{33FE8719-30D5-4ADA-A9D6-004439B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can overstep.</a:t>
            </a:r>
          </a:p>
        </p:txBody>
      </p:sp>
      <p:sp>
        <p:nvSpPr>
          <p:cNvPr id="21" name="closing-band-divider-3">
            <a:extLst xmlns:a="http://schemas.openxmlformats.org/drawingml/2006/main">
              <a:ext uri="{FF2B5EF4-FFF2-40B4-BE49-F238E27FC236}">
                <a16:creationId xmlns:a16="http://schemas.microsoft.com/office/drawing/2014/main" id="{EEB07260-05B0-4CCE-816C-AFF6357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22" name="closing-band-care-3">
            <a:extLst xmlns:a="http://schemas.openxmlformats.org/drawingml/2006/main">
              <a:ext uri="{FF2B5EF4-FFF2-40B4-BE49-F238E27FC236}">
                <a16:creationId xmlns:a16="http://schemas.microsoft.com/office/drawing/2014/main" id="{7B5958C2-2BE0-4124-BDE4-F7DDC0C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86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1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Care Nova blocks diagnosis, prescribing, and dosage advice in the demo build.</a:t>
            </a:r>
          </a:p>
        </p:txBody>
      </p:sp>
      <p:sp>
        <p:nvSpPr>
          <p:cNvPr id="23" name="closing-summary-strip">
            <a:extLst xmlns:a="http://schemas.openxmlformats.org/drawingml/2006/main">
              <a:ext uri="{FF2B5EF4-FFF2-40B4-BE49-F238E27FC236}">
                <a16:creationId xmlns:a16="http://schemas.microsoft.com/office/drawing/2014/main" id="{B17D41BA-0038-4F59-ADA0-B6407BC5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4" name="closing-final-text">
            <a:extLst xmlns:a="http://schemas.openxmlformats.org/drawingml/2006/main">
              <a:ext uri="{FF2B5EF4-FFF2-40B4-BE49-F238E27FC236}">
                <a16:creationId xmlns:a16="http://schemas.microsoft.com/office/drawing/2014/main" id="{393487EB-DDEB-4C0E-B656-075C18CC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faster triage, more consistent guidance, and one clear next step.</a:t>
            </a:r>
          </a:p>
        </p:txBody>
      </p:sp>
    </p:spTree>
    <p:extLst>
      <p:ext uri="{BB962C8B-B14F-4D97-AF65-F5344CB8AC3E}">
        <p14:creationId xmlns:p14="http://schemas.microsoft.com/office/powerpoint/2010/main" val="9891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2026-07-05T09:12:13.0200000Z</dcterms:created>
  <dcterms:modified xsi:type="dcterms:W3CDTF">2026-07-05T09:12:13.0200000Z</dcterms:modified>
</coreProperties>
</file>