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ce062ef9e14a1a" /><Relationship Type="http://schemas.openxmlformats.org/officeDocument/2006/relationships/extended-properties" Target="/docProps/app.xml" Id="R5258a712d4f445c6" /><Relationship Type="http://schemas.openxmlformats.org/officeDocument/2006/relationships/officeDocument" Target="/ppt/presentation.xml" Id="R3497be745b9b40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5fef58739e4cfd"/>
  </p:sldMasterIdLst>
  <p:notesMasterIdLst>
    <p:notesMasterId xmlns:r="http://schemas.openxmlformats.org/officeDocument/2006/relationships" r:id="R86549c2a20da4647"/>
  </p:notesMasterIdLst>
  <p:sldIdLst>
    <p:sldId xmlns:r="http://schemas.openxmlformats.org/officeDocument/2006/relationships" id="256" r:id="Rebab2c5692ab45b5"/>
    <p:sldId xmlns:r="http://schemas.openxmlformats.org/officeDocument/2006/relationships" id="257" r:id="Re2916f815abb4e07"/>
    <p:sldId xmlns:r="http://schemas.openxmlformats.org/officeDocument/2006/relationships" id="258" r:id="Rb2772bdcb5cc4698"/>
    <p:sldId xmlns:r="http://schemas.openxmlformats.org/officeDocument/2006/relationships" id="259" r:id="R554104e728ed4599"/>
    <p:sldId xmlns:r="http://schemas.openxmlformats.org/officeDocument/2006/relationships" id="260" r:id="R191a2b4b3c8044aa"/>
    <p:sldId xmlns:r="http://schemas.openxmlformats.org/officeDocument/2006/relationships" id="261" r:id="R56a9f904cbb248ff"/>
    <p:sldId xmlns:r="http://schemas.openxmlformats.org/officeDocument/2006/relationships" id="262" r:id="R02e7b70767964957"/>
    <p:sldId xmlns:r="http://schemas.openxmlformats.org/officeDocument/2006/relationships" id="263" r:id="Rc0fd2a04f9ea448f"/>
    <p:sldId xmlns:r="http://schemas.openxmlformats.org/officeDocument/2006/relationships" id="264" r:id="R0bd811e63cd247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7bef2da246404a" /><Relationship Type="http://schemas.openxmlformats.org/officeDocument/2006/relationships/slideMaster" Target="/ppt/slideMasters/slideMaster1.xml" Id="R495fef58739e4cfd" /><Relationship Type="http://schemas.openxmlformats.org/officeDocument/2006/relationships/notesMaster" Target="/ppt/notesMasters/notesMaster1.xml" Id="R86549c2a20da4647" /><Relationship Type="http://schemas.openxmlformats.org/officeDocument/2006/relationships/presProps" Target="/ppt/presProps.xml" Id="R84b4591109a14e12" /><Relationship Type="http://schemas.openxmlformats.org/officeDocument/2006/relationships/tableStyles" Target="/ppt/tableStyles.xml" Id="R1e927a83ded54bd5" /><Relationship Type="http://schemas.openxmlformats.org/officeDocument/2006/relationships/slide" Target="/ppt/slides/slide1.xml" Id="Rebab2c5692ab45b5" /><Relationship Type="http://schemas.openxmlformats.org/officeDocument/2006/relationships/slide" Target="/ppt/slides/slide2.xml" Id="Re2916f815abb4e07" /><Relationship Type="http://schemas.openxmlformats.org/officeDocument/2006/relationships/slide" Target="/ppt/slides/slide3.xml" Id="Rb2772bdcb5cc4698" /><Relationship Type="http://schemas.openxmlformats.org/officeDocument/2006/relationships/slide" Target="/ppt/slides/slide4.xml" Id="R554104e728ed4599" /><Relationship Type="http://schemas.openxmlformats.org/officeDocument/2006/relationships/slide" Target="/ppt/slides/slide5.xml" Id="R191a2b4b3c8044aa" /><Relationship Type="http://schemas.openxmlformats.org/officeDocument/2006/relationships/slide" Target="/ppt/slides/slide6.xml" Id="R56a9f904cbb248ff" /><Relationship Type="http://schemas.openxmlformats.org/officeDocument/2006/relationships/slide" Target="/ppt/slides/slide7.xml" Id="R02e7b70767964957" /><Relationship Type="http://schemas.openxmlformats.org/officeDocument/2006/relationships/slide" Target="/ppt/slides/slide8.xml" Id="Rc0fd2a04f9ea448f" /><Relationship Type="http://schemas.openxmlformats.org/officeDocument/2006/relationships/slide" Target="/ppt/slides/slide9.xml" Id="R0bd811e63cd247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db1a313adf44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52d6b94049426e" /><Relationship Type="http://schemas.openxmlformats.org/officeDocument/2006/relationships/notesMaster" Target="/ppt/notesMasters/notesMaster1.xml" Id="R6aeb858a27dd4d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959b688d1b4850" /><Relationship Type="http://schemas.openxmlformats.org/officeDocument/2006/relationships/notesMaster" Target="/ppt/notesMasters/notesMaster1.xml" Id="Rede92a8fe1c547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05887abcc64f97" /><Relationship Type="http://schemas.openxmlformats.org/officeDocument/2006/relationships/notesMaster" Target="/ppt/notesMasters/notesMaster1.xml" Id="R8b3ae3a96bf148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bfb5f4e6df47e7" /><Relationship Type="http://schemas.openxmlformats.org/officeDocument/2006/relationships/notesMaster" Target="/ppt/notesMasters/notesMaster1.xml" Id="Rc0256adf96cd4e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e4d1ac122e4ea2" /><Relationship Type="http://schemas.openxmlformats.org/officeDocument/2006/relationships/notesMaster" Target="/ppt/notesMasters/notesMaster1.xml" Id="R9bcdd578a9f843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07133f2fbe4ace" /><Relationship Type="http://schemas.openxmlformats.org/officeDocument/2006/relationships/notesMaster" Target="/ppt/notesMasters/notesMaster1.xml" Id="R96e2b40cb3384c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d537998dc94a64" /><Relationship Type="http://schemas.openxmlformats.org/officeDocument/2006/relationships/notesMaster" Target="/ppt/notesMasters/notesMaster1.xml" Id="R097565e5952245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5b8f38ec1a456f" /><Relationship Type="http://schemas.openxmlformats.org/officeDocument/2006/relationships/notesMaster" Target="/ppt/notesMasters/notesMaster1.xml" Id="R71dd06615ea447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7060f921134ba6" /><Relationship Type="http://schemas.openxmlformats.org/officeDocument/2006/relationships/notesMaster" Target="/ppt/notesMasters/notesMaster1.xml" Id="R6f1d4b79320442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9057174db45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8e3edcfa1d4e39" /><Relationship Type="http://schemas.openxmlformats.org/officeDocument/2006/relationships/slideLayout" Target="/ppt/slideLayouts/slideLayout1.xml" Id="R7a0ed1e3948e4a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0ed1e3948e4a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d77f64c254b1e" /><Relationship Type="http://schemas.openxmlformats.org/officeDocument/2006/relationships/image" Target="/ppt/media/image.jpeg" Id="R8c1e6dc41aff4f8e" /><Relationship Type="http://schemas.openxmlformats.org/officeDocument/2006/relationships/notesSlide" Target="/ppt/notesSlides/notesSlide1.xml" Id="R1904519834264f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5e53d619a4a3f" /><Relationship Type="http://schemas.openxmlformats.org/officeDocument/2006/relationships/notesSlide" Target="/ppt/notesSlides/notesSlide2.xml" Id="R9f1816a7d35044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aa5bc2566473a" /><Relationship Type="http://schemas.openxmlformats.org/officeDocument/2006/relationships/image" Target="/ppt/media/image2.jpeg" Id="R0af632adae49473c" /><Relationship Type="http://schemas.openxmlformats.org/officeDocument/2006/relationships/notesSlide" Target="/ppt/notesSlides/notesSlide3.xml" Id="Ra0834a1d8bfc43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1ed17d3574ba2" /><Relationship Type="http://schemas.openxmlformats.org/officeDocument/2006/relationships/notesSlide" Target="/ppt/notesSlides/notesSlide4.xml" Id="R966c0c217efe4b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6624139004d91" /><Relationship Type="http://schemas.openxmlformats.org/officeDocument/2006/relationships/notesSlide" Target="/ppt/notesSlides/notesSlide5.xml" Id="R5079dcda67c743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2c36e1916475d" /><Relationship Type="http://schemas.openxmlformats.org/officeDocument/2006/relationships/notesSlide" Target="/ppt/notesSlides/notesSlide6.xml" Id="Rf694c130a90446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3566c52c94500" /><Relationship Type="http://schemas.openxmlformats.org/officeDocument/2006/relationships/image" Target="/ppt/media/image3.jpeg" Id="R78132b92534d4e5c" /><Relationship Type="http://schemas.openxmlformats.org/officeDocument/2006/relationships/notesSlide" Target="/ppt/notesSlides/notesSlide7.xml" Id="R8e8b220dfc1545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f9d09b09c471f" /><Relationship Type="http://schemas.openxmlformats.org/officeDocument/2006/relationships/notesSlide" Target="/ppt/notesSlides/notesSlide8.xml" Id="R0e38c0f1e8c241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bbce716e345df" /><Relationship Type="http://schemas.openxmlformats.org/officeDocument/2006/relationships/notesSlide" Target="/ppt/notesSlides/notesSlide9.xml" Id="R9b104e888bb240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-bar">
            <a:extLst xmlns:a="http://schemas.openxmlformats.org/drawingml/2006/main">
              <a:ext uri="{FF2B5EF4-FFF2-40B4-BE49-F238E27FC236}">
                <a16:creationId xmlns:a16="http://schemas.microsoft.com/office/drawing/2014/main" id="{3C4A39B0-4F06-4A49-AE83-9E6CD2DF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A04D070-716D-44BC-AE81-E924799F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HEALTHCARE AI DEMO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8B6CB88-EE05-4A0D-8076-58F2E27C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365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Care Nova AI</a:t>
            </a:r>
          </a:p>
        </p:txBody>
      </p:sp>
      <p:sp>
        <p:nvSpPr>
          <p:cNvPr id="4" name="cover-line">
            <a:extLst xmlns:a="http://schemas.openxmlformats.org/drawingml/2006/main">
              <a:ext uri="{FF2B5EF4-FFF2-40B4-BE49-F238E27FC236}">
                <a16:creationId xmlns:a16="http://schemas.microsoft.com/office/drawing/2014/main" id="{D020C1F5-6AA6-4708-A1E3-038DD3B9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971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7BA4133-C82E-4D2E-8448-68AB512A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390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869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Turns fragmented healthcare context into one clear, safety-checked next step.</a:t>
            </a:r>
          </a:p>
        </p:txBody>
      </p:sp>
      <p:sp>
        <p:nvSpPr>
          <p:cNvPr id="6" name="cover-supporting-line">
            <a:extLst xmlns:a="http://schemas.openxmlformats.org/drawingml/2006/main">
              <a:ext uri="{FF2B5EF4-FFF2-40B4-BE49-F238E27FC236}">
                <a16:creationId xmlns:a16="http://schemas.microsoft.com/office/drawing/2014/main" id="{30AE093F-B071-4157-997C-125D50BA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6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Built for healthcare, not generic chat.</a:t>
            </a:r>
          </a:p>
        </p:txBody>
      </p:sp>
      <p:sp>
        <p:nvSpPr>
          <p:cNvPr id="7" name="cover-key-line-1">
            <a:extLst xmlns:a="http://schemas.openxmlformats.org/drawingml/2006/main">
              <a:ext uri="{FF2B5EF4-FFF2-40B4-BE49-F238E27FC236}">
                <a16:creationId xmlns:a16="http://schemas.microsoft.com/office/drawing/2014/main" id="{1324665B-34B4-4E10-A5DC-7A5EF49B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8" name="cover-key-text-1">
            <a:extLst xmlns:a="http://schemas.openxmlformats.org/drawingml/2006/main">
              <a:ext uri="{FF2B5EF4-FFF2-40B4-BE49-F238E27FC236}">
                <a16:creationId xmlns:a16="http://schemas.microsoft.com/office/drawing/2014/main" id="{B15907CA-74D2-4F7F-A1EF-19351E4A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Local-first privacy</a:t>
            </a:r>
          </a:p>
        </p:txBody>
      </p:sp>
      <p:sp>
        <p:nvSpPr>
          <p:cNvPr id="9" name="cover-key-line-2">
            <a:extLst xmlns:a="http://schemas.openxmlformats.org/drawingml/2006/main">
              <a:ext uri="{FF2B5EF4-FFF2-40B4-BE49-F238E27FC236}">
                <a16:creationId xmlns:a16="http://schemas.microsoft.com/office/drawing/2014/main" id="{BF17553F-2A16-493F-861D-71C2D480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0" name="cover-key-text-2">
            <a:extLst xmlns:a="http://schemas.openxmlformats.org/drawingml/2006/main">
              <a:ext uri="{FF2B5EF4-FFF2-40B4-BE49-F238E27FC236}">
                <a16:creationId xmlns:a16="http://schemas.microsoft.com/office/drawing/2014/main" id="{BC201D80-9E75-406D-8370-BFB127E1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Specialist routing + evidence</a:t>
            </a:r>
          </a:p>
        </p:txBody>
      </p:sp>
      <p:sp>
        <p:nvSpPr>
          <p:cNvPr id="11" name="cover-key-line-3">
            <a:extLst xmlns:a="http://schemas.openxmlformats.org/drawingml/2006/main">
              <a:ext uri="{FF2B5EF4-FFF2-40B4-BE49-F238E27FC236}">
                <a16:creationId xmlns:a16="http://schemas.microsoft.com/office/drawing/2014/main" id="{D7C5CFAC-630A-4E74-8935-1BF9FC12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2" name="cover-key-text-3">
            <a:extLst xmlns:a="http://schemas.openxmlformats.org/drawingml/2006/main">
              <a:ext uri="{FF2B5EF4-FFF2-40B4-BE49-F238E27FC236}">
                <a16:creationId xmlns:a16="http://schemas.microsoft.com/office/drawing/2014/main" id="{0A4F18CD-420E-48C5-944C-03328BEC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Safety boundary built in</a:t>
            </a:r>
          </a:p>
        </p:txBody>
      </p:sp>
      <p:sp>
        <p:nvSpPr>
          <p:cNvPr id="13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5D48FA2B-D473-49A8-BB73-7AE65C47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Cloud access is optional, not required.</a:t>
            </a:r>
          </a:p>
        </p:txBody>
      </p:sp>
      <p:sp>
        <p:nvSpPr>
          <p:cNvPr id="14" name="cover-desktop-backplate">
            <a:extLst xmlns:a="http://schemas.openxmlformats.org/drawingml/2006/main">
              <a:ext uri="{FF2B5EF4-FFF2-40B4-BE49-F238E27FC236}">
                <a16:creationId xmlns:a16="http://schemas.microsoft.com/office/drawing/2014/main" id="{415E4401-CAD1-448A-921C-6E14E0B1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"/>
            <a:ext cx="7429500" cy="60198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15" name="cover-desktop-frame">
            <a:extLst xmlns:a="http://schemas.openxmlformats.org/drawingml/2006/main">
              <a:ext uri="{FF2B5EF4-FFF2-40B4-BE49-F238E27FC236}">
                <a16:creationId xmlns:a16="http://schemas.microsoft.com/office/drawing/2014/main" id="{6D54DA40-DF02-4952-96F8-B159624F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4350"/>
            <a:ext cx="7200900" cy="57912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e6dc41aff4f8e"/>
          <a:srcRect xmlns:a="http://schemas.openxmlformats.org/drawingml/2006/main" l="14614" t="0" r="146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514350"/>
            <a:ext cx="7200900" cy="57912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011108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APPLICATION">
            <a:extLst xmlns:a="http://schemas.openxmlformats.org/drawingml/2006/main">
              <a:ext uri="{FF2B5EF4-FFF2-40B4-BE49-F238E27FC236}">
                <a16:creationId xmlns:a16="http://schemas.microsoft.com/office/drawing/2014/main" id="{8C5E7622-37CF-457A-932A-5A48F8CE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APPLICATION</a:t>
            </a:r>
          </a:p>
        </p:txBody>
      </p:sp>
      <p:sp>
        <p:nvSpPr>
          <p:cNvPr id="2" name="titl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A1ACA267-22F2-417C-BB70-93C85A54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From fragmented care data to one next step</a:t>
            </a:r>
          </a:p>
        </p:txBody>
      </p:sp>
      <p:sp>
        <p:nvSpPr>
          <p:cNvPr id="3" name="header-lin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980758ED-C39D-4B19-A636-D8A7B55F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124B3FB0-7EC3-4756-BE22-CCC78633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Scattered care context becomes one focused, safety-checked response.</a:t>
            </a:r>
          </a:p>
        </p:txBody>
      </p:sp>
      <p:sp>
        <p:nvSpPr>
          <p:cNvPr id="5" name="application-input-panel">
            <a:extLst xmlns:a="http://schemas.openxmlformats.org/drawingml/2006/main">
              <a:ext uri="{FF2B5EF4-FFF2-40B4-BE49-F238E27FC236}">
                <a16:creationId xmlns:a16="http://schemas.microsoft.com/office/drawing/2014/main" id="{F2188DA9-20C3-49C2-B4B4-2110DD15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38350"/>
            <a:ext cx="43624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application-input-line">
            <a:extLst xmlns:a="http://schemas.openxmlformats.org/drawingml/2006/main">
              <a:ext uri="{FF2B5EF4-FFF2-40B4-BE49-F238E27FC236}">
                <a16:creationId xmlns:a16="http://schemas.microsoft.com/office/drawing/2014/main" id="{A49B300E-136D-4F47-815F-2F99023A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application-input-title">
            <a:extLst xmlns:a="http://schemas.openxmlformats.org/drawingml/2006/main">
              <a:ext uri="{FF2B5EF4-FFF2-40B4-BE49-F238E27FC236}">
                <a16:creationId xmlns:a16="http://schemas.microsoft.com/office/drawing/2014/main" id="{C4EA1ABD-4372-48F3-936D-6A294DA0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What comes in</a:t>
            </a:r>
          </a:p>
        </p:txBody>
      </p:sp>
      <p:sp>
        <p:nvSpPr>
          <p:cNvPr id="8" name="application-input-body">
            <a:extLst xmlns:a="http://schemas.openxmlformats.org/drawingml/2006/main">
              <a:ext uri="{FF2B5EF4-FFF2-40B4-BE49-F238E27FC236}">
                <a16:creationId xmlns:a16="http://schemas.microsoft.com/office/drawing/2014/main" id="{ABAE4EFE-49F6-428D-B267-6A3F2031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Healthcare context is usually scattered.</a:t>
            </a:r>
          </a:p>
        </p:txBody>
      </p:sp>
      <p:sp>
        <p:nvSpPr>
          <p:cNvPr id="9" name="application-input-pill-1-panel">
            <a:extLst xmlns:a="http://schemas.openxmlformats.org/drawingml/2006/main">
              <a:ext uri="{FF2B5EF4-FFF2-40B4-BE49-F238E27FC236}">
                <a16:creationId xmlns:a16="http://schemas.microsoft.com/office/drawing/2014/main" id="{C4C30571-820B-4E45-907C-7A9F13D2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7F5"/>
            </a:solidFill>
            <a:prstDash val="solid"/>
          </a:ln>
        </p:spPr>
      </p:sp>
      <p:sp>
        <p:nvSpPr>
          <p:cNvPr id="10" name="application-input-pill-1-text">
            <a:extLst xmlns:a="http://schemas.openxmlformats.org/drawingml/2006/main">
              <a:ext uri="{FF2B5EF4-FFF2-40B4-BE49-F238E27FC236}">
                <a16:creationId xmlns:a16="http://schemas.microsoft.com/office/drawing/2014/main" id="{A9BEBE66-DAE8-4111-B1BC-07734812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Symptoms</a:t>
            </a:r>
          </a:p>
        </p:txBody>
      </p:sp>
      <p:sp>
        <p:nvSpPr>
          <p:cNvPr id="11" name="application-input-pill-2-panel">
            <a:extLst xmlns:a="http://schemas.openxmlformats.org/drawingml/2006/main">
              <a:ext uri="{FF2B5EF4-FFF2-40B4-BE49-F238E27FC236}">
                <a16:creationId xmlns:a16="http://schemas.microsoft.com/office/drawing/2014/main" id="{D42DF71C-11D4-4148-94CD-9BA2554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433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7EFE8"/>
            </a:solidFill>
            <a:prstDash val="solid"/>
          </a:ln>
        </p:spPr>
      </p:sp>
      <p:sp>
        <p:nvSpPr>
          <p:cNvPr id="12" name="application-input-pill-2-text">
            <a:extLst xmlns:a="http://schemas.openxmlformats.org/drawingml/2006/main">
              <a:ext uri="{FF2B5EF4-FFF2-40B4-BE49-F238E27FC236}">
                <a16:creationId xmlns:a16="http://schemas.microsoft.com/office/drawing/2014/main" id="{E254FBCB-7AB0-4F61-9AC1-57561D79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62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Vitals</a:t>
            </a:r>
          </a:p>
        </p:txBody>
      </p:sp>
      <p:sp>
        <p:nvSpPr>
          <p:cNvPr id="13" name="application-input-pill-3-panel">
            <a:extLst xmlns:a="http://schemas.openxmlformats.org/drawingml/2006/main">
              <a:ext uri="{FF2B5EF4-FFF2-40B4-BE49-F238E27FC236}">
                <a16:creationId xmlns:a16="http://schemas.microsoft.com/office/drawing/2014/main" id="{1576BE17-6718-4007-8315-DBA0CA1D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5E0D4"/>
            </a:solidFill>
            <a:prstDash val="solid"/>
          </a:ln>
        </p:spPr>
      </p:sp>
      <p:sp>
        <p:nvSpPr>
          <p:cNvPr id="14" name="application-input-pill-3-text">
            <a:extLst xmlns:a="http://schemas.openxmlformats.org/drawingml/2006/main">
              <a:ext uri="{FF2B5EF4-FFF2-40B4-BE49-F238E27FC236}">
                <a16:creationId xmlns:a16="http://schemas.microsoft.com/office/drawing/2014/main" id="{DF2F7754-ABE7-4C4F-8B4A-229FE7CC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Medicines</a:t>
            </a:r>
          </a:p>
        </p:txBody>
      </p:sp>
      <p:sp>
        <p:nvSpPr>
          <p:cNvPr id="15" name="application-input-pill-4-panel">
            <a:extLst xmlns:a="http://schemas.openxmlformats.org/drawingml/2006/main">
              <a:ext uri="{FF2B5EF4-FFF2-40B4-BE49-F238E27FC236}">
                <a16:creationId xmlns:a16="http://schemas.microsoft.com/office/drawing/2014/main" id="{68540AA0-4D6D-4C53-9BD2-38C7665D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386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7F5"/>
            </a:solidFill>
            <a:prstDash val="solid"/>
          </a:ln>
        </p:spPr>
      </p:sp>
      <p:sp>
        <p:nvSpPr>
          <p:cNvPr id="16" name="application-input-pill-4-text">
            <a:extLst xmlns:a="http://schemas.openxmlformats.org/drawingml/2006/main">
              <a:ext uri="{FF2B5EF4-FFF2-40B4-BE49-F238E27FC236}">
                <a16:creationId xmlns:a16="http://schemas.microsoft.com/office/drawing/2014/main" id="{D0CDB2C7-8074-4736-B89A-AE304766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7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Labs</a:t>
            </a:r>
          </a:p>
        </p:txBody>
      </p:sp>
      <p:sp>
        <p:nvSpPr>
          <p:cNvPr id="17" name="application-input-pill-5-panel">
            <a:extLst xmlns:a="http://schemas.openxmlformats.org/drawingml/2006/main">
              <a:ext uri="{FF2B5EF4-FFF2-40B4-BE49-F238E27FC236}">
                <a16:creationId xmlns:a16="http://schemas.microsoft.com/office/drawing/2014/main" id="{198E4412-D1C3-4B81-96C7-135CBCDF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7EFE8"/>
            </a:solidFill>
            <a:prstDash val="solid"/>
          </a:ln>
        </p:spPr>
      </p:sp>
      <p:sp>
        <p:nvSpPr>
          <p:cNvPr id="18" name="application-input-pill-5-text">
            <a:extLst xmlns:a="http://schemas.openxmlformats.org/drawingml/2006/main">
              <a:ext uri="{FF2B5EF4-FFF2-40B4-BE49-F238E27FC236}">
                <a16:creationId xmlns:a16="http://schemas.microsoft.com/office/drawing/2014/main" id="{2A03A966-356A-4A7A-8F0A-A1B0B950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Records</a:t>
            </a:r>
          </a:p>
        </p:txBody>
      </p:sp>
      <p:sp>
        <p:nvSpPr>
          <p:cNvPr id="19" name="application-input-pill-6-panel">
            <a:extLst xmlns:a="http://schemas.openxmlformats.org/drawingml/2006/main">
              <a:ext uri="{FF2B5EF4-FFF2-40B4-BE49-F238E27FC236}">
                <a16:creationId xmlns:a16="http://schemas.microsoft.com/office/drawing/2014/main" id="{CEB6471E-9AEB-46E3-92E8-8AF47E2A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339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5E0D4"/>
            </a:solidFill>
            <a:prstDash val="solid"/>
          </a:ln>
        </p:spPr>
      </p:sp>
      <p:sp>
        <p:nvSpPr>
          <p:cNvPr id="20" name="application-input-pill-6-text">
            <a:extLst xmlns:a="http://schemas.openxmlformats.org/drawingml/2006/main">
              <a:ext uri="{FF2B5EF4-FFF2-40B4-BE49-F238E27FC236}">
                <a16:creationId xmlns:a16="http://schemas.microsoft.com/office/drawing/2014/main" id="{5820A71E-5A9D-4FE6-AF87-0A000103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52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Insurance</a:t>
            </a:r>
          </a:p>
        </p:txBody>
      </p:sp>
      <p:sp>
        <p:nvSpPr>
          <p:cNvPr id="21" name="application-input-close">
            <a:extLst xmlns:a="http://schemas.openxmlformats.org/drawingml/2006/main">
              <a:ext uri="{FF2B5EF4-FFF2-40B4-BE49-F238E27FC236}">
                <a16:creationId xmlns:a16="http://schemas.microsoft.com/office/drawing/2014/main" id="{A6DC87D0-78F5-4167-AF0C-5293AA35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3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Users struggle to turn this into one safe action.</a:t>
            </a:r>
          </a:p>
        </p:txBody>
      </p:sp>
      <p:sp>
        <p:nvSpPr>
          <p:cNvPr id="22" name="application-output-panel">
            <a:extLst xmlns:a="http://schemas.openxmlformats.org/drawingml/2006/main">
              <a:ext uri="{FF2B5EF4-FFF2-40B4-BE49-F238E27FC236}">
                <a16:creationId xmlns:a16="http://schemas.microsoft.com/office/drawing/2014/main" id="{8F0937F1-4518-4259-A812-4917D5CC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66484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application-output-line">
            <a:extLst xmlns:a="http://schemas.openxmlformats.org/drawingml/2006/main">
              <a:ext uri="{FF2B5EF4-FFF2-40B4-BE49-F238E27FC236}">
                <a16:creationId xmlns:a16="http://schemas.microsoft.com/office/drawing/2014/main" id="{3A709BCB-5C73-4E97-8BE6-0D1B6B58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669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application-output-title">
            <a:extLst xmlns:a="http://schemas.openxmlformats.org/drawingml/2006/main">
              <a:ext uri="{FF2B5EF4-FFF2-40B4-BE49-F238E27FC236}">
                <a16:creationId xmlns:a16="http://schemas.microsoft.com/office/drawing/2014/main" id="{094C695E-BBE1-4F3C-B697-1CC3A7D8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14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What comes out</a:t>
            </a:r>
          </a:p>
        </p:txBody>
      </p:sp>
      <p:sp>
        <p:nvSpPr>
          <p:cNvPr id="25" name="application-output-hero">
            <a:extLst xmlns:a="http://schemas.openxmlformats.org/drawingml/2006/main">
              <a:ext uri="{FF2B5EF4-FFF2-40B4-BE49-F238E27FC236}">
                <a16:creationId xmlns:a16="http://schemas.microsoft.com/office/drawing/2014/main" id="{60C0AE00-913E-4AAE-A17A-EF7F8081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990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One focused,</a:t>
            </a:r>
          </a:p>
          <a:p xmlns:a="http://schemas.openxmlformats.org/drawingml/2006/main">
            <a:pPr algn="l">
              <a:defRPr sz="30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safety-checked next step.</a:t>
            </a:r>
          </a:p>
        </p:txBody>
      </p:sp>
      <p:sp>
        <p:nvSpPr>
          <p:cNvPr id="26" name="application-output-bullet-icon-562-432">
            <a:extLst xmlns:a="http://schemas.openxmlformats.org/drawingml/2006/main">
              <a:ext uri="{FF2B5EF4-FFF2-40B4-BE49-F238E27FC236}">
                <a16:creationId xmlns:a16="http://schemas.microsoft.com/office/drawing/2014/main" id="{9B848986-A66A-4836-B2E9-FE2D77BD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91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27" name="application-output-bullet-text-562-432">
            <a:extLst xmlns:a="http://schemas.openxmlformats.org/drawingml/2006/main">
              <a:ext uri="{FF2B5EF4-FFF2-40B4-BE49-F238E27FC236}">
                <a16:creationId xmlns:a16="http://schemas.microsoft.com/office/drawing/2014/main" id="{E5ABE4B5-3464-44CB-B982-34A26D59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148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Relevant risk level</a:t>
            </a:r>
          </a:p>
        </p:txBody>
      </p:sp>
      <p:sp>
        <p:nvSpPr>
          <p:cNvPr id="28" name="application-output-bullet-icon-562-474">
            <a:extLst xmlns:a="http://schemas.openxmlformats.org/drawingml/2006/main">
              <a:ext uri="{FF2B5EF4-FFF2-40B4-BE49-F238E27FC236}">
                <a16:creationId xmlns:a16="http://schemas.microsoft.com/office/drawing/2014/main" id="{22824B25-577D-425E-9FD7-D39DC803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91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9" name="application-output-bullet-text-562-474">
            <a:extLst xmlns:a="http://schemas.openxmlformats.org/drawingml/2006/main">
              <a:ext uri="{FF2B5EF4-FFF2-40B4-BE49-F238E27FC236}">
                <a16:creationId xmlns:a16="http://schemas.microsoft.com/office/drawing/2014/main" id="{4794CAE8-533C-445C-9F9A-7C0C8B5F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14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Evidence-backed reason</a:t>
            </a:r>
          </a:p>
        </p:txBody>
      </p:sp>
      <p:sp>
        <p:nvSpPr>
          <p:cNvPr id="30" name="application-output-bullet-icon-562-516">
            <a:extLst xmlns:a="http://schemas.openxmlformats.org/drawingml/2006/main">
              <a:ext uri="{FF2B5EF4-FFF2-40B4-BE49-F238E27FC236}">
                <a16:creationId xmlns:a16="http://schemas.microsoft.com/office/drawing/2014/main" id="{72A34BF3-72BF-4334-AD1D-6B4D77A2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991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1" name="application-output-bullet-text-562-516">
            <a:extLst xmlns:a="http://schemas.openxmlformats.org/drawingml/2006/main">
              <a:ext uri="{FF2B5EF4-FFF2-40B4-BE49-F238E27FC236}">
                <a16:creationId xmlns:a16="http://schemas.microsoft.com/office/drawing/2014/main" id="{48FF4FAB-74AD-440C-84DA-D7728944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149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Focused next action</a:t>
            </a:r>
          </a:p>
        </p:txBody>
      </p:sp>
      <p:sp>
        <p:nvSpPr>
          <p:cNvPr id="32" name="application-output-close">
            <a:extLst xmlns:a="http://schemas.openxmlformats.org/drawingml/2006/main">
              <a:ext uri="{FF2B5EF4-FFF2-40B4-BE49-F238E27FC236}">
                <a16:creationId xmlns:a16="http://schemas.microsoft.com/office/drawing/2014/main" id="{243D1F21-A1B4-46C4-BF76-60959A48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53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Not a broad answer. A guided next step.</a:t>
            </a:r>
          </a:p>
        </p:txBody>
      </p:sp>
      <p:sp>
        <p:nvSpPr>
          <p:cNvPr id="33" name="app-footer-card">
            <a:extLst xmlns:a="http://schemas.openxmlformats.org/drawingml/2006/main">
              <a:ext uri="{FF2B5EF4-FFF2-40B4-BE49-F238E27FC236}">
                <a16:creationId xmlns:a16="http://schemas.microsoft.com/office/drawing/2014/main" id="{139921F1-5284-4E2E-A401-7F9DF722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72200"/>
            <a:ext cx="113538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E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app-bottom-line">
            <a:extLst xmlns:a="http://schemas.openxmlformats.org/drawingml/2006/main">
              <a:ext uri="{FF2B5EF4-FFF2-40B4-BE49-F238E27FC236}">
                <a16:creationId xmlns:a16="http://schemas.microsoft.com/office/drawing/2014/main" id="{F847FFA2-E19F-4175-8024-B01123F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35" name="app-bottom-text">
            <a:extLst xmlns:a="http://schemas.openxmlformats.org/drawingml/2006/main">
              <a:ext uri="{FF2B5EF4-FFF2-40B4-BE49-F238E27FC236}">
                <a16:creationId xmlns:a16="http://schemas.microsoft.com/office/drawing/2014/main" id="{E8296912-F357-49AE-B27E-60BB9462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Care Nova organizes context before it answers.</a:t>
            </a:r>
          </a:p>
        </p:txBody>
      </p:sp>
    </p:spTree>
    <p:extLst>
      <p:ext uri="{BB962C8B-B14F-4D97-AF65-F5344CB8AC3E}">
        <p14:creationId xmlns:p14="http://schemas.microsoft.com/office/powerpoint/2010/main" val="20966342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MODEL WORKFLOW">
            <a:extLst xmlns:a="http://schemas.openxmlformats.org/drawingml/2006/main">
              <a:ext uri="{FF2B5EF4-FFF2-40B4-BE49-F238E27FC236}">
                <a16:creationId xmlns:a16="http://schemas.microsoft.com/office/drawing/2014/main" id="{5BEE9A0D-FC07-4CCF-8827-15427F63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MODEL WORKFLOW</a:t>
            </a:r>
          </a:p>
        </p:txBody>
      </p:sp>
      <p:sp>
        <p:nvSpPr>
          <p:cNvPr id="2" name="titl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8E86AF7E-2E25-4CD0-96EB-B3366F60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Why it is not a normal chatbot</a:t>
            </a:r>
          </a:p>
        </p:txBody>
      </p:sp>
      <p:sp>
        <p:nvSpPr>
          <p:cNvPr id="3" name="header-lin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B14CF144-16D6-4605-81AB-2FED1D18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4" name="subtitl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385282C7-3F2C-4E3B-A208-400E5BC7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A generic chatbot answers once. Care Nova checks, routes, and guards first.</a:t>
            </a:r>
          </a:p>
        </p:txBody>
      </p:sp>
      <p:sp>
        <p:nvSpPr>
          <p:cNvPr id="5" name="workflow-spine">
            <a:extLst xmlns:a="http://schemas.openxmlformats.org/drawingml/2006/main">
              <a:ext uri="{FF2B5EF4-FFF2-40B4-BE49-F238E27FC236}">
                <a16:creationId xmlns:a16="http://schemas.microsoft.com/office/drawing/2014/main" id="{CEECCBAA-1369-48B9-9D63-37C5CB21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4"/>
          </a:solidFill>
          <a:ln xmlns:a="http://schemas.openxmlformats.org/drawingml/2006/main" w="0">
            <a:solidFill>
              <a:srgbClr val="CCD9E4"/>
            </a:solidFill>
            <a:prstDash val="solid"/>
          </a:ln>
        </p:spPr>
      </p:sp>
      <p:sp>
        <p:nvSpPr>
          <p:cNvPr id="6" name="workflow-step-1-panel">
            <a:extLst xmlns:a="http://schemas.openxmlformats.org/drawingml/2006/main">
              <a:ext uri="{FF2B5EF4-FFF2-40B4-BE49-F238E27FC236}">
                <a16:creationId xmlns:a16="http://schemas.microsoft.com/office/drawing/2014/main" id="{6FF836C4-5ABB-4966-BAEB-FF417650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7" name="workflow-step-1-text">
            <a:extLst xmlns:a="http://schemas.openxmlformats.org/drawingml/2006/main">
              <a:ext uri="{FF2B5EF4-FFF2-40B4-BE49-F238E27FC236}">
                <a16:creationId xmlns:a16="http://schemas.microsoft.com/office/drawing/2014/main" id="{B086A120-BFB9-44E6-B033-0214B739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workflow-step-title-1">
            <a:extLst xmlns:a="http://schemas.openxmlformats.org/drawingml/2006/main">
              <a:ext uri="{FF2B5EF4-FFF2-40B4-BE49-F238E27FC236}">
                <a16:creationId xmlns:a16="http://schemas.microsoft.com/office/drawing/2014/main" id="{6103CAB1-D033-46A1-97B0-BBA108FA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Patient input</a:t>
            </a:r>
          </a:p>
        </p:txBody>
      </p:sp>
      <p:sp>
        <p:nvSpPr>
          <p:cNvPr id="9" name="workflow-step-body-1">
            <a:extLst xmlns:a="http://schemas.openxmlformats.org/drawingml/2006/main">
              <a:ext uri="{FF2B5EF4-FFF2-40B4-BE49-F238E27FC236}">
                <a16:creationId xmlns:a16="http://schemas.microsoft.com/office/drawing/2014/main" id="{A02191B4-34DF-444B-B680-65932B5D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Symptom, reading, medicine question, or care request enters.</a:t>
            </a:r>
          </a:p>
        </p:txBody>
      </p:sp>
      <p:sp>
        <p:nvSpPr>
          <p:cNvPr id="10" name="workflow-step-2-panel">
            <a:extLst xmlns:a="http://schemas.openxmlformats.org/drawingml/2006/main">
              <a:ext uri="{FF2B5EF4-FFF2-40B4-BE49-F238E27FC236}">
                <a16:creationId xmlns:a16="http://schemas.microsoft.com/office/drawing/2014/main" id="{45584E21-D59A-478A-B798-EE057E61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49C9C"/>
          </a:solidFill>
          <a:ln xmlns:a="http://schemas.openxmlformats.org/drawingml/2006/main" w="9525">
            <a:solidFill>
              <a:srgbClr val="149C9C"/>
            </a:solidFill>
            <a:prstDash val="solid"/>
          </a:ln>
        </p:spPr>
      </p:sp>
      <p:sp>
        <p:nvSpPr>
          <p:cNvPr id="11" name="workflow-step-2-text">
            <a:extLst xmlns:a="http://schemas.openxmlformats.org/drawingml/2006/main">
              <a:ext uri="{FF2B5EF4-FFF2-40B4-BE49-F238E27FC236}">
                <a16:creationId xmlns:a16="http://schemas.microsoft.com/office/drawing/2014/main" id="{0D1D4830-3997-45B5-8D77-CD89A4A8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2" name="workflow-step-title-2">
            <a:extLst xmlns:a="http://schemas.openxmlformats.org/drawingml/2006/main">
              <a:ext uri="{FF2B5EF4-FFF2-40B4-BE49-F238E27FC236}">
                <a16:creationId xmlns:a16="http://schemas.microsoft.com/office/drawing/2014/main" id="{8B1588AB-998C-47A0-BE22-8C8F2315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Memory load</a:t>
            </a:r>
          </a:p>
        </p:txBody>
      </p:sp>
      <p:sp>
        <p:nvSpPr>
          <p:cNvPr id="13" name="workflow-step-body-2">
            <a:extLst xmlns:a="http://schemas.openxmlformats.org/drawingml/2006/main">
              <a:ext uri="{FF2B5EF4-FFF2-40B4-BE49-F238E27FC236}">
                <a16:creationId xmlns:a16="http://schemas.microsoft.com/office/drawing/2014/main" id="{219D30BF-AFD4-4376-BA6D-ACC33D71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Recent patient context reloads before analysis starts.</a:t>
            </a:r>
          </a:p>
        </p:txBody>
      </p:sp>
      <p:sp>
        <p:nvSpPr>
          <p:cNvPr id="14" name="workflow-step-3-panel">
            <a:extLst xmlns:a="http://schemas.openxmlformats.org/drawingml/2006/main">
              <a:ext uri="{FF2B5EF4-FFF2-40B4-BE49-F238E27FC236}">
                <a16:creationId xmlns:a16="http://schemas.microsoft.com/office/drawing/2014/main" id="{7CCF35E6-18D7-4BB5-8C9F-5C0ADC33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C4C"/>
          </a:solidFill>
          <a:ln xmlns:a="http://schemas.openxmlformats.org/drawingml/2006/main" w="9525">
            <a:solidFill>
              <a:srgbClr val="F47C4C"/>
            </a:solidFill>
            <a:prstDash val="solid"/>
          </a:ln>
        </p:spPr>
      </p:sp>
      <p:sp>
        <p:nvSpPr>
          <p:cNvPr id="15" name="workflow-step-3-text">
            <a:extLst xmlns:a="http://schemas.openxmlformats.org/drawingml/2006/main">
              <a:ext uri="{FF2B5EF4-FFF2-40B4-BE49-F238E27FC236}">
                <a16:creationId xmlns:a16="http://schemas.microsoft.com/office/drawing/2014/main" id="{4546D0D4-449F-49EB-8D92-7A3F809C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6" name="workflow-step-title-3">
            <a:extLst xmlns:a="http://schemas.openxmlformats.org/drawingml/2006/main">
              <a:ext uri="{FF2B5EF4-FFF2-40B4-BE49-F238E27FC236}">
                <a16:creationId xmlns:a16="http://schemas.microsoft.com/office/drawing/2014/main" id="{FDD682E1-5275-40AF-8054-A816EADB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Intent classify</a:t>
            </a:r>
          </a:p>
        </p:txBody>
      </p:sp>
      <p:sp>
        <p:nvSpPr>
          <p:cNvPr id="17" name="workflow-step-body-3">
            <a:extLst xmlns:a="http://schemas.openxmlformats.org/drawingml/2006/main">
              <a:ext uri="{FF2B5EF4-FFF2-40B4-BE49-F238E27FC236}">
                <a16:creationId xmlns:a16="http://schemas.microsoft.com/office/drawing/2014/main" id="{9C15785B-A02B-40AD-86A7-7412AD23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The request is routed into the correct care path.</a:t>
            </a:r>
          </a:p>
        </p:txBody>
      </p:sp>
      <p:sp>
        <p:nvSpPr>
          <p:cNvPr id="18" name="workflow-step-4-panel">
            <a:extLst xmlns:a="http://schemas.openxmlformats.org/drawingml/2006/main">
              <a:ext uri="{FF2B5EF4-FFF2-40B4-BE49-F238E27FC236}">
                <a16:creationId xmlns:a16="http://schemas.microsoft.com/office/drawing/2014/main" id="{08477F49-7723-4CDD-8394-936F640A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19" name="workflow-step-4-text">
            <a:extLst xmlns:a="http://schemas.openxmlformats.org/drawingml/2006/main">
              <a:ext uri="{FF2B5EF4-FFF2-40B4-BE49-F238E27FC236}">
                <a16:creationId xmlns:a16="http://schemas.microsoft.com/office/drawing/2014/main" id="{77E460E5-9EB6-4B6F-8C4F-689C15FE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0" name="workflow-step-title-4">
            <a:extLst xmlns:a="http://schemas.openxmlformats.org/drawingml/2006/main">
              <a:ext uri="{FF2B5EF4-FFF2-40B4-BE49-F238E27FC236}">
                <a16:creationId xmlns:a16="http://schemas.microsoft.com/office/drawing/2014/main" id="{BCC213B1-93F7-46CF-A87E-E531B551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Evidence + specialist</a:t>
            </a:r>
          </a:p>
        </p:txBody>
      </p:sp>
      <p:sp>
        <p:nvSpPr>
          <p:cNvPr id="21" name="workflow-step-body-4">
            <a:extLst xmlns:a="http://schemas.openxmlformats.org/drawingml/2006/main">
              <a:ext uri="{FF2B5EF4-FFF2-40B4-BE49-F238E27FC236}">
                <a16:creationId xmlns:a16="http://schemas.microsoft.com/office/drawing/2014/main" id="{01141220-EA8C-4122-AEDB-2FCF9C56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Local evidence and specialist workflow shape the answer.</a:t>
            </a:r>
          </a:p>
        </p:txBody>
      </p:sp>
      <p:sp>
        <p:nvSpPr>
          <p:cNvPr id="22" name="workflow-step-5-panel">
            <a:extLst xmlns:a="http://schemas.openxmlformats.org/drawingml/2006/main">
              <a:ext uri="{FF2B5EF4-FFF2-40B4-BE49-F238E27FC236}">
                <a16:creationId xmlns:a16="http://schemas.microsoft.com/office/drawing/2014/main" id="{892362E6-C4AA-4BB4-9553-A2092DE1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C4C"/>
          </a:solidFill>
          <a:ln xmlns:a="http://schemas.openxmlformats.org/drawingml/2006/main" w="9525">
            <a:solidFill>
              <a:srgbClr val="F47C4C"/>
            </a:solidFill>
            <a:prstDash val="solid"/>
          </a:ln>
        </p:spPr>
      </p:sp>
      <p:sp>
        <p:nvSpPr>
          <p:cNvPr id="23" name="workflow-step-5-text">
            <a:extLst xmlns:a="http://schemas.openxmlformats.org/drawingml/2006/main">
              <a:ext uri="{FF2B5EF4-FFF2-40B4-BE49-F238E27FC236}">
                <a16:creationId xmlns:a16="http://schemas.microsoft.com/office/drawing/2014/main" id="{6F2CCFF6-6263-4394-9001-07A007CC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4" name="workflow-step-title-5">
            <a:extLst xmlns:a="http://schemas.openxmlformats.org/drawingml/2006/main">
              <a:ext uri="{FF2B5EF4-FFF2-40B4-BE49-F238E27FC236}">
                <a16:creationId xmlns:a16="http://schemas.microsoft.com/office/drawing/2014/main" id="{D9614FE9-056F-42E8-A9EE-BF6FAF8C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Safety-checked reply</a:t>
            </a:r>
          </a:p>
        </p:txBody>
      </p:sp>
      <p:sp>
        <p:nvSpPr>
          <p:cNvPr id="25" name="workflow-step-body-5">
            <a:extLst xmlns:a="http://schemas.openxmlformats.org/drawingml/2006/main">
              <a:ext uri="{FF2B5EF4-FFF2-40B4-BE49-F238E27FC236}">
                <a16:creationId xmlns:a16="http://schemas.microsoft.com/office/drawing/2014/main" id="{B4B275AB-253E-4929-B9C2-FE57DD05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Guardrails check the response before it is shown.</a:t>
            </a:r>
          </a:p>
        </p:txBody>
      </p:sp>
      <p:sp>
        <p:nvSpPr>
          <p:cNvPr id="26" name="example-route-card-backplate">
            <a:extLst xmlns:a="http://schemas.openxmlformats.org/drawingml/2006/main">
              <a:ext uri="{FF2B5EF4-FFF2-40B4-BE49-F238E27FC236}">
                <a16:creationId xmlns:a16="http://schemas.microsoft.com/office/drawing/2014/main" id="{1BA751AB-4881-4784-862C-DFCC8FEF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81200"/>
            <a:ext cx="60579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27" name="example-route-card-frame">
            <a:extLst xmlns:a="http://schemas.openxmlformats.org/drawingml/2006/main">
              <a:ext uri="{FF2B5EF4-FFF2-40B4-BE49-F238E27FC236}">
                <a16:creationId xmlns:a16="http://schemas.microsoft.com/office/drawing/2014/main" id="{79A20BCE-18F3-4EF4-B187-F73A68B1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58293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632adae49473c"/>
          <a:srcRect xmlns:a="http://schemas.openxmlformats.org/drawingml/2006/main" l="5342" t="0" r="5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7400" y="2095500"/>
            <a:ext cx="582930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29" name="workflow-close-panel">
            <a:extLst xmlns:a="http://schemas.openxmlformats.org/drawingml/2006/main">
              <a:ext uri="{FF2B5EF4-FFF2-40B4-BE49-F238E27FC236}">
                <a16:creationId xmlns:a16="http://schemas.microsoft.com/office/drawing/2014/main" id="{678E9D28-2E28-46D9-94E8-8B3E934F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112014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B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workflow-close-line">
            <a:extLst xmlns:a="http://schemas.openxmlformats.org/drawingml/2006/main">
              <a:ext uri="{FF2B5EF4-FFF2-40B4-BE49-F238E27FC236}">
                <a16:creationId xmlns:a16="http://schemas.microsoft.com/office/drawing/2014/main" id="{6342BB9C-FF0E-4A88-A1B2-94B9F6EA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1" name="workflow-close-text">
            <a:extLst xmlns:a="http://schemas.openxmlformats.org/drawingml/2006/main">
              <a:ext uri="{FF2B5EF4-FFF2-40B4-BE49-F238E27FC236}">
                <a16:creationId xmlns:a16="http://schemas.microsoft.com/office/drawing/2014/main" id="{C00B02EB-1883-4872-98F2-FA1E4572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76950"/>
            <a:ext cx="967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The reply is shaped by workflow, not by one free-form prompt.</a:t>
            </a:r>
          </a:p>
        </p:txBody>
      </p:sp>
    </p:spTree>
    <p:extLst>
      <p:ext uri="{BB962C8B-B14F-4D97-AF65-F5344CB8AC3E}">
        <p14:creationId xmlns:p14="http://schemas.microsoft.com/office/powerpoint/2010/main" val="11594534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SYSTEM DESIGN">
            <a:extLst xmlns:a="http://schemas.openxmlformats.org/drawingml/2006/main">
              <a:ext uri="{FF2B5EF4-FFF2-40B4-BE49-F238E27FC236}">
                <a16:creationId xmlns:a16="http://schemas.microsoft.com/office/drawing/2014/main" id="{944D49A5-9973-4F35-8F2F-45E532D9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SYSTEM DESIGN</a:t>
            </a:r>
          </a:p>
        </p:txBody>
      </p:sp>
      <p:sp>
        <p:nvSpPr>
          <p:cNvPr id="2" name="title-Each request is routed to the right specialist path">
            <a:extLst xmlns:a="http://schemas.openxmlformats.org/drawingml/2006/main">
              <a:ext uri="{FF2B5EF4-FFF2-40B4-BE49-F238E27FC236}">
                <a16:creationId xmlns:a16="http://schemas.microsoft.com/office/drawing/2014/main" id="{35A94DE6-7DD4-454F-BB3B-D8E9C8C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Each request is routed to the right specialist path</a:t>
            </a:r>
          </a:p>
        </p:txBody>
      </p:sp>
      <p:sp>
        <p:nvSpPr>
          <p:cNvPr id="3" name="header-line-Each request is routed to the right specialist path">
            <a:extLst xmlns:a="http://schemas.openxmlformats.org/drawingml/2006/main">
              <a:ext uri="{FF2B5EF4-FFF2-40B4-BE49-F238E27FC236}">
                <a16:creationId xmlns:a16="http://schemas.microsoft.com/office/drawing/2014/main" id="{685DF6BB-95AD-41F2-BC75-FB542BC1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Each request is routed to the right specialist path">
            <a:extLst xmlns:a="http://schemas.openxmlformats.org/drawingml/2006/main">
              <a:ext uri="{FF2B5EF4-FFF2-40B4-BE49-F238E27FC236}">
                <a16:creationId xmlns:a16="http://schemas.microsoft.com/office/drawing/2014/main" id="{D46CB88E-8081-4DE4-A57F-2A3B574F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Single model? No. Agentic? Yes. RAG? Yes, with memory and safety.</a:t>
            </a:r>
          </a:p>
        </p:txBody>
      </p:sp>
      <p:sp>
        <p:nvSpPr>
          <p:cNvPr id="5" name="router-callout-line">
            <a:extLst xmlns:a="http://schemas.openxmlformats.org/drawingml/2006/main">
              <a:ext uri="{FF2B5EF4-FFF2-40B4-BE49-F238E27FC236}">
                <a16:creationId xmlns:a16="http://schemas.microsoft.com/office/drawing/2014/main" id="{7D8A7486-915E-4FED-A083-DA34C2B0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6" name="router-callout-title">
            <a:extLst xmlns:a="http://schemas.openxmlformats.org/drawingml/2006/main">
              <a:ext uri="{FF2B5EF4-FFF2-40B4-BE49-F238E27FC236}">
                <a16:creationId xmlns:a16="http://schemas.microsoft.com/office/drawing/2014/main" id="{3998602E-43FE-44F6-801D-E39CCDD3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266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8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System, not a flat chatbot call.</a:t>
            </a:r>
          </a:p>
        </p:txBody>
      </p:sp>
      <p:sp>
        <p:nvSpPr>
          <p:cNvPr id="7" name="router-callout-body">
            <a:extLst xmlns:a="http://schemas.openxmlformats.org/drawingml/2006/main">
              <a:ext uri="{FF2B5EF4-FFF2-40B4-BE49-F238E27FC236}">
                <a16:creationId xmlns:a16="http://schemas.microsoft.com/office/drawing/2014/main" id="{6DFFE9FA-1974-4B8C-8113-1FFF9677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The workflow reloads memory, classifies intent, selects a specialist path, retrieves evidence, and then checks safety.</a:t>
            </a:r>
          </a:p>
        </p:txBody>
      </p:sp>
      <p:sp>
        <p:nvSpPr>
          <p:cNvPr id="8" name="router-label-Single model">
            <a:extLst xmlns:a="http://schemas.openxmlformats.org/drawingml/2006/main">
              <a:ext uri="{FF2B5EF4-FFF2-40B4-BE49-F238E27FC236}">
                <a16:creationId xmlns:a16="http://schemas.microsoft.com/office/drawing/2014/main" id="{EE71BA56-9476-4784-B3C9-E3CE451F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Single model</a:t>
            </a:r>
          </a:p>
        </p:txBody>
      </p:sp>
      <p:sp>
        <p:nvSpPr>
          <p:cNvPr id="9" name="router-value-Single model">
            <a:extLst xmlns:a="http://schemas.openxmlformats.org/drawingml/2006/main">
              <a:ext uri="{FF2B5EF4-FFF2-40B4-BE49-F238E27FC236}">
                <a16:creationId xmlns:a16="http://schemas.microsoft.com/office/drawing/2014/main" id="{A4DAFAA9-B7B1-4182-9FF3-4B620AE6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48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No</a:t>
            </a:r>
          </a:p>
        </p:txBody>
      </p:sp>
      <p:sp>
        <p:nvSpPr>
          <p:cNvPr id="10" name="router-label-Agentic">
            <a:extLst xmlns:a="http://schemas.openxmlformats.org/drawingml/2006/main">
              <a:ext uri="{FF2B5EF4-FFF2-40B4-BE49-F238E27FC236}">
                <a16:creationId xmlns:a16="http://schemas.microsoft.com/office/drawing/2014/main" id="{8AA087BA-94FA-4607-88E6-EAD3828C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Agentic</a:t>
            </a:r>
          </a:p>
        </p:txBody>
      </p:sp>
      <p:sp>
        <p:nvSpPr>
          <p:cNvPr id="11" name="router-value-Agentic">
            <a:extLst xmlns:a="http://schemas.openxmlformats.org/drawingml/2006/main">
              <a:ext uri="{FF2B5EF4-FFF2-40B4-BE49-F238E27FC236}">
                <a16:creationId xmlns:a16="http://schemas.microsoft.com/office/drawing/2014/main" id="{7181E67A-2B95-4B6F-98B3-8694D2B0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72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Yes</a:t>
            </a:r>
          </a:p>
        </p:txBody>
      </p:sp>
      <p:sp>
        <p:nvSpPr>
          <p:cNvPr id="12" name="router-label-RAG">
            <a:extLst xmlns:a="http://schemas.openxmlformats.org/drawingml/2006/main">
              <a:ext uri="{FF2B5EF4-FFF2-40B4-BE49-F238E27FC236}">
                <a16:creationId xmlns:a16="http://schemas.microsoft.com/office/drawing/2014/main" id="{1BAD7EBA-C983-4ADF-AC82-0C6713A1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RAG</a:t>
            </a:r>
          </a:p>
        </p:txBody>
      </p:sp>
      <p:sp>
        <p:nvSpPr>
          <p:cNvPr id="13" name="router-value-RAG">
            <a:extLst xmlns:a="http://schemas.openxmlformats.org/drawingml/2006/main">
              <a:ext uri="{FF2B5EF4-FFF2-40B4-BE49-F238E27FC236}">
                <a16:creationId xmlns:a16="http://schemas.microsoft.com/office/drawing/2014/main" id="{21C31516-EDA9-4388-A8DC-9EFCC2E0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7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Yes, memory + safety</a:t>
            </a:r>
          </a:p>
        </p:txBody>
      </p:sp>
      <p:sp>
        <p:nvSpPr>
          <p:cNvPr id="14" name="specialist-route-1">
            <a:extLst xmlns:a="http://schemas.openxmlformats.org/drawingml/2006/main">
              <a:ext uri="{FF2B5EF4-FFF2-40B4-BE49-F238E27FC236}">
                <a16:creationId xmlns:a16="http://schemas.microsoft.com/office/drawing/2014/main" id="{301644E3-AF1D-41B7-80C8-1DAE4234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3848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pecialist-route-line-1">
            <a:extLst xmlns:a="http://schemas.openxmlformats.org/drawingml/2006/main">
              <a:ext uri="{FF2B5EF4-FFF2-40B4-BE49-F238E27FC236}">
                <a16:creationId xmlns:a16="http://schemas.microsoft.com/office/drawing/2014/main" id="{3047CCDA-CB89-4992-8309-5317FE55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6" name="specialist-route-title-1">
            <a:extLst xmlns:a="http://schemas.openxmlformats.org/drawingml/2006/main">
              <a:ext uri="{FF2B5EF4-FFF2-40B4-BE49-F238E27FC236}">
                <a16:creationId xmlns:a16="http://schemas.microsoft.com/office/drawing/2014/main" id="{82E942D1-B716-4188-86BD-59484EC3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98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RAG Agent</a:t>
            </a:r>
          </a:p>
        </p:txBody>
      </p:sp>
      <p:sp>
        <p:nvSpPr>
          <p:cNvPr id="17" name="specialist-route-body-1">
            <a:extLst xmlns:a="http://schemas.openxmlformats.org/drawingml/2006/main">
              <a:ext uri="{FF2B5EF4-FFF2-40B4-BE49-F238E27FC236}">
                <a16:creationId xmlns:a16="http://schemas.microsoft.com/office/drawing/2014/main" id="{314C59E9-8BE6-40A6-B932-784CFF0D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718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4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Grounds general medical answers in local healthcare evidence.</a:t>
            </a:r>
          </a:p>
        </p:txBody>
      </p:sp>
      <p:sp>
        <p:nvSpPr>
          <p:cNvPr id="18" name="specialist-route-2">
            <a:extLst xmlns:a="http://schemas.openxmlformats.org/drawingml/2006/main">
              <a:ext uri="{FF2B5EF4-FFF2-40B4-BE49-F238E27FC236}">
                <a16:creationId xmlns:a16="http://schemas.microsoft.com/office/drawing/2014/main" id="{35F509BA-5B0D-4378-9EE8-8600DE0B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52650"/>
            <a:ext cx="39243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pecialist-route-line-2">
            <a:extLst xmlns:a="http://schemas.openxmlformats.org/drawingml/2006/main">
              <a:ext uri="{FF2B5EF4-FFF2-40B4-BE49-F238E27FC236}">
                <a16:creationId xmlns:a16="http://schemas.microsoft.com/office/drawing/2014/main" id="{6B09466E-0A06-4917-9755-0A935B63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0" name="specialist-route-title-2">
            <a:extLst xmlns:a="http://schemas.openxmlformats.org/drawingml/2006/main">
              <a:ext uri="{FF2B5EF4-FFF2-40B4-BE49-F238E27FC236}">
                <a16:creationId xmlns:a16="http://schemas.microsoft.com/office/drawing/2014/main" id="{742B4AE3-C90E-4FBB-AA7A-5B61F898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Pharmacy Agent</a:t>
            </a:r>
          </a:p>
        </p:txBody>
      </p:sp>
      <p:sp>
        <p:nvSpPr>
          <p:cNvPr id="21" name="specialist-route-body-2">
            <a:extLst xmlns:a="http://schemas.openxmlformats.org/drawingml/2006/main">
              <a:ext uri="{FF2B5EF4-FFF2-40B4-BE49-F238E27FC236}">
                <a16:creationId xmlns:a16="http://schemas.microsoft.com/office/drawing/2014/main" id="{4D900F59-1502-4BD8-B24A-CC48C58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0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Handles medicine questions with medication-specific safety checks.</a:t>
            </a:r>
          </a:p>
        </p:txBody>
      </p:sp>
      <p:sp>
        <p:nvSpPr>
          <p:cNvPr id="22" name="specialist-route-3">
            <a:extLst xmlns:a="http://schemas.openxmlformats.org/drawingml/2006/main">
              <a:ext uri="{FF2B5EF4-FFF2-40B4-BE49-F238E27FC236}">
                <a16:creationId xmlns:a16="http://schemas.microsoft.com/office/drawing/2014/main" id="{5F59CE9C-B698-4DDD-BB3D-28C123BB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3848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pecialist-route-line-3">
            <a:extLst xmlns:a="http://schemas.openxmlformats.org/drawingml/2006/main">
              <a:ext uri="{FF2B5EF4-FFF2-40B4-BE49-F238E27FC236}">
                <a16:creationId xmlns:a16="http://schemas.microsoft.com/office/drawing/2014/main" id="{CFA2680F-BB05-4D3A-9A53-67D95E0A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24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specialist-route-title-3">
            <a:extLst xmlns:a="http://schemas.openxmlformats.org/drawingml/2006/main">
              <a:ext uri="{FF2B5EF4-FFF2-40B4-BE49-F238E27FC236}">
                <a16:creationId xmlns:a16="http://schemas.microsoft.com/office/drawing/2014/main" id="{2B417264-DE32-4704-B8F6-5D43D343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719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Scheduling Agent</a:t>
            </a:r>
          </a:p>
        </p:txBody>
      </p:sp>
      <p:sp>
        <p:nvSpPr>
          <p:cNvPr id="25" name="specialist-route-body-3">
            <a:extLst xmlns:a="http://schemas.openxmlformats.org/drawingml/2006/main">
              <a:ext uri="{FF2B5EF4-FFF2-40B4-BE49-F238E27FC236}">
                <a16:creationId xmlns:a16="http://schemas.microsoft.com/office/drawing/2014/main" id="{D0E96004-D859-4800-B451-7C4662EB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5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Supports visit prep, follow-up flow, and coordination requests.</a:t>
            </a:r>
          </a:p>
        </p:txBody>
      </p:sp>
      <p:sp>
        <p:nvSpPr>
          <p:cNvPr id="26" name="specialist-route-4">
            <a:extLst xmlns:a="http://schemas.openxmlformats.org/drawingml/2006/main">
              <a:ext uri="{FF2B5EF4-FFF2-40B4-BE49-F238E27FC236}">
                <a16:creationId xmlns:a16="http://schemas.microsoft.com/office/drawing/2014/main" id="{C4ADCAD9-B08B-4973-B1D8-1D967567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14750"/>
            <a:ext cx="39243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specialist-route-line-4">
            <a:extLst xmlns:a="http://schemas.openxmlformats.org/drawingml/2006/main">
              <a:ext uri="{FF2B5EF4-FFF2-40B4-BE49-F238E27FC236}">
                <a16:creationId xmlns:a16="http://schemas.microsoft.com/office/drawing/2014/main" id="{DA0395F4-8A9A-4BA4-B394-3C0A5310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0">
            <a:solidFill>
              <a:srgbClr val="12324A"/>
            </a:solidFill>
            <a:prstDash val="solid"/>
          </a:ln>
        </p:spPr>
      </p:sp>
      <p:sp>
        <p:nvSpPr>
          <p:cNvPr id="28" name="specialist-route-title-4">
            <a:extLst xmlns:a="http://schemas.openxmlformats.org/drawingml/2006/main">
              <a:ext uri="{FF2B5EF4-FFF2-40B4-BE49-F238E27FC236}">
                <a16:creationId xmlns:a16="http://schemas.microsoft.com/office/drawing/2014/main" id="{79BDB87C-CB27-4B4D-B316-0B8B9CB0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719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Alert Agent</a:t>
            </a:r>
          </a:p>
        </p:txBody>
      </p:sp>
      <p:sp>
        <p:nvSpPr>
          <p:cNvPr id="29" name="specialist-route-body-4">
            <a:extLst xmlns:a="http://schemas.openxmlformats.org/drawingml/2006/main">
              <a:ext uri="{FF2B5EF4-FFF2-40B4-BE49-F238E27FC236}">
                <a16:creationId xmlns:a16="http://schemas.microsoft.com/office/drawing/2014/main" id="{A311AAA0-3AC3-4A6B-9E89-5D8D291C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39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3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Escalates urgent patterns into a safety-first response path.</a:t>
            </a:r>
          </a:p>
        </p:txBody>
      </p:sp>
      <p:sp>
        <p:nvSpPr>
          <p:cNvPr id="30" name="workspace-strip">
            <a:extLst xmlns:a="http://schemas.openxmlformats.org/drawingml/2006/main">
              <a:ext uri="{FF2B5EF4-FFF2-40B4-BE49-F238E27FC236}">
                <a16:creationId xmlns:a16="http://schemas.microsoft.com/office/drawing/2014/main" id="{F5850E26-4493-49C0-8CB4-8E259B76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38750"/>
            <a:ext cx="79629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6EFF7"/>
          </a:solidFill>
          <a:ln xmlns:a="http://schemas.openxmlformats.org/drawingml/2006/main" w="0">
            <a:solidFill>
              <a:srgbClr val="E6EFF7"/>
            </a:solidFill>
            <a:prstDash val="solid"/>
          </a:ln>
        </p:spPr>
      </p:sp>
      <p:sp>
        <p:nvSpPr>
          <p:cNvPr id="31" name="workspace-strip-text">
            <a:extLst xmlns:a="http://schemas.openxmlformats.org/drawingml/2006/main">
              <a:ext uri="{FF2B5EF4-FFF2-40B4-BE49-F238E27FC236}">
                <a16:creationId xmlns:a16="http://schemas.microsoft.com/office/drawing/2014/main" id="{BD92D534-733D-4A7E-842B-6FDC7F79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91150"/>
            <a:ext cx="746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Focused workspaces: Vitals, Labs, Wellness, Records, Insurance, Summary.</a:t>
            </a:r>
          </a:p>
        </p:txBody>
      </p:sp>
      <p:sp>
        <p:nvSpPr>
          <p:cNvPr id="32" name="router-close">
            <a:extLst xmlns:a="http://schemas.openxmlformats.org/drawingml/2006/main">
              <a:ext uri="{FF2B5EF4-FFF2-40B4-BE49-F238E27FC236}">
                <a16:creationId xmlns:a16="http://schemas.microsoft.com/office/drawing/2014/main" id="{3D61904C-4DEC-42CE-9ABE-95455B2C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34100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54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That is why Care Nova can answer narrowly instead of broadly.</a:t>
            </a:r>
          </a:p>
        </p:txBody>
      </p:sp>
    </p:spTree>
    <p:extLst>
      <p:ext uri="{BB962C8B-B14F-4D97-AF65-F5344CB8AC3E}">
        <p14:creationId xmlns:p14="http://schemas.microsoft.com/office/powerpoint/2010/main" val="2000695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BUSINESS RELEVANCE">
            <a:extLst xmlns:a="http://schemas.openxmlformats.org/drawingml/2006/main">
              <a:ext uri="{FF2B5EF4-FFF2-40B4-BE49-F238E27FC236}">
                <a16:creationId xmlns:a16="http://schemas.microsoft.com/office/drawing/2014/main" id="{8DA4DEF3-145D-4225-9A15-B62309D7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BUSINESS RELEVANCE</a:t>
            </a:r>
          </a:p>
        </p:txBody>
      </p:sp>
      <p:sp>
        <p:nvSpPr>
          <p:cNvPr id="2" name="title-Local-first makes Care Nova practical to adopt">
            <a:extLst xmlns:a="http://schemas.openxmlformats.org/drawingml/2006/main">
              <a:ext uri="{FF2B5EF4-FFF2-40B4-BE49-F238E27FC236}">
                <a16:creationId xmlns:a16="http://schemas.microsoft.com/office/drawing/2014/main" id="{ACDA530A-E157-4F38-B8E1-CBDF1F15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Local-first makes Care Nova practical to adopt</a:t>
            </a:r>
          </a:p>
        </p:txBody>
      </p:sp>
      <p:sp>
        <p:nvSpPr>
          <p:cNvPr id="3" name="header-line-Local-first makes Care Nova practical to adopt">
            <a:extLst xmlns:a="http://schemas.openxmlformats.org/drawingml/2006/main">
              <a:ext uri="{FF2B5EF4-FFF2-40B4-BE49-F238E27FC236}">
                <a16:creationId xmlns:a16="http://schemas.microsoft.com/office/drawing/2014/main" id="{88E1DA0C-A6FB-4C74-ACB4-E38599AC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4" name="subtitle-Local-first makes Care Nova practical to adopt">
            <a:extLst xmlns:a="http://schemas.openxmlformats.org/drawingml/2006/main">
              <a:ext uri="{FF2B5EF4-FFF2-40B4-BE49-F238E27FC236}">
                <a16:creationId xmlns:a16="http://schemas.microsoft.com/office/drawing/2014/main" id="{FB5146F9-3849-4C98-86AB-C0FABE5B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Privacy, reliability, and low deployment friction turn the demo into a usable product.</a:t>
            </a:r>
          </a:p>
        </p:txBody>
      </p:sp>
      <p:sp>
        <p:nvSpPr>
          <p:cNvPr id="5" name="offline-metric-panel">
            <a:extLst xmlns:a="http://schemas.openxmlformats.org/drawingml/2006/main">
              <a:ext uri="{FF2B5EF4-FFF2-40B4-BE49-F238E27FC236}">
                <a16:creationId xmlns:a16="http://schemas.microsoft.com/office/drawing/2014/main" id="{20D5AB59-2860-45ED-9F90-6AF31C0B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33600"/>
            <a:ext cx="409575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offline-metric-line">
            <a:extLst xmlns:a="http://schemas.openxmlformats.org/drawingml/2006/main">
              <a:ext uri="{FF2B5EF4-FFF2-40B4-BE49-F238E27FC236}">
                <a16:creationId xmlns:a16="http://schemas.microsoft.com/office/drawing/2014/main" id="{F3630E5A-7DDB-4A92-B984-5DCE143B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7" name="offline-metric-pill-panel">
            <a:extLst xmlns:a="http://schemas.openxmlformats.org/drawingml/2006/main">
              <a:ext uri="{FF2B5EF4-FFF2-40B4-BE49-F238E27FC236}">
                <a16:creationId xmlns:a16="http://schemas.microsoft.com/office/drawing/2014/main" id="{7EAAB9BC-458C-49B3-B2BC-79F7E5DC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C9C"/>
          </a:solidFill>
          <a:ln xmlns:a="http://schemas.openxmlformats.org/drawingml/2006/main" w="9525">
            <a:solidFill>
              <a:srgbClr val="149C9C"/>
            </a:solidFill>
            <a:prstDash val="solid"/>
          </a:ln>
        </p:spPr>
      </p:sp>
      <p:sp>
        <p:nvSpPr>
          <p:cNvPr id="8" name="offline-metric-pill-text">
            <a:extLst xmlns:a="http://schemas.openxmlformats.org/drawingml/2006/main">
              <a:ext uri="{FF2B5EF4-FFF2-40B4-BE49-F238E27FC236}">
                <a16:creationId xmlns:a16="http://schemas.microsoft.com/office/drawing/2014/main" id="{732EC93D-A5BC-495C-95A0-354AF8E4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Default mode</a:t>
            </a:r>
          </a:p>
        </p:txBody>
      </p:sp>
      <p:sp>
        <p:nvSpPr>
          <p:cNvPr id="9" name="offline-metric-number">
            <a:extLst xmlns:a="http://schemas.openxmlformats.org/drawingml/2006/main">
              <a:ext uri="{FF2B5EF4-FFF2-40B4-BE49-F238E27FC236}">
                <a16:creationId xmlns:a16="http://schemas.microsoft.com/office/drawing/2014/main" id="{2E9F1E4A-73EE-4445-B0A1-D598266C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825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0</a:t>
            </a:r>
          </a:p>
        </p:txBody>
      </p:sp>
      <p:sp>
        <p:nvSpPr>
          <p:cNvPr id="10" name="offline-metric-label">
            <a:extLst xmlns:a="http://schemas.openxmlformats.org/drawingml/2006/main">
              <a:ext uri="{FF2B5EF4-FFF2-40B4-BE49-F238E27FC236}">
                <a16:creationId xmlns:a16="http://schemas.microsoft.com/office/drawing/2014/main" id="{A3499AAD-9EA1-4F5E-B343-AA7F8128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956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54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mandatory cloud calls</a:t>
            </a:r>
          </a:p>
        </p:txBody>
      </p:sp>
      <p:sp>
        <p:nvSpPr>
          <p:cNvPr id="11" name="offline-metric-body">
            <a:extLst xmlns:a="http://schemas.openxmlformats.org/drawingml/2006/main">
              <a:ext uri="{FF2B5EF4-FFF2-40B4-BE49-F238E27FC236}">
                <a16:creationId xmlns:a16="http://schemas.microsoft.com/office/drawing/2014/main" id="{A1036D39-5BC8-40C8-AA0A-E9A892CD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The core workflow still runs locally, even when cloud access is limited or unavailable.</a:t>
            </a:r>
          </a:p>
        </p:txBody>
      </p:sp>
      <p:sp>
        <p:nvSpPr>
          <p:cNvPr id="12" name="offline-metric-bullet-icon-68-476">
            <a:extLst xmlns:a="http://schemas.openxmlformats.org/drawingml/2006/main">
              <a:ext uri="{FF2B5EF4-FFF2-40B4-BE49-F238E27FC236}">
                <a16:creationId xmlns:a16="http://schemas.microsoft.com/office/drawing/2014/main" id="{30885F32-FAD9-4D55-B4CD-B1498D8F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offline-metric-bullet-text-68-476">
            <a:extLst xmlns:a="http://schemas.openxmlformats.org/drawingml/2006/main">
              <a:ext uri="{FF2B5EF4-FFF2-40B4-BE49-F238E27FC236}">
                <a16:creationId xmlns:a16="http://schemas.microsoft.com/office/drawing/2014/main" id="{9B259E57-2509-4934-8D8F-3B3783E9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Privacy by default for patient context</a:t>
            </a:r>
          </a:p>
        </p:txBody>
      </p:sp>
      <p:sp>
        <p:nvSpPr>
          <p:cNvPr id="14" name="offline-metric-bullet-icon-68-510">
            <a:extLst xmlns:a="http://schemas.openxmlformats.org/drawingml/2006/main">
              <a:ext uri="{FF2B5EF4-FFF2-40B4-BE49-F238E27FC236}">
                <a16:creationId xmlns:a16="http://schemas.microsoft.com/office/drawing/2014/main" id="{EBB3B8C2-7EC1-4D13-BBAB-804CC8B8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5" name="offline-metric-bullet-text-68-510">
            <a:extLst xmlns:a="http://schemas.openxmlformats.org/drawingml/2006/main">
              <a:ext uri="{FF2B5EF4-FFF2-40B4-BE49-F238E27FC236}">
                <a16:creationId xmlns:a16="http://schemas.microsoft.com/office/drawing/2014/main" id="{2175CCF1-E60E-4750-851B-24F8CA0A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Reliable on weak or unstable networks</a:t>
            </a:r>
          </a:p>
        </p:txBody>
      </p:sp>
      <p:sp>
        <p:nvSpPr>
          <p:cNvPr id="16" name="offline-metric-bullet-icon-68-544">
            <a:extLst xmlns:a="http://schemas.openxmlformats.org/drawingml/2006/main">
              <a:ext uri="{FF2B5EF4-FFF2-40B4-BE49-F238E27FC236}">
                <a16:creationId xmlns:a16="http://schemas.microsoft.com/office/drawing/2014/main" id="{262712B7-46E7-4C3B-852F-34026EB8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7" name="offline-metric-bullet-text-68-544">
            <a:extLst xmlns:a="http://schemas.openxmlformats.org/drawingml/2006/main">
              <a:ext uri="{FF2B5EF4-FFF2-40B4-BE49-F238E27FC236}">
                <a16:creationId xmlns:a16="http://schemas.microsoft.com/office/drawing/2014/main" id="{0E3D7992-103B-4DCC-A541-59D18959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Works in controlled environments</a:t>
            </a:r>
          </a:p>
        </p:txBody>
      </p:sp>
      <p:sp>
        <p:nvSpPr>
          <p:cNvPr id="18" name="offline-local-card">
            <a:extLst xmlns:a="http://schemas.openxmlformats.org/drawingml/2006/main">
              <a:ext uri="{FF2B5EF4-FFF2-40B4-BE49-F238E27FC236}">
                <a16:creationId xmlns:a16="http://schemas.microsoft.com/office/drawing/2014/main" id="{0AB97ADF-7862-4BD7-AEC7-BB25CD93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33600"/>
            <a:ext cx="68770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8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offline-local-line">
            <a:extLst xmlns:a="http://schemas.openxmlformats.org/drawingml/2006/main">
              <a:ext uri="{FF2B5EF4-FFF2-40B4-BE49-F238E27FC236}">
                <a16:creationId xmlns:a16="http://schemas.microsoft.com/office/drawing/2014/main" id="{3232DC2C-D89C-4F58-BB24-AE55C27B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20" name="offline-local-title">
            <a:extLst xmlns:a="http://schemas.openxmlformats.org/drawingml/2006/main">
              <a:ext uri="{FF2B5EF4-FFF2-40B4-BE49-F238E27FC236}">
                <a16:creationId xmlns:a16="http://schemas.microsoft.com/office/drawing/2014/main" id="{652B2E1F-2D1E-4259-8768-1DB9FDBF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Why it deploys</a:t>
            </a:r>
          </a:p>
        </p:txBody>
      </p:sp>
      <p:sp>
        <p:nvSpPr>
          <p:cNvPr id="21" name="offline-local-body">
            <a:extLst xmlns:a="http://schemas.openxmlformats.org/drawingml/2006/main">
              <a:ext uri="{FF2B5EF4-FFF2-40B4-BE49-F238E27FC236}">
                <a16:creationId xmlns:a16="http://schemas.microsoft.com/office/drawing/2014/main" id="{8756BF5F-FA13-4996-9F73-3E7755C1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67050"/>
            <a:ext cx="611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3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Patient memory, records, graph facts, and app state stay local by default, so pilots do not start with a cloud dependency.</a:t>
            </a:r>
          </a:p>
        </p:txBody>
      </p:sp>
      <p:sp>
        <p:nvSpPr>
          <p:cNvPr id="22" name="offline-why-card">
            <a:extLst xmlns:a="http://schemas.openxmlformats.org/drawingml/2006/main">
              <a:ext uri="{FF2B5EF4-FFF2-40B4-BE49-F238E27FC236}">
                <a16:creationId xmlns:a16="http://schemas.microsoft.com/office/drawing/2014/main" id="{34DF1B3E-8BDC-47C5-9F1D-AF066E23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33800"/>
            <a:ext cx="68770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offline-why-line">
            <a:extLst xmlns:a="http://schemas.openxmlformats.org/drawingml/2006/main">
              <a:ext uri="{FF2B5EF4-FFF2-40B4-BE49-F238E27FC236}">
                <a16:creationId xmlns:a16="http://schemas.microsoft.com/office/drawing/2014/main" id="{77117B8E-05A9-4A82-A194-1854F44A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195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offline-why-title">
            <a:extLst xmlns:a="http://schemas.openxmlformats.org/drawingml/2006/main">
              <a:ext uri="{FF2B5EF4-FFF2-40B4-BE49-F238E27FC236}">
                <a16:creationId xmlns:a16="http://schemas.microsoft.com/office/drawing/2014/main" id="{2C792656-30DC-4791-947D-0FAFD4F5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Business impact</a:t>
            </a:r>
          </a:p>
        </p:txBody>
      </p:sp>
      <p:sp>
        <p:nvSpPr>
          <p:cNvPr id="25" name="offline-why-bullet-icon-538-494">
            <a:extLst xmlns:a="http://schemas.openxmlformats.org/drawingml/2006/main">
              <a:ext uri="{FF2B5EF4-FFF2-40B4-BE49-F238E27FC236}">
                <a16:creationId xmlns:a16="http://schemas.microsoft.com/office/drawing/2014/main" id="{686CF62A-C83A-497A-B66C-AC44FD33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81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6" name="offline-why-bullet-text-538-494">
            <a:extLst xmlns:a="http://schemas.openxmlformats.org/drawingml/2006/main">
              <a:ext uri="{FF2B5EF4-FFF2-40B4-BE49-F238E27FC236}">
                <a16:creationId xmlns:a16="http://schemas.microsoft.com/office/drawing/2014/main" id="{572EB996-C64A-467A-84CD-E9A4ACF8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053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Faster first-level triage</a:t>
            </a:r>
          </a:p>
        </p:txBody>
      </p:sp>
      <p:sp>
        <p:nvSpPr>
          <p:cNvPr id="27" name="offline-why-bullet-icon-538-526">
            <a:extLst xmlns:a="http://schemas.openxmlformats.org/drawingml/2006/main">
              <a:ext uri="{FF2B5EF4-FFF2-40B4-BE49-F238E27FC236}">
                <a16:creationId xmlns:a16="http://schemas.microsoft.com/office/drawing/2014/main" id="{CB401393-8E08-4E4C-93B1-42CB8BA5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86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8" name="offline-why-bullet-text-538-526">
            <a:extLst xmlns:a="http://schemas.openxmlformats.org/drawingml/2006/main">
              <a:ext uri="{FF2B5EF4-FFF2-40B4-BE49-F238E27FC236}">
                <a16:creationId xmlns:a16="http://schemas.microsoft.com/office/drawing/2014/main" id="{B67D051C-6542-4157-BF32-B8C8A33A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101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More consistent patient guidance</a:t>
            </a:r>
          </a:p>
        </p:txBody>
      </p:sp>
      <p:sp>
        <p:nvSpPr>
          <p:cNvPr id="29" name="offline-why-bullet-icon-538-558">
            <a:extLst xmlns:a="http://schemas.openxmlformats.org/drawingml/2006/main">
              <a:ext uri="{FF2B5EF4-FFF2-40B4-BE49-F238E27FC236}">
                <a16:creationId xmlns:a16="http://schemas.microsoft.com/office/drawing/2014/main" id="{D2CEB142-768C-4060-9BD3-34224EAA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91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0" name="offline-why-bullet-text-538-558">
            <a:extLst xmlns:a="http://schemas.openxmlformats.org/drawingml/2006/main">
              <a:ext uri="{FF2B5EF4-FFF2-40B4-BE49-F238E27FC236}">
                <a16:creationId xmlns:a16="http://schemas.microsoft.com/office/drawing/2014/main" id="{76C52B3D-10F2-4729-AA4C-90254F7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149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Lower deployment friction for pilots</a:t>
            </a:r>
          </a:p>
        </p:txBody>
      </p:sp>
    </p:spTree>
    <p:extLst>
      <p:ext uri="{BB962C8B-B14F-4D97-AF65-F5344CB8AC3E}">
        <p14:creationId xmlns:p14="http://schemas.microsoft.com/office/powerpoint/2010/main" val="897047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RAG + MEMORY">
            <a:extLst xmlns:a="http://schemas.openxmlformats.org/drawingml/2006/main">
              <a:ext uri="{FF2B5EF4-FFF2-40B4-BE49-F238E27FC236}">
                <a16:creationId xmlns:a16="http://schemas.microsoft.com/office/drawing/2014/main" id="{38994C74-3921-45FB-9532-3A18B483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RAG + MEMORY</a:t>
            </a:r>
          </a:p>
        </p:txBody>
      </p:sp>
      <p:sp>
        <p:nvSpPr>
          <p:cNvPr id="2" name="title-Retrieval grounds facts. Memory grounds context.">
            <a:extLst xmlns:a="http://schemas.openxmlformats.org/drawingml/2006/main">
              <a:ext uri="{FF2B5EF4-FFF2-40B4-BE49-F238E27FC236}">
                <a16:creationId xmlns:a16="http://schemas.microsoft.com/office/drawing/2014/main" id="{D07D5C3E-A092-445B-8E43-AD833D49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Retrieval grounds facts. Memory grounds context.</a:t>
            </a:r>
          </a:p>
        </p:txBody>
      </p:sp>
      <p:sp>
        <p:nvSpPr>
          <p:cNvPr id="3" name="header-line-Retrieval grounds facts. Memory grounds context.">
            <a:extLst xmlns:a="http://schemas.openxmlformats.org/drawingml/2006/main">
              <a:ext uri="{FF2B5EF4-FFF2-40B4-BE49-F238E27FC236}">
                <a16:creationId xmlns:a16="http://schemas.microsoft.com/office/drawing/2014/main" id="{D949E6FA-4B09-41FB-94C4-0029CF9A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Retrieval grounds facts. Memory grounds context.">
            <a:extLst xmlns:a="http://schemas.openxmlformats.org/drawingml/2006/main">
              <a:ext uri="{FF2B5EF4-FFF2-40B4-BE49-F238E27FC236}">
                <a16:creationId xmlns:a16="http://schemas.microsoft.com/office/drawing/2014/main" id="{24A912AE-5CE1-4349-8D37-AC34B5B7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Together they cut broad guessing and keep answers patient-specific.</a:t>
            </a:r>
          </a:p>
        </p:txBody>
      </p:sp>
      <p:sp>
        <p:nvSpPr>
          <p:cNvPr id="5" name="hybrid-retrieval-block">
            <a:extLst xmlns:a="http://schemas.openxmlformats.org/drawingml/2006/main">
              <a:ext uri="{FF2B5EF4-FFF2-40B4-BE49-F238E27FC236}">
                <a16:creationId xmlns:a16="http://schemas.microsoft.com/office/drawing/2014/main" id="{745EDBCD-4482-446C-B733-85BF5638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52650"/>
            <a:ext cx="5391150" cy="28956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6" name="hybrid-retrieval-label">
            <a:extLst xmlns:a="http://schemas.openxmlformats.org/drawingml/2006/main">
              <a:ext uri="{FF2B5EF4-FFF2-40B4-BE49-F238E27FC236}">
                <a16:creationId xmlns:a16="http://schemas.microsoft.com/office/drawing/2014/main" id="{49573362-BE78-4A40-9573-0E1C66C7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RAG</a:t>
            </a:r>
          </a:p>
        </p:txBody>
      </p:sp>
      <p:sp>
        <p:nvSpPr>
          <p:cNvPr id="7" name="hybrid-retrieval-title">
            <a:extLst xmlns:a="http://schemas.openxmlformats.org/drawingml/2006/main">
              <a:ext uri="{FF2B5EF4-FFF2-40B4-BE49-F238E27FC236}">
                <a16:creationId xmlns:a16="http://schemas.microsoft.com/office/drawing/2014/main" id="{4CBD8CA0-9DD8-44E8-BDD2-DA40B3D1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Grounds medical facts</a:t>
            </a:r>
          </a:p>
        </p:txBody>
      </p:sp>
      <p:sp>
        <p:nvSpPr>
          <p:cNvPr id="8" name="hybrid-retrieval-body">
            <a:extLst xmlns:a="http://schemas.openxmlformats.org/drawingml/2006/main">
              <a:ext uri="{FF2B5EF4-FFF2-40B4-BE49-F238E27FC236}">
                <a16:creationId xmlns:a16="http://schemas.microsoft.com/office/drawing/2014/main" id="{4D3E8F96-C50B-43A4-A21C-73885794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848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8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Query is built from the message, vitals, profile, and memory.</a:t>
            </a:r>
          </a:p>
        </p:txBody>
      </p:sp>
      <p:sp>
        <p:nvSpPr>
          <p:cNvPr id="9" name="hybrid-retrieval-bullet-icon-64-398">
            <a:extLst xmlns:a="http://schemas.openxmlformats.org/drawingml/2006/main">
              <a:ext uri="{FF2B5EF4-FFF2-40B4-BE49-F238E27FC236}">
                <a16:creationId xmlns:a16="http://schemas.microsoft.com/office/drawing/2014/main" id="{126DF31D-F76B-41AB-A823-1A8EFB05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0" name="hybrid-retrieval-bullet-text-64-398">
            <a:extLst xmlns:a="http://schemas.openxmlformats.org/drawingml/2006/main">
              <a:ext uri="{FF2B5EF4-FFF2-40B4-BE49-F238E27FC236}">
                <a16:creationId xmlns:a16="http://schemas.microsoft.com/office/drawing/2014/main" id="{9E556056-B76C-4AF5-AF31-4104CF0E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Ranks local healthcare knowledge</a:t>
            </a:r>
          </a:p>
        </p:txBody>
      </p:sp>
      <p:sp>
        <p:nvSpPr>
          <p:cNvPr id="11" name="hybrid-retrieval-bullet-icon-64-436">
            <a:extLst xmlns:a="http://schemas.openxmlformats.org/drawingml/2006/main">
              <a:ext uri="{FF2B5EF4-FFF2-40B4-BE49-F238E27FC236}">
                <a16:creationId xmlns:a16="http://schemas.microsoft.com/office/drawing/2014/main" id="{60DCE4FB-DE43-4006-A04F-6269ACC2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2" name="hybrid-retrieval-bullet-text-64-436">
            <a:extLst xmlns:a="http://schemas.openxmlformats.org/drawingml/2006/main">
              <a:ext uri="{FF2B5EF4-FFF2-40B4-BE49-F238E27FC236}">
                <a16:creationId xmlns:a16="http://schemas.microsoft.com/office/drawing/2014/main" id="{AEFC3025-9F7D-4FBD-A5F7-E9708D8B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Can reuse approved cached references</a:t>
            </a:r>
          </a:p>
        </p:txBody>
      </p:sp>
      <p:sp>
        <p:nvSpPr>
          <p:cNvPr id="13" name="hybrid-retrieval-bullet-icon-64-474">
            <a:extLst xmlns:a="http://schemas.openxmlformats.org/drawingml/2006/main">
              <a:ext uri="{FF2B5EF4-FFF2-40B4-BE49-F238E27FC236}">
                <a16:creationId xmlns:a16="http://schemas.microsoft.com/office/drawing/2014/main" id="{00A5C94A-8E60-4017-9BF7-4FF0CF5E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4" name="hybrid-retrieval-bullet-text-64-474">
            <a:extLst xmlns:a="http://schemas.openxmlformats.org/drawingml/2006/main">
              <a:ext uri="{FF2B5EF4-FFF2-40B4-BE49-F238E27FC236}">
                <a16:creationId xmlns:a16="http://schemas.microsoft.com/office/drawing/2014/main" id="{B458540F-F98E-4442-9A69-CEEC9183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Grounds the reply in evidence</a:t>
            </a:r>
          </a:p>
        </p:txBody>
      </p:sp>
      <p:sp>
        <p:nvSpPr>
          <p:cNvPr id="15" name="hybrid-memory-block">
            <a:extLst xmlns:a="http://schemas.openxmlformats.org/drawingml/2006/main">
              <a:ext uri="{FF2B5EF4-FFF2-40B4-BE49-F238E27FC236}">
                <a16:creationId xmlns:a16="http://schemas.microsoft.com/office/drawing/2014/main" id="{0B146A6F-902E-4CB3-90B6-5BB60DE5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5734050" cy="28956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0">
            <a:solidFill>
              <a:srgbClr val="EAF9F7"/>
            </a:solidFill>
            <a:prstDash val="solid"/>
          </a:ln>
        </p:spPr>
      </p:sp>
      <p:sp>
        <p:nvSpPr>
          <p:cNvPr id="16" name="hybrid-memory-label">
            <a:extLst xmlns:a="http://schemas.openxmlformats.org/drawingml/2006/main">
              <a:ext uri="{FF2B5EF4-FFF2-40B4-BE49-F238E27FC236}">
                <a16:creationId xmlns:a16="http://schemas.microsoft.com/office/drawing/2014/main" id="{5FBBC762-8AFF-4774-A66C-DBD847AD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MEMORY</a:t>
            </a:r>
          </a:p>
        </p:txBody>
      </p:sp>
      <p:sp>
        <p:nvSpPr>
          <p:cNvPr id="17" name="hybrid-memory-title">
            <a:extLst xmlns:a="http://schemas.openxmlformats.org/drawingml/2006/main">
              <a:ext uri="{FF2B5EF4-FFF2-40B4-BE49-F238E27FC236}">
                <a16:creationId xmlns:a16="http://schemas.microsoft.com/office/drawing/2014/main" id="{C291C9E2-CB3D-48F6-92B8-5D19E94F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051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Grounds patient context</a:t>
            </a:r>
          </a:p>
        </p:txBody>
      </p:sp>
      <p:sp>
        <p:nvSpPr>
          <p:cNvPr id="18" name="hybrid-memory-body">
            <a:extLst xmlns:a="http://schemas.openxmlformats.org/drawingml/2006/main">
              <a:ext uri="{FF2B5EF4-FFF2-40B4-BE49-F238E27FC236}">
                <a16:creationId xmlns:a16="http://schemas.microsoft.com/office/drawing/2014/main" id="{487660E6-7008-46E3-AE91-EBE74B5B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Persistent local context reloads before every analysis.</a:t>
            </a:r>
          </a:p>
        </p:txBody>
      </p:sp>
      <p:sp>
        <p:nvSpPr>
          <p:cNvPr id="19" name="hybrid-memory-bullet-icon-654-398">
            <a:extLst xmlns:a="http://schemas.openxmlformats.org/drawingml/2006/main">
              <a:ext uri="{FF2B5EF4-FFF2-40B4-BE49-F238E27FC236}">
                <a16:creationId xmlns:a16="http://schemas.microsoft.com/office/drawing/2014/main" id="{D1DA6653-213A-46D6-97F5-21546375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67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0" name="hybrid-memory-bullet-text-654-398">
            <a:extLst xmlns:a="http://schemas.openxmlformats.org/drawingml/2006/main">
              <a:ext uri="{FF2B5EF4-FFF2-40B4-BE49-F238E27FC236}">
                <a16:creationId xmlns:a16="http://schemas.microsoft.com/office/drawing/2014/main" id="{D385C49C-6DBB-4FDE-8FC0-36C6047E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909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Patient memory, records, and knowledge graph</a:t>
            </a:r>
          </a:p>
        </p:txBody>
      </p:sp>
      <p:sp>
        <p:nvSpPr>
          <p:cNvPr id="21" name="hybrid-memory-bullet-icon-654-436">
            <a:extLst xmlns:a="http://schemas.openxmlformats.org/drawingml/2006/main">
              <a:ext uri="{FF2B5EF4-FFF2-40B4-BE49-F238E27FC236}">
                <a16:creationId xmlns:a16="http://schemas.microsoft.com/office/drawing/2014/main" id="{C228D81E-EE2F-4A3A-954F-608C2649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29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2" name="hybrid-memory-bullet-text-654-436">
            <a:extLst xmlns:a="http://schemas.openxmlformats.org/drawingml/2006/main">
              <a:ext uri="{FF2B5EF4-FFF2-40B4-BE49-F238E27FC236}">
                <a16:creationId xmlns:a16="http://schemas.microsoft.com/office/drawing/2014/main" id="{0E2571CA-024E-4759-AB99-40EC6832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529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The system is not stateless</a:t>
            </a:r>
          </a:p>
        </p:txBody>
      </p:sp>
      <p:sp>
        <p:nvSpPr>
          <p:cNvPr id="23" name="hybrid-memory-bullet-icon-654-474">
            <a:extLst xmlns:a="http://schemas.openxmlformats.org/drawingml/2006/main">
              <a:ext uri="{FF2B5EF4-FFF2-40B4-BE49-F238E27FC236}">
                <a16:creationId xmlns:a16="http://schemas.microsoft.com/office/drawing/2014/main" id="{E2F45F29-A1DD-4A1C-925F-B42733B0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91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4" name="hybrid-memory-bullet-text-654-474">
            <a:extLst xmlns:a="http://schemas.openxmlformats.org/drawingml/2006/main">
              <a:ext uri="{FF2B5EF4-FFF2-40B4-BE49-F238E27FC236}">
                <a16:creationId xmlns:a16="http://schemas.microsoft.com/office/drawing/2014/main" id="{4100DCCB-8D47-4580-AC7E-92B2D31E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148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Result is stored for the next turn</a:t>
            </a:r>
          </a:p>
        </p:txBody>
      </p:sp>
      <p:sp>
        <p:nvSpPr>
          <p:cNvPr id="25" name="hybrid-trust-title">
            <a:extLst xmlns:a="http://schemas.openxmlformats.org/drawingml/2006/main">
              <a:ext uri="{FF2B5EF4-FFF2-40B4-BE49-F238E27FC236}">
                <a16:creationId xmlns:a16="http://schemas.microsoft.com/office/drawing/2014/main" id="{23427365-F28A-428D-A423-EDFDE9A0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72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Approved sources</a:t>
            </a:r>
          </a:p>
        </p:txBody>
      </p:sp>
      <p:sp>
        <p:nvSpPr>
          <p:cNvPr id="26" name="hybrid-trust-pill-1-panel">
            <a:extLst xmlns:a="http://schemas.openxmlformats.org/drawingml/2006/main">
              <a:ext uri="{FF2B5EF4-FFF2-40B4-BE49-F238E27FC236}">
                <a16:creationId xmlns:a16="http://schemas.microsoft.com/office/drawing/2014/main" id="{3EF70F12-CD04-414A-8C84-AD8F19FB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27" name="hybrid-trust-pill-1-text">
            <a:extLst xmlns:a="http://schemas.openxmlformats.org/drawingml/2006/main">
              <a:ext uri="{FF2B5EF4-FFF2-40B4-BE49-F238E27FC236}">
                <a16:creationId xmlns:a16="http://schemas.microsoft.com/office/drawing/2014/main" id="{45558ABF-423E-4BCD-9614-211EF31C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MedlinePlus</a:t>
            </a:r>
          </a:p>
        </p:txBody>
      </p:sp>
      <p:sp>
        <p:nvSpPr>
          <p:cNvPr id="28" name="hybrid-trust-pill-2-panel">
            <a:extLst xmlns:a="http://schemas.openxmlformats.org/drawingml/2006/main">
              <a:ext uri="{FF2B5EF4-FFF2-40B4-BE49-F238E27FC236}">
                <a16:creationId xmlns:a16="http://schemas.microsoft.com/office/drawing/2014/main" id="{BDFACE8A-8C74-4E4D-BA05-AA70A776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340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29" name="hybrid-trust-pill-2-text">
            <a:extLst xmlns:a="http://schemas.openxmlformats.org/drawingml/2006/main">
              <a:ext uri="{FF2B5EF4-FFF2-40B4-BE49-F238E27FC236}">
                <a16:creationId xmlns:a16="http://schemas.microsoft.com/office/drawing/2014/main" id="{70A8950D-87E2-46B2-8750-A62201DC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53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RxNorm</a:t>
            </a:r>
          </a:p>
        </p:txBody>
      </p:sp>
      <p:sp>
        <p:nvSpPr>
          <p:cNvPr id="30" name="hybrid-trust-pill-3-panel">
            <a:extLst xmlns:a="http://schemas.openxmlformats.org/drawingml/2006/main">
              <a:ext uri="{FF2B5EF4-FFF2-40B4-BE49-F238E27FC236}">
                <a16:creationId xmlns:a16="http://schemas.microsoft.com/office/drawing/2014/main" id="{36D3BEA3-8918-432C-866F-BF91ADB2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340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1" name="hybrid-trust-pill-3-text">
            <a:extLst xmlns:a="http://schemas.openxmlformats.org/drawingml/2006/main">
              <a:ext uri="{FF2B5EF4-FFF2-40B4-BE49-F238E27FC236}">
                <a16:creationId xmlns:a16="http://schemas.microsoft.com/office/drawing/2014/main" id="{553867C7-3152-4E5B-8891-D841ED79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53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openFDA</a:t>
            </a:r>
          </a:p>
        </p:txBody>
      </p:sp>
      <p:sp>
        <p:nvSpPr>
          <p:cNvPr id="32" name="hybrid-trust-pill-4-panel">
            <a:extLst xmlns:a="http://schemas.openxmlformats.org/drawingml/2006/main">
              <a:ext uri="{FF2B5EF4-FFF2-40B4-BE49-F238E27FC236}">
                <a16:creationId xmlns:a16="http://schemas.microsoft.com/office/drawing/2014/main" id="{52B7A7F2-5C1D-44BE-A3DA-0ECE1066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33" name="hybrid-trust-pill-4-text">
            <a:extLst xmlns:a="http://schemas.openxmlformats.org/drawingml/2006/main">
              <a:ext uri="{FF2B5EF4-FFF2-40B4-BE49-F238E27FC236}">
                <a16:creationId xmlns:a16="http://schemas.microsoft.com/office/drawing/2014/main" id="{3B651BFA-E204-4FD0-B627-08FCC5C7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53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LOINC</a:t>
            </a:r>
          </a:p>
        </p:txBody>
      </p:sp>
      <p:sp>
        <p:nvSpPr>
          <p:cNvPr id="34" name="hybrid-trust-pill-5-panel">
            <a:extLst xmlns:a="http://schemas.openxmlformats.org/drawingml/2006/main">
              <a:ext uri="{FF2B5EF4-FFF2-40B4-BE49-F238E27FC236}">
                <a16:creationId xmlns:a16="http://schemas.microsoft.com/office/drawing/2014/main" id="{F9B33D7F-F108-4AAE-A223-A2728F55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34000"/>
            <a:ext cx="1752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5" name="hybrid-trust-pill-5-text">
            <a:extLst xmlns:a="http://schemas.openxmlformats.org/drawingml/2006/main">
              <a:ext uri="{FF2B5EF4-FFF2-40B4-BE49-F238E27FC236}">
                <a16:creationId xmlns:a16="http://schemas.microsoft.com/office/drawing/2014/main" id="{41CA3AB3-EC09-49B4-B086-EB22406C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530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SMART on FHIR</a:t>
            </a:r>
          </a:p>
        </p:txBody>
      </p:sp>
      <p:sp>
        <p:nvSpPr>
          <p:cNvPr id="36" name="hybrid-footer-text">
            <a:extLst xmlns:a="http://schemas.openxmlformats.org/drawingml/2006/main">
              <a:ext uri="{FF2B5EF4-FFF2-40B4-BE49-F238E27FC236}">
                <a16:creationId xmlns:a16="http://schemas.microsoft.com/office/drawing/2014/main" id="{B5A4CA64-A221-456F-894F-B24B8057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10300"/>
            <a:ext cx="1135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Result: answers use local evidence and prior patient context, not raw model memory alone.</a:t>
            </a:r>
          </a:p>
        </p:txBody>
      </p:sp>
    </p:spTree>
    <p:extLst>
      <p:ext uri="{BB962C8B-B14F-4D97-AF65-F5344CB8AC3E}">
        <p14:creationId xmlns:p14="http://schemas.microsoft.com/office/powerpoint/2010/main" val="15219479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APPLICATION MODES">
            <a:extLst xmlns:a="http://schemas.openxmlformats.org/drawingml/2006/main">
              <a:ext uri="{FF2B5EF4-FFF2-40B4-BE49-F238E27FC236}">
                <a16:creationId xmlns:a16="http://schemas.microsoft.com/office/drawing/2014/main" id="{C6C69CBA-8791-4DA0-B395-4E90BF9A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APPLICATION MODES</a:t>
            </a:r>
          </a:p>
        </p:txBody>
      </p:sp>
      <p:sp>
        <p:nvSpPr>
          <p:cNvPr id="2" name="title-Guided for patients. Expert for deep review.">
            <a:extLst xmlns:a="http://schemas.openxmlformats.org/drawingml/2006/main">
              <a:ext uri="{FF2B5EF4-FFF2-40B4-BE49-F238E27FC236}">
                <a16:creationId xmlns:a16="http://schemas.microsoft.com/office/drawing/2014/main" id="{F558BE78-F42C-4745-97F2-ABC00129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Guided for patients. Expert for deep review.</a:t>
            </a:r>
          </a:p>
        </p:txBody>
      </p:sp>
      <p:sp>
        <p:nvSpPr>
          <p:cNvPr id="3" name="header-line-Guided for patients. Expert for deep review.">
            <a:extLst xmlns:a="http://schemas.openxmlformats.org/drawingml/2006/main">
              <a:ext uri="{FF2B5EF4-FFF2-40B4-BE49-F238E27FC236}">
                <a16:creationId xmlns:a16="http://schemas.microsoft.com/office/drawing/2014/main" id="{33CFC8F1-4141-40EE-B263-AFFC0BA4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Guided for patients. Expert for deep review.">
            <a:extLst xmlns:a="http://schemas.openxmlformats.org/drawingml/2006/main">
              <a:ext uri="{FF2B5EF4-FFF2-40B4-BE49-F238E27FC236}">
                <a16:creationId xmlns:a16="http://schemas.microsoft.com/office/drawing/2014/main" id="{95D6F035-C1CA-4A50-9F88-C6610CE7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The same local engine supports simple guidance and detailed evidence review.</a:t>
            </a:r>
          </a:p>
        </p:txBody>
      </p:sp>
      <p:sp>
        <p:nvSpPr>
          <p:cNvPr id="5" name="modes-mobile-backplate">
            <a:extLst xmlns:a="http://schemas.openxmlformats.org/drawingml/2006/main">
              <a:ext uri="{FF2B5EF4-FFF2-40B4-BE49-F238E27FC236}">
                <a16:creationId xmlns:a16="http://schemas.microsoft.com/office/drawing/2014/main" id="{62D1C8D0-E3D4-45B2-90BA-24AC5D4F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57400"/>
            <a:ext cx="2990850" cy="407670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6" name="modes-mobile-frame">
            <a:extLst xmlns:a="http://schemas.openxmlformats.org/drawingml/2006/main">
              <a:ext uri="{FF2B5EF4-FFF2-40B4-BE49-F238E27FC236}">
                <a16:creationId xmlns:a16="http://schemas.microsoft.com/office/drawing/2014/main" id="{8F315FEB-870D-4AC5-A4E1-B4007165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762250" cy="38481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32b92534d4e5c"/>
          <a:srcRect xmlns:a="http://schemas.openxmlformats.org/drawingml/2006/main" l="0" t="19051" r="0" b="190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171700"/>
            <a:ext cx="2762250" cy="3848100"/>
          </a:xfrm>
          <a:prstGeom xmlns:a="http://schemas.openxmlformats.org/drawingml/2006/main" prst="roundRect">
            <a:avLst>
              <a:gd name="adj" fmla="val 5517"/>
            </a:avLst>
          </a:prstGeom>
        </p:spPr>
      </p:pic>
      <p:sp>
        <p:nvSpPr>
          <p:cNvPr id="8" name="modes-mobile-caption">
            <a:extLst xmlns:a="http://schemas.openxmlformats.org/drawingml/2006/main">
              <a:ext uri="{FF2B5EF4-FFF2-40B4-BE49-F238E27FC236}">
                <a16:creationId xmlns:a16="http://schemas.microsoft.com/office/drawing/2014/main" id="{4D2F291E-65EE-4895-8416-C4725161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341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Local-first PWA: laptop, mobile, and installable app shells.</a:t>
            </a:r>
          </a:p>
        </p:txBody>
      </p:sp>
      <p:sp>
        <p:nvSpPr>
          <p:cNvPr id="9" name="mode-panel-1">
            <a:extLst xmlns:a="http://schemas.openxmlformats.org/drawingml/2006/main">
              <a:ext uri="{FF2B5EF4-FFF2-40B4-BE49-F238E27FC236}">
                <a16:creationId xmlns:a16="http://schemas.microsoft.com/office/drawing/2014/main" id="{B2C4CB62-C9FA-4203-AE00-7FFFE5FA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81153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mode-panel-line-1">
            <a:extLst xmlns:a="http://schemas.openxmlformats.org/drawingml/2006/main">
              <a:ext uri="{FF2B5EF4-FFF2-40B4-BE49-F238E27FC236}">
                <a16:creationId xmlns:a16="http://schemas.microsoft.com/office/drawing/2014/main" id="{6761EB41-20E6-435B-8B9B-2D3C2EA5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812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1" name="mode-panel-title-1">
            <a:extLst xmlns:a="http://schemas.openxmlformats.org/drawingml/2006/main">
              <a:ext uri="{FF2B5EF4-FFF2-40B4-BE49-F238E27FC236}">
                <a16:creationId xmlns:a16="http://schemas.microsoft.com/office/drawing/2014/main" id="{160B707D-C88E-400D-984A-45626606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Guided mode</a:t>
            </a:r>
          </a:p>
        </p:txBody>
      </p:sp>
      <p:sp>
        <p:nvSpPr>
          <p:cNvPr id="12" name="mode-panel-body-1">
            <a:extLst xmlns:a="http://schemas.openxmlformats.org/drawingml/2006/main">
              <a:ext uri="{FF2B5EF4-FFF2-40B4-BE49-F238E27FC236}">
                <a16:creationId xmlns:a16="http://schemas.microsoft.com/office/drawing/2014/main" id="{162166B8-A782-4C5E-8147-0342B54A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48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15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Simple patient flow that turns fragmented context into one safe next step.</a:t>
            </a:r>
          </a:p>
        </p:txBody>
      </p:sp>
      <p:sp>
        <p:nvSpPr>
          <p:cNvPr id="13" name="mode-panel-divider-1">
            <a:extLst xmlns:a="http://schemas.openxmlformats.org/drawingml/2006/main">
              <a:ext uri="{FF2B5EF4-FFF2-40B4-BE49-F238E27FC236}">
                <a16:creationId xmlns:a16="http://schemas.microsoft.com/office/drawing/2014/main" id="{BC2AAFC1-BAC8-4D1B-A7B6-C24E5BA0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384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F"/>
          </a:solidFill>
          <a:ln xmlns:a="http://schemas.openxmlformats.org/drawingml/2006/main" w="0">
            <a:solidFill>
              <a:srgbClr val="DEE7EF"/>
            </a:solidFill>
            <a:prstDash val="solid"/>
          </a:ln>
        </p:spPr>
      </p:sp>
      <p:sp>
        <p:nvSpPr>
          <p:cNvPr id="14" name="mode-panel-bullet-1-icon-810-262">
            <a:extLst xmlns:a="http://schemas.openxmlformats.org/drawingml/2006/main">
              <a:ext uri="{FF2B5EF4-FFF2-40B4-BE49-F238E27FC236}">
                <a16:creationId xmlns:a16="http://schemas.microsoft.com/office/drawing/2014/main" id="{C57B5AD7-B386-4591-8DCA-B97D160D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5" name="mode-panel-bullet-1-text-810-262">
            <a:extLst xmlns:a="http://schemas.openxmlformats.org/drawingml/2006/main">
              <a:ext uri="{FF2B5EF4-FFF2-40B4-BE49-F238E27FC236}">
                <a16:creationId xmlns:a16="http://schemas.microsoft.com/office/drawing/2014/main" id="{B4614F12-8A44-4B5E-9E5B-A2BC951A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Low-friction experience</a:t>
            </a:r>
          </a:p>
        </p:txBody>
      </p:sp>
      <p:sp>
        <p:nvSpPr>
          <p:cNvPr id="16" name="mode-panel-bullet-1-icon-810-290">
            <a:extLst xmlns:a="http://schemas.openxmlformats.org/drawingml/2006/main">
              <a:ext uri="{FF2B5EF4-FFF2-40B4-BE49-F238E27FC236}">
                <a16:creationId xmlns:a16="http://schemas.microsoft.com/office/drawing/2014/main" id="{A40C90C3-70F2-4A2B-898A-1041D525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7" name="mode-panel-bullet-1-text-810-290">
            <a:extLst xmlns:a="http://schemas.openxmlformats.org/drawingml/2006/main">
              <a:ext uri="{FF2B5EF4-FFF2-40B4-BE49-F238E27FC236}">
                <a16:creationId xmlns:a16="http://schemas.microsoft.com/office/drawing/2014/main" id="{7565E571-EBD7-47B6-8232-82757AC0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 default path</a:t>
            </a:r>
          </a:p>
        </p:txBody>
      </p:sp>
      <p:sp>
        <p:nvSpPr>
          <p:cNvPr id="18" name="mode-panel-bullet-1-icon-810-318">
            <a:extLst xmlns:a="http://schemas.openxmlformats.org/drawingml/2006/main">
              <a:ext uri="{FF2B5EF4-FFF2-40B4-BE49-F238E27FC236}">
                <a16:creationId xmlns:a16="http://schemas.microsoft.com/office/drawing/2014/main" id="{66528120-BEB4-454A-97C9-FFE1AD10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9" name="mode-panel-bullet-1-text-810-318">
            <a:extLst xmlns:a="http://schemas.openxmlformats.org/drawingml/2006/main">
              <a:ext uri="{FF2B5EF4-FFF2-40B4-BE49-F238E27FC236}">
                <a16:creationId xmlns:a16="http://schemas.microsoft.com/office/drawing/2014/main" id="{E864BDCB-97D9-4AC2-BE67-68A78170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Clear answer</a:t>
            </a:r>
          </a:p>
        </p:txBody>
      </p:sp>
      <p:sp>
        <p:nvSpPr>
          <p:cNvPr id="20" name="mode-panel-2">
            <a:extLst xmlns:a="http://schemas.openxmlformats.org/drawingml/2006/main">
              <a:ext uri="{FF2B5EF4-FFF2-40B4-BE49-F238E27FC236}">
                <a16:creationId xmlns:a16="http://schemas.microsoft.com/office/drawing/2014/main" id="{B9B90107-BA3E-48FB-BE0D-4BD0535F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33800"/>
            <a:ext cx="81153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mode-panel-line-2">
            <a:extLst xmlns:a="http://schemas.openxmlformats.org/drawingml/2006/main">
              <a:ext uri="{FF2B5EF4-FFF2-40B4-BE49-F238E27FC236}">
                <a16:creationId xmlns:a16="http://schemas.microsoft.com/office/drawing/2014/main" id="{DDD531F8-C8D3-4059-8023-863286C2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433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2" name="mode-panel-title-2">
            <a:extLst xmlns:a="http://schemas.openxmlformats.org/drawingml/2006/main">
              <a:ext uri="{FF2B5EF4-FFF2-40B4-BE49-F238E27FC236}">
                <a16:creationId xmlns:a16="http://schemas.microsoft.com/office/drawing/2014/main" id="{5B5E8B22-57E1-4B64-AB63-F7AA030B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Expert mode</a:t>
            </a:r>
          </a:p>
        </p:txBody>
      </p:sp>
      <p:sp>
        <p:nvSpPr>
          <p:cNvPr id="23" name="mode-panel-body-2">
            <a:extLst xmlns:a="http://schemas.openxmlformats.org/drawingml/2006/main">
              <a:ext uri="{FF2B5EF4-FFF2-40B4-BE49-F238E27FC236}">
                <a16:creationId xmlns:a16="http://schemas.microsoft.com/office/drawing/2014/main" id="{B3B26631-BBFB-4759-85F9-18B41400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10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0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Full routes, evidence panels, records, and deeper review controls.</a:t>
            </a:r>
          </a:p>
        </p:txBody>
      </p:sp>
      <p:sp>
        <p:nvSpPr>
          <p:cNvPr id="24" name="mode-panel-divider-2">
            <a:extLst xmlns:a="http://schemas.openxmlformats.org/drawingml/2006/main">
              <a:ext uri="{FF2B5EF4-FFF2-40B4-BE49-F238E27FC236}">
                <a16:creationId xmlns:a16="http://schemas.microsoft.com/office/drawing/2014/main" id="{8324DF09-A015-446D-A955-B86D15C2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005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F"/>
          </a:solidFill>
          <a:ln xmlns:a="http://schemas.openxmlformats.org/drawingml/2006/main" w="0">
            <a:solidFill>
              <a:srgbClr val="DEE7EF"/>
            </a:solidFill>
            <a:prstDash val="solid"/>
          </a:ln>
        </p:spPr>
      </p:sp>
      <p:sp>
        <p:nvSpPr>
          <p:cNvPr id="25" name="mode-panel-bullet-2-icon-810-426">
            <a:extLst xmlns:a="http://schemas.openxmlformats.org/drawingml/2006/main">
              <a:ext uri="{FF2B5EF4-FFF2-40B4-BE49-F238E27FC236}">
                <a16:creationId xmlns:a16="http://schemas.microsoft.com/office/drawing/2014/main" id="{341B19D1-1B6E-422A-BBAE-EFB5900E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6" name="mode-panel-bullet-2-text-810-426">
            <a:extLst xmlns:a="http://schemas.openxmlformats.org/drawingml/2006/main">
              <a:ext uri="{FF2B5EF4-FFF2-40B4-BE49-F238E27FC236}">
                <a16:creationId xmlns:a16="http://schemas.microsoft.com/office/drawing/2014/main" id="{611F5887-FB14-41D1-8108-A8A99627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76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Review risk and evidence</a:t>
            </a:r>
          </a:p>
        </p:txBody>
      </p:sp>
      <p:sp>
        <p:nvSpPr>
          <p:cNvPr id="27" name="mode-panel-bullet-2-icon-810-454">
            <a:extLst xmlns:a="http://schemas.openxmlformats.org/drawingml/2006/main">
              <a:ext uri="{FF2B5EF4-FFF2-40B4-BE49-F238E27FC236}">
                <a16:creationId xmlns:a16="http://schemas.microsoft.com/office/drawing/2014/main" id="{E54F919C-ABCC-42FB-8C4E-0C3488DA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8" name="mode-panel-bullet-2-text-810-454">
            <a:extLst xmlns:a="http://schemas.openxmlformats.org/drawingml/2006/main">
              <a:ext uri="{FF2B5EF4-FFF2-40B4-BE49-F238E27FC236}">
                <a16:creationId xmlns:a16="http://schemas.microsoft.com/office/drawing/2014/main" id="{B131A52F-6A7C-4806-ABC7-55262740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243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Inspect records and memory</a:t>
            </a:r>
          </a:p>
        </p:txBody>
      </p:sp>
      <p:sp>
        <p:nvSpPr>
          <p:cNvPr id="29" name="mode-panel-bullet-2-icon-810-482">
            <a:extLst xmlns:a="http://schemas.openxmlformats.org/drawingml/2006/main">
              <a:ext uri="{FF2B5EF4-FFF2-40B4-BE49-F238E27FC236}">
                <a16:creationId xmlns:a16="http://schemas.microsoft.com/office/drawing/2014/main" id="{9329735E-C72A-4508-9503-F018E47E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67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30" name="mode-panel-bullet-2-text-810-482">
            <a:extLst xmlns:a="http://schemas.openxmlformats.org/drawingml/2006/main">
              <a:ext uri="{FF2B5EF4-FFF2-40B4-BE49-F238E27FC236}">
                <a16:creationId xmlns:a16="http://schemas.microsoft.com/office/drawing/2014/main" id="{ACAF4E46-B356-4004-89B8-BC641C66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Navigate specialist workspaces</a:t>
            </a:r>
          </a:p>
        </p:txBody>
      </p:sp>
      <p:sp>
        <p:nvSpPr>
          <p:cNvPr id="31" name="workspace-modes-panel">
            <a:extLst xmlns:a="http://schemas.openxmlformats.org/drawingml/2006/main">
              <a:ext uri="{FF2B5EF4-FFF2-40B4-BE49-F238E27FC236}">
                <a16:creationId xmlns:a16="http://schemas.microsoft.com/office/drawing/2014/main" id="{BEC102E2-EA94-40D6-8224-3A3591C2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95900"/>
            <a:ext cx="81153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workspace-modes-line">
            <a:extLst xmlns:a="http://schemas.openxmlformats.org/drawingml/2006/main">
              <a:ext uri="{FF2B5EF4-FFF2-40B4-BE49-F238E27FC236}">
                <a16:creationId xmlns:a16="http://schemas.microsoft.com/office/drawing/2014/main" id="{79BB76F0-3AFF-47D6-B7A1-EA39CF74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245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3" name="workspace-modes-title">
            <a:extLst xmlns:a="http://schemas.openxmlformats.org/drawingml/2006/main">
              <a:ext uri="{FF2B5EF4-FFF2-40B4-BE49-F238E27FC236}">
                <a16:creationId xmlns:a16="http://schemas.microsoft.com/office/drawing/2014/main" id="{290B489B-1A4E-4FF9-8625-1866F9B7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388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14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Focused workspaces</a:t>
            </a:r>
          </a:p>
        </p:txBody>
      </p:sp>
      <p:sp>
        <p:nvSpPr>
          <p:cNvPr id="34" name="workspace-mode-pill-1-panel">
            <a:extLst xmlns:a="http://schemas.openxmlformats.org/drawingml/2006/main">
              <a:ext uri="{FF2B5EF4-FFF2-40B4-BE49-F238E27FC236}">
                <a16:creationId xmlns:a16="http://schemas.microsoft.com/office/drawing/2014/main" id="{0511EE36-A3B9-4C56-95D2-1EEF292A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054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5" name="workspace-mode-pill-1-text">
            <a:extLst xmlns:a="http://schemas.openxmlformats.org/drawingml/2006/main">
              <a:ext uri="{FF2B5EF4-FFF2-40B4-BE49-F238E27FC236}">
                <a16:creationId xmlns:a16="http://schemas.microsoft.com/office/drawing/2014/main" id="{98B74B84-5374-48A3-880B-DBE57001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245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Vitals</a:t>
            </a:r>
          </a:p>
        </p:txBody>
      </p:sp>
      <p:sp>
        <p:nvSpPr>
          <p:cNvPr id="36" name="workspace-mode-pill-2-panel">
            <a:extLst xmlns:a="http://schemas.openxmlformats.org/drawingml/2006/main">
              <a:ext uri="{FF2B5EF4-FFF2-40B4-BE49-F238E27FC236}">
                <a16:creationId xmlns:a16="http://schemas.microsoft.com/office/drawing/2014/main" id="{22E3EB73-00BB-46B3-B2E5-03692CC7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0545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37" name="workspace-mode-pill-2-text">
            <a:extLst xmlns:a="http://schemas.openxmlformats.org/drawingml/2006/main">
              <a:ext uri="{FF2B5EF4-FFF2-40B4-BE49-F238E27FC236}">
                <a16:creationId xmlns:a16="http://schemas.microsoft.com/office/drawing/2014/main" id="{61D2DFE5-204B-43C3-8230-2AC6D54F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Labs</a:t>
            </a:r>
          </a:p>
        </p:txBody>
      </p:sp>
      <p:sp>
        <p:nvSpPr>
          <p:cNvPr id="38" name="workspace-mode-pill-3-panel">
            <a:extLst xmlns:a="http://schemas.openxmlformats.org/drawingml/2006/main">
              <a:ext uri="{FF2B5EF4-FFF2-40B4-BE49-F238E27FC236}">
                <a16:creationId xmlns:a16="http://schemas.microsoft.com/office/drawing/2014/main" id="{BF6BFA7F-806A-4CF1-998D-8C41D36B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054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9" name="workspace-mode-pill-3-text">
            <a:extLst xmlns:a="http://schemas.openxmlformats.org/drawingml/2006/main">
              <a:ext uri="{FF2B5EF4-FFF2-40B4-BE49-F238E27FC236}">
                <a16:creationId xmlns:a16="http://schemas.microsoft.com/office/drawing/2014/main" id="{288C02D8-AA8F-4CC2-A9C5-1D0434EE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Wellness</a:t>
            </a:r>
          </a:p>
        </p:txBody>
      </p:sp>
      <p:sp>
        <p:nvSpPr>
          <p:cNvPr id="40" name="workspace-mode-pill-4-panel">
            <a:extLst xmlns:a="http://schemas.openxmlformats.org/drawingml/2006/main">
              <a:ext uri="{FF2B5EF4-FFF2-40B4-BE49-F238E27FC236}">
                <a16:creationId xmlns:a16="http://schemas.microsoft.com/office/drawing/2014/main" id="{AD3CA8AE-7F23-42B3-BD3F-3253F90E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05450"/>
            <a:ext cx="933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41" name="workspace-mode-pill-4-text">
            <a:extLst xmlns:a="http://schemas.openxmlformats.org/drawingml/2006/main">
              <a:ext uri="{FF2B5EF4-FFF2-40B4-BE49-F238E27FC236}">
                <a16:creationId xmlns:a16="http://schemas.microsoft.com/office/drawing/2014/main" id="{D400D639-67C6-492D-90EE-D0AB5D26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245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Records</a:t>
            </a:r>
          </a:p>
        </p:txBody>
      </p:sp>
      <p:sp>
        <p:nvSpPr>
          <p:cNvPr id="42" name="workspace-mode-pill-5-panel">
            <a:extLst xmlns:a="http://schemas.openxmlformats.org/drawingml/2006/main">
              <a:ext uri="{FF2B5EF4-FFF2-40B4-BE49-F238E27FC236}">
                <a16:creationId xmlns:a16="http://schemas.microsoft.com/office/drawing/2014/main" id="{3C4FC77D-B3F2-498E-BC43-273BEB0E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054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43" name="workspace-mode-pill-5-text">
            <a:extLst xmlns:a="http://schemas.openxmlformats.org/drawingml/2006/main">
              <a:ext uri="{FF2B5EF4-FFF2-40B4-BE49-F238E27FC236}">
                <a16:creationId xmlns:a16="http://schemas.microsoft.com/office/drawing/2014/main" id="{2C969284-A412-4D6E-A9AF-1EBD52BD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245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Insurance</a:t>
            </a:r>
          </a:p>
        </p:txBody>
      </p:sp>
      <p:sp>
        <p:nvSpPr>
          <p:cNvPr id="44" name="workspace-mode-pill-6-panel">
            <a:extLst xmlns:a="http://schemas.openxmlformats.org/drawingml/2006/main">
              <a:ext uri="{FF2B5EF4-FFF2-40B4-BE49-F238E27FC236}">
                <a16:creationId xmlns:a16="http://schemas.microsoft.com/office/drawing/2014/main" id="{1C88FE01-C35C-4E08-954B-716DA66D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0545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45" name="workspace-mode-pill-6-text">
            <a:extLst xmlns:a="http://schemas.openxmlformats.org/drawingml/2006/main">
              <a:ext uri="{FF2B5EF4-FFF2-40B4-BE49-F238E27FC236}">
                <a16:creationId xmlns:a16="http://schemas.microsoft.com/office/drawing/2014/main" id="{9CDF82C9-F4BF-40FC-BE8A-D0D198F7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Summary</a:t>
            </a:r>
          </a:p>
        </p:txBody>
      </p:sp>
      <p:sp>
        <p:nvSpPr>
          <p:cNvPr id="46" name="access-footer-text">
            <a:extLst xmlns:a="http://schemas.openxmlformats.org/drawingml/2006/main">
              <a:ext uri="{FF2B5EF4-FFF2-40B4-BE49-F238E27FC236}">
                <a16:creationId xmlns:a16="http://schemas.microsoft.com/office/drawing/2014/main" id="{60ABD343-438A-41EE-9D25-B04868EB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0555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38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One product surface can support both fast guidance and detailed review.</a:t>
            </a:r>
          </a:p>
        </p:txBody>
      </p:sp>
    </p:spTree>
    <p:extLst>
      <p:ext uri="{BB962C8B-B14F-4D97-AF65-F5344CB8AC3E}">
        <p14:creationId xmlns:p14="http://schemas.microsoft.com/office/powerpoint/2010/main" val="1734524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SAFETY BOUNDARY">
            <a:extLst xmlns:a="http://schemas.openxmlformats.org/drawingml/2006/main">
              <a:ext uri="{FF2B5EF4-FFF2-40B4-BE49-F238E27FC236}">
                <a16:creationId xmlns:a16="http://schemas.microsoft.com/office/drawing/2014/main" id="{FD4E3AF0-F54C-4D6B-B0F4-181102A3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SAFETY BOUNDARY</a:t>
            </a:r>
          </a:p>
        </p:txBody>
      </p:sp>
      <p:sp>
        <p:nvSpPr>
          <p:cNvPr id="2" name="title-The system helps, but it does not overstep">
            <a:extLst xmlns:a="http://schemas.openxmlformats.org/drawingml/2006/main">
              <a:ext uri="{FF2B5EF4-FFF2-40B4-BE49-F238E27FC236}">
                <a16:creationId xmlns:a16="http://schemas.microsoft.com/office/drawing/2014/main" id="{A5204B1A-8AB9-46BB-9345-97CB3B7D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The system helps, but it does not overstep</a:t>
            </a:r>
          </a:p>
        </p:txBody>
      </p:sp>
      <p:sp>
        <p:nvSpPr>
          <p:cNvPr id="3" name="header-line-The system helps, but it does not overstep">
            <a:extLst xmlns:a="http://schemas.openxmlformats.org/drawingml/2006/main">
              <a:ext uri="{FF2B5EF4-FFF2-40B4-BE49-F238E27FC236}">
                <a16:creationId xmlns:a16="http://schemas.microsoft.com/office/drawing/2014/main" id="{B5CF0389-FCE6-4BFA-B228-F93C5B9E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4" name="subtitle-The system helps, but it does not overstep">
            <a:extLst xmlns:a="http://schemas.openxmlformats.org/drawingml/2006/main">
              <a:ext uri="{FF2B5EF4-FFF2-40B4-BE49-F238E27FC236}">
                <a16:creationId xmlns:a16="http://schemas.microsoft.com/office/drawing/2014/main" id="{12A2182C-B13B-43B3-8E31-627D07D1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That keeps the demo useful and honest.</a:t>
            </a:r>
          </a:p>
        </p:txBody>
      </p:sp>
      <p:sp>
        <p:nvSpPr>
          <p:cNvPr id="5" name="final-supports-card">
            <a:extLst xmlns:a="http://schemas.openxmlformats.org/drawingml/2006/main">
              <a:ext uri="{FF2B5EF4-FFF2-40B4-BE49-F238E27FC236}">
                <a16:creationId xmlns:a16="http://schemas.microsoft.com/office/drawing/2014/main" id="{DCAC8708-20CB-4A1F-A463-1988E5F5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71700"/>
            <a:ext cx="55245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F7FFFD"/>
          </a:solidFill>
          <a:ln xmlns:a="http://schemas.openxmlformats.org/drawingml/2006/main" w="0">
            <a:solidFill>
              <a:srgbClr val="F7FFFD"/>
            </a:solidFill>
            <a:prstDash val="solid"/>
          </a:ln>
        </p:spPr>
      </p:sp>
      <p:sp>
        <p:nvSpPr>
          <p:cNvPr id="6" name="final-supports-line">
            <a:extLst xmlns:a="http://schemas.openxmlformats.org/drawingml/2006/main">
              <a:ext uri="{FF2B5EF4-FFF2-40B4-BE49-F238E27FC236}">
                <a16:creationId xmlns:a16="http://schemas.microsoft.com/office/drawing/2014/main" id="{5D6CD1BC-A429-42AD-A338-C77C08E9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7" name="final-supports-title">
            <a:extLst xmlns:a="http://schemas.openxmlformats.org/drawingml/2006/main">
              <a:ext uri="{FF2B5EF4-FFF2-40B4-BE49-F238E27FC236}">
                <a16:creationId xmlns:a16="http://schemas.microsoft.com/office/drawing/2014/main" id="{14EF63C2-D3A4-478E-A056-F3213074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Does help</a:t>
            </a:r>
          </a:p>
        </p:txBody>
      </p:sp>
      <p:sp>
        <p:nvSpPr>
          <p:cNvPr id="8" name="final-supports-bullet-icon-52-346">
            <a:extLst xmlns:a="http://schemas.openxmlformats.org/drawingml/2006/main">
              <a:ext uri="{FF2B5EF4-FFF2-40B4-BE49-F238E27FC236}">
                <a16:creationId xmlns:a16="http://schemas.microsoft.com/office/drawing/2014/main" id="{393B4D16-A9EB-4DEA-B35B-33732FF2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9" name="final-supports-bullet-text-52-346">
            <a:extLst xmlns:a="http://schemas.openxmlformats.org/drawingml/2006/main">
              <a:ext uri="{FF2B5EF4-FFF2-40B4-BE49-F238E27FC236}">
                <a16:creationId xmlns:a16="http://schemas.microsoft.com/office/drawing/2014/main" id="{2E6DCD7F-39C5-4D6C-8E06-ABC90D8C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Risk review and triage</a:t>
            </a:r>
          </a:p>
        </p:txBody>
      </p:sp>
      <p:sp>
        <p:nvSpPr>
          <p:cNvPr id="10" name="final-supports-bullet-icon-52-394">
            <a:extLst xmlns:a="http://schemas.openxmlformats.org/drawingml/2006/main">
              <a:ext uri="{FF2B5EF4-FFF2-40B4-BE49-F238E27FC236}">
                <a16:creationId xmlns:a16="http://schemas.microsoft.com/office/drawing/2014/main" id="{7929B35A-6DD6-4D3F-A368-50C2B197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1" name="final-supports-bullet-text-52-394">
            <a:extLst xmlns:a="http://schemas.openxmlformats.org/drawingml/2006/main">
              <a:ext uri="{FF2B5EF4-FFF2-40B4-BE49-F238E27FC236}">
                <a16:creationId xmlns:a16="http://schemas.microsoft.com/office/drawing/2014/main" id="{83363636-A8C4-4C55-A614-A949033D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Medicine, lab, and insurance guidance</a:t>
            </a:r>
          </a:p>
        </p:txBody>
      </p:sp>
      <p:sp>
        <p:nvSpPr>
          <p:cNvPr id="12" name="final-supports-bullet-icon-52-442">
            <a:extLst xmlns:a="http://schemas.openxmlformats.org/drawingml/2006/main">
              <a:ext uri="{FF2B5EF4-FFF2-40B4-BE49-F238E27FC236}">
                <a16:creationId xmlns:a16="http://schemas.microsoft.com/office/drawing/2014/main" id="{7D48CE05-020D-42CD-AABE-A451B59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final-supports-bullet-text-52-442">
            <a:extLst xmlns:a="http://schemas.openxmlformats.org/drawingml/2006/main">
              <a:ext uri="{FF2B5EF4-FFF2-40B4-BE49-F238E27FC236}">
                <a16:creationId xmlns:a16="http://schemas.microsoft.com/office/drawing/2014/main" id="{4A9F4200-2079-4928-90F9-CE8CC169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Doctor-ready summary and follow-up prep</a:t>
            </a:r>
          </a:p>
        </p:txBody>
      </p:sp>
      <p:sp>
        <p:nvSpPr>
          <p:cNvPr id="14" name="final-supports-bullet-icon-52-490">
            <a:extLst xmlns:a="http://schemas.openxmlformats.org/drawingml/2006/main">
              <a:ext uri="{FF2B5EF4-FFF2-40B4-BE49-F238E27FC236}">
                <a16:creationId xmlns:a16="http://schemas.microsoft.com/office/drawing/2014/main" id="{4314EDCF-B45C-4002-B00F-F65331CA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3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5" name="final-supports-bullet-text-52-490">
            <a:extLst xmlns:a="http://schemas.openxmlformats.org/drawingml/2006/main">
              <a:ext uri="{FF2B5EF4-FFF2-40B4-BE49-F238E27FC236}">
                <a16:creationId xmlns:a16="http://schemas.microsoft.com/office/drawing/2014/main" id="{1AE55F6F-78E7-4338-94BC-01CAB0E9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Urgent cases can force a safety-first route</a:t>
            </a:r>
          </a:p>
        </p:txBody>
      </p:sp>
      <p:sp>
        <p:nvSpPr>
          <p:cNvPr id="16" name="final-limits-card">
            <a:extLst xmlns:a="http://schemas.openxmlformats.org/drawingml/2006/main">
              <a:ext uri="{FF2B5EF4-FFF2-40B4-BE49-F238E27FC236}">
                <a16:creationId xmlns:a16="http://schemas.microsoft.com/office/drawing/2014/main" id="{3302ABF3-2C39-4974-9BBB-425CD85B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55245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0">
            <a:solidFill>
              <a:srgbClr val="FFF5EE"/>
            </a:solidFill>
            <a:prstDash val="solid"/>
          </a:ln>
        </p:spPr>
      </p:sp>
      <p:sp>
        <p:nvSpPr>
          <p:cNvPr id="17" name="final-limits-line">
            <a:extLst xmlns:a="http://schemas.openxmlformats.org/drawingml/2006/main">
              <a:ext uri="{FF2B5EF4-FFF2-40B4-BE49-F238E27FC236}">
                <a16:creationId xmlns:a16="http://schemas.microsoft.com/office/drawing/2014/main" id="{48151470-8E15-4EC1-9F59-56893ED3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8" name="final-limits-title">
            <a:extLst xmlns:a="http://schemas.openxmlformats.org/drawingml/2006/main">
              <a:ext uri="{FF2B5EF4-FFF2-40B4-BE49-F238E27FC236}">
                <a16:creationId xmlns:a16="http://schemas.microsoft.com/office/drawing/2014/main" id="{B1592E13-3E30-4C1E-B216-D3A5555F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Never does</a:t>
            </a:r>
          </a:p>
        </p:txBody>
      </p:sp>
      <p:sp>
        <p:nvSpPr>
          <p:cNvPr id="19" name="final-limits-bullet-icon-674-346">
            <a:extLst xmlns:a="http://schemas.openxmlformats.org/drawingml/2006/main">
              <a:ext uri="{FF2B5EF4-FFF2-40B4-BE49-F238E27FC236}">
                <a16:creationId xmlns:a16="http://schemas.microsoft.com/office/drawing/2014/main" id="{C150D4B8-C481-475A-B307-2606FB0F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0" name="final-limits-bullet-text-674-346">
            <a:extLst xmlns:a="http://schemas.openxmlformats.org/drawingml/2006/main">
              <a:ext uri="{FF2B5EF4-FFF2-40B4-BE49-F238E27FC236}">
                <a16:creationId xmlns:a16="http://schemas.microsoft.com/office/drawing/2014/main" id="{0D46F87B-6103-4925-894E-A1AEBD3E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Final diagnosis</a:t>
            </a:r>
          </a:p>
        </p:txBody>
      </p:sp>
      <p:sp>
        <p:nvSpPr>
          <p:cNvPr id="21" name="final-limits-bullet-icon-674-394">
            <a:extLst xmlns:a="http://schemas.openxmlformats.org/drawingml/2006/main">
              <a:ext uri="{FF2B5EF4-FFF2-40B4-BE49-F238E27FC236}">
                <a16:creationId xmlns:a16="http://schemas.microsoft.com/office/drawing/2014/main" id="{3EFA63CD-F900-40FF-BC53-022C9940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2" name="final-limits-bullet-text-674-394">
            <a:extLst xmlns:a="http://schemas.openxmlformats.org/drawingml/2006/main">
              <a:ext uri="{FF2B5EF4-FFF2-40B4-BE49-F238E27FC236}">
                <a16:creationId xmlns:a16="http://schemas.microsoft.com/office/drawing/2014/main" id="{CFFBAEE4-79A6-466A-BE11-9B437237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Prescribing</a:t>
            </a:r>
          </a:p>
        </p:txBody>
      </p:sp>
      <p:sp>
        <p:nvSpPr>
          <p:cNvPr id="23" name="final-limits-bullet-icon-674-442">
            <a:extLst xmlns:a="http://schemas.openxmlformats.org/drawingml/2006/main">
              <a:ext uri="{FF2B5EF4-FFF2-40B4-BE49-F238E27FC236}">
                <a16:creationId xmlns:a16="http://schemas.microsoft.com/office/drawing/2014/main" id="{D73AD283-2D3F-4EEF-8229-97A0B3E5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final-limits-bullet-text-674-442">
            <a:extLst xmlns:a="http://schemas.openxmlformats.org/drawingml/2006/main">
              <a:ext uri="{FF2B5EF4-FFF2-40B4-BE49-F238E27FC236}">
                <a16:creationId xmlns:a16="http://schemas.microsoft.com/office/drawing/2014/main" id="{3A9B831E-6C05-40DE-8CCE-E38DFC9D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00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Dose calculation</a:t>
            </a:r>
          </a:p>
        </p:txBody>
      </p:sp>
      <p:sp>
        <p:nvSpPr>
          <p:cNvPr id="25" name="final-limits-bullet-icon-674-490">
            <a:extLst xmlns:a="http://schemas.openxmlformats.org/drawingml/2006/main">
              <a:ext uri="{FF2B5EF4-FFF2-40B4-BE49-F238E27FC236}">
                <a16:creationId xmlns:a16="http://schemas.microsoft.com/office/drawing/2014/main" id="{C6885484-C7CD-4283-91C3-2C88E180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6" name="final-limits-bullet-text-674-490">
            <a:extLst xmlns:a="http://schemas.openxmlformats.org/drawingml/2006/main">
              <a:ext uri="{FF2B5EF4-FFF2-40B4-BE49-F238E27FC236}">
                <a16:creationId xmlns:a16="http://schemas.microsoft.com/office/drawing/2014/main" id="{2A9CD785-4B5C-4D4F-B1B3-F69217D5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Appointment booking or emergency calls</a:t>
            </a:r>
          </a:p>
        </p:txBody>
      </p:sp>
      <p:sp>
        <p:nvSpPr>
          <p:cNvPr id="27" name="final-memory-band">
            <a:extLst xmlns:a="http://schemas.openxmlformats.org/drawingml/2006/main">
              <a:ext uri="{FF2B5EF4-FFF2-40B4-BE49-F238E27FC236}">
                <a16:creationId xmlns:a16="http://schemas.microsoft.com/office/drawing/2014/main" id="{D4036D85-9B75-4743-8132-ACD15B30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19750"/>
            <a:ext cx="86106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6EFF7"/>
          </a:solidFill>
          <a:ln xmlns:a="http://schemas.openxmlformats.org/drawingml/2006/main" w="0">
            <a:solidFill>
              <a:srgbClr val="E6EFF7"/>
            </a:solidFill>
            <a:prstDash val="solid"/>
          </a:ln>
        </p:spPr>
      </p:sp>
      <p:sp>
        <p:nvSpPr>
          <p:cNvPr id="28" name="final-memory-text">
            <a:extLst xmlns:a="http://schemas.openxmlformats.org/drawingml/2006/main">
              <a:ext uri="{FF2B5EF4-FFF2-40B4-BE49-F238E27FC236}">
                <a16:creationId xmlns:a16="http://schemas.microsoft.com/office/drawing/2014/main" id="{97EE155C-677E-441A-B19A-D4C57D71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69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Patient context can grow. Clinical boundaries stay locked.</a:t>
            </a:r>
          </a:p>
        </p:txBody>
      </p:sp>
    </p:spTree>
    <p:extLst>
      <p:ext uri="{BB962C8B-B14F-4D97-AF65-F5344CB8AC3E}">
        <p14:creationId xmlns:p14="http://schemas.microsoft.com/office/powerpoint/2010/main" val="2074733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WHY IT STANDS OUT">
            <a:extLst xmlns:a="http://schemas.openxmlformats.org/drawingml/2006/main">
              <a:ext uri="{FF2B5EF4-FFF2-40B4-BE49-F238E27FC236}">
                <a16:creationId xmlns:a16="http://schemas.microsoft.com/office/drawing/2014/main" id="{FD63B5C4-FAB4-402A-A08E-38A006C0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WHY IT STANDS OUT</a:t>
            </a:r>
          </a:p>
        </p:txBody>
      </p:sp>
      <p:sp>
        <p:nvSpPr>
          <p:cNvPr id="2" name="title-Care Nova adds the layers generic AI misses">
            <a:extLst xmlns:a="http://schemas.openxmlformats.org/drawingml/2006/main">
              <a:ext uri="{FF2B5EF4-FFF2-40B4-BE49-F238E27FC236}">
                <a16:creationId xmlns:a16="http://schemas.microsoft.com/office/drawing/2014/main" id="{EB732892-50BF-4138-8AAA-9613D2F2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Care Nova adds the layers generic AI misses</a:t>
            </a:r>
          </a:p>
        </p:txBody>
      </p:sp>
      <p:sp>
        <p:nvSpPr>
          <p:cNvPr id="3" name="header-line-Care Nova adds the layers generic AI misses">
            <a:extLst xmlns:a="http://schemas.openxmlformats.org/drawingml/2006/main">
              <a:ext uri="{FF2B5EF4-FFF2-40B4-BE49-F238E27FC236}">
                <a16:creationId xmlns:a16="http://schemas.microsoft.com/office/drawing/2014/main" id="{EC8A902D-B1AF-4350-BC2A-0A431FE7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Care Nova adds the layers generic AI misses">
            <a:extLst xmlns:a="http://schemas.openxmlformats.org/drawingml/2006/main">
              <a:ext uri="{FF2B5EF4-FFF2-40B4-BE49-F238E27FC236}">
                <a16:creationId xmlns:a16="http://schemas.microsoft.com/office/drawing/2014/main" id="{B88152C0-292B-4C6E-93D9-A817917E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Memory, routing, and safety shift the answer from broad to focused.</a:t>
            </a:r>
          </a:p>
        </p:txBody>
      </p:sp>
      <p:sp>
        <p:nvSpPr>
          <p:cNvPr id="5" name="closing-band-1">
            <a:extLst xmlns:a="http://schemas.openxmlformats.org/drawingml/2006/main">
              <a:ext uri="{FF2B5EF4-FFF2-40B4-BE49-F238E27FC236}">
                <a16:creationId xmlns:a16="http://schemas.microsoft.com/office/drawing/2014/main" id="{BD177D5F-404F-4F8F-8E2A-11F46B1F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closing-band-line-1">
            <a:extLst xmlns:a="http://schemas.openxmlformats.org/drawingml/2006/main">
              <a:ext uri="{FF2B5EF4-FFF2-40B4-BE49-F238E27FC236}">
                <a16:creationId xmlns:a16="http://schemas.microsoft.com/office/drawing/2014/main" id="{260200D9-0B42-4719-9A0A-1E57A8F1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closing-band-label-1">
            <a:extLst xmlns:a="http://schemas.openxmlformats.org/drawingml/2006/main">
              <a:ext uri="{FF2B5EF4-FFF2-40B4-BE49-F238E27FC236}">
                <a16:creationId xmlns:a16="http://schemas.microsoft.com/office/drawing/2014/main" id="{C69A942A-1ED9-43D9-A4FA-1A6C8406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MEMORY</a:t>
            </a:r>
          </a:p>
        </p:txBody>
      </p:sp>
      <p:sp>
        <p:nvSpPr>
          <p:cNvPr id="8" name="closing-band-generic-1">
            <a:extLst xmlns:a="http://schemas.openxmlformats.org/drawingml/2006/main">
              <a:ext uri="{FF2B5EF4-FFF2-40B4-BE49-F238E27FC236}">
                <a16:creationId xmlns:a16="http://schemas.microsoft.com/office/drawing/2014/main" id="{D1EFD271-3678-4D96-B173-E1E971F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starts cold.</a:t>
            </a:r>
          </a:p>
        </p:txBody>
      </p:sp>
      <p:sp>
        <p:nvSpPr>
          <p:cNvPr id="9" name="closing-band-divider-1">
            <a:extLst xmlns:a="http://schemas.openxmlformats.org/drawingml/2006/main">
              <a:ext uri="{FF2B5EF4-FFF2-40B4-BE49-F238E27FC236}">
                <a16:creationId xmlns:a16="http://schemas.microsoft.com/office/drawing/2014/main" id="{F100A816-AB66-4AA0-A0F3-157B5DDD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003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10" name="closing-band-care-1">
            <a:extLst xmlns:a="http://schemas.openxmlformats.org/drawingml/2006/main">
              <a:ext uri="{FF2B5EF4-FFF2-40B4-BE49-F238E27FC236}">
                <a16:creationId xmlns:a16="http://schemas.microsoft.com/office/drawing/2014/main" id="{F54CED75-EA41-498E-B126-38E65C32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556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Care Nova reloads patient memory, records, and graph context.</a:t>
            </a:r>
          </a:p>
        </p:txBody>
      </p:sp>
      <p:sp>
        <p:nvSpPr>
          <p:cNvPr id="11" name="closing-band-2">
            <a:extLst xmlns:a="http://schemas.openxmlformats.org/drawingml/2006/main">
              <a:ext uri="{FF2B5EF4-FFF2-40B4-BE49-F238E27FC236}">
                <a16:creationId xmlns:a16="http://schemas.microsoft.com/office/drawing/2014/main" id="{8017AC67-2F42-47C3-AE98-9A6BE0E1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losing-band-line-2">
            <a:extLst xmlns:a="http://schemas.openxmlformats.org/drawingml/2006/main">
              <a:ext uri="{FF2B5EF4-FFF2-40B4-BE49-F238E27FC236}">
                <a16:creationId xmlns:a16="http://schemas.microsoft.com/office/drawing/2014/main" id="{CB987541-22B2-44B0-BDED-F28FEC95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closing-band-label-2">
            <a:extLst xmlns:a="http://schemas.openxmlformats.org/drawingml/2006/main">
              <a:ext uri="{FF2B5EF4-FFF2-40B4-BE49-F238E27FC236}">
                <a16:creationId xmlns:a16="http://schemas.microsoft.com/office/drawing/2014/main" id="{7D41B75E-F44F-45C8-AC73-EA23CB4F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ROUTING</a:t>
            </a:r>
          </a:p>
        </p:txBody>
      </p:sp>
      <p:sp>
        <p:nvSpPr>
          <p:cNvPr id="14" name="closing-band-generic-2">
            <a:extLst xmlns:a="http://schemas.openxmlformats.org/drawingml/2006/main">
              <a:ext uri="{FF2B5EF4-FFF2-40B4-BE49-F238E27FC236}">
                <a16:creationId xmlns:a16="http://schemas.microsoft.com/office/drawing/2014/main" id="{7700405D-3279-4664-9E7A-1A0DE0A1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gives one broad answer.</a:t>
            </a:r>
          </a:p>
        </p:txBody>
      </p:sp>
      <p:sp>
        <p:nvSpPr>
          <p:cNvPr id="15" name="closing-band-divider-2">
            <a:extLst xmlns:a="http://schemas.openxmlformats.org/drawingml/2006/main">
              <a:ext uri="{FF2B5EF4-FFF2-40B4-BE49-F238E27FC236}">
                <a16:creationId xmlns:a16="http://schemas.microsoft.com/office/drawing/2014/main" id="{611CFADA-EDA9-441B-B802-538B64A8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14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16" name="closing-band-care-2">
            <a:extLst xmlns:a="http://schemas.openxmlformats.org/drawingml/2006/main">
              <a:ext uri="{FF2B5EF4-FFF2-40B4-BE49-F238E27FC236}">
                <a16:creationId xmlns:a16="http://schemas.microsoft.com/office/drawing/2014/main" id="{547D2C21-E619-4A3C-B291-9C53AFE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719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1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Care Nova chooses the right specialist path before replying.</a:t>
            </a:r>
          </a:p>
        </p:txBody>
      </p:sp>
      <p:sp>
        <p:nvSpPr>
          <p:cNvPr id="17" name="closing-band-3">
            <a:extLst xmlns:a="http://schemas.openxmlformats.org/drawingml/2006/main">
              <a:ext uri="{FF2B5EF4-FFF2-40B4-BE49-F238E27FC236}">
                <a16:creationId xmlns:a16="http://schemas.microsoft.com/office/drawing/2014/main" id="{0E32455A-812B-49F2-8272-1DEAAE54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closing-band-line-3">
            <a:extLst xmlns:a="http://schemas.openxmlformats.org/drawingml/2006/main">
              <a:ext uri="{FF2B5EF4-FFF2-40B4-BE49-F238E27FC236}">
                <a16:creationId xmlns:a16="http://schemas.microsoft.com/office/drawing/2014/main" id="{76CB8548-2884-45F6-861C-571390D9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9" name="closing-band-label-3">
            <a:extLst xmlns:a="http://schemas.openxmlformats.org/drawingml/2006/main">
              <a:ext uri="{FF2B5EF4-FFF2-40B4-BE49-F238E27FC236}">
                <a16:creationId xmlns:a16="http://schemas.microsoft.com/office/drawing/2014/main" id="{F998494C-43C8-41EA-BC28-85CD01AE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SAFETY</a:t>
            </a:r>
          </a:p>
        </p:txBody>
      </p:sp>
      <p:sp>
        <p:nvSpPr>
          <p:cNvPr id="20" name="closing-band-generic-3">
            <a:extLst xmlns:a="http://schemas.openxmlformats.org/drawingml/2006/main">
              <a:ext uri="{FF2B5EF4-FFF2-40B4-BE49-F238E27FC236}">
                <a16:creationId xmlns:a16="http://schemas.microsoft.com/office/drawing/2014/main" id="{9DB74174-380F-4AA9-A238-DA52D0D1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can overstep.</a:t>
            </a:r>
          </a:p>
        </p:txBody>
      </p:sp>
      <p:sp>
        <p:nvSpPr>
          <p:cNvPr id="21" name="closing-band-divider-3">
            <a:extLst xmlns:a="http://schemas.openxmlformats.org/drawingml/2006/main">
              <a:ext uri="{FF2B5EF4-FFF2-40B4-BE49-F238E27FC236}">
                <a16:creationId xmlns:a16="http://schemas.microsoft.com/office/drawing/2014/main" id="{4EF910A3-EF58-4A1C-A677-BC776753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29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22" name="closing-band-care-3">
            <a:extLst xmlns:a="http://schemas.openxmlformats.org/drawingml/2006/main">
              <a:ext uri="{FF2B5EF4-FFF2-40B4-BE49-F238E27FC236}">
                <a16:creationId xmlns:a16="http://schemas.microsoft.com/office/drawing/2014/main" id="{F39BF28F-901F-427D-BC27-6B3A8D79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86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21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Care Nova blocks diagnosis, prescribing, and dosage advice in the demo build.</a:t>
            </a:r>
          </a:p>
        </p:txBody>
      </p:sp>
      <p:sp>
        <p:nvSpPr>
          <p:cNvPr id="23" name="closing-summary-strip">
            <a:extLst xmlns:a="http://schemas.openxmlformats.org/drawingml/2006/main">
              <a:ext uri="{FF2B5EF4-FFF2-40B4-BE49-F238E27FC236}">
                <a16:creationId xmlns:a16="http://schemas.microsoft.com/office/drawing/2014/main" id="{A8BACB78-6C05-468F-BE9E-BB7E4829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2014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6EFF7"/>
          </a:solidFill>
          <a:ln xmlns:a="http://schemas.openxmlformats.org/drawingml/2006/main" w="0">
            <a:solidFill>
              <a:srgbClr val="E6EFF7"/>
            </a:solidFill>
            <a:prstDash val="solid"/>
          </a:ln>
        </p:spPr>
      </p:sp>
      <p:sp>
        <p:nvSpPr>
          <p:cNvPr id="24" name="closing-final-text">
            <a:extLst xmlns:a="http://schemas.openxmlformats.org/drawingml/2006/main">
              <a:ext uri="{FF2B5EF4-FFF2-40B4-BE49-F238E27FC236}">
                <a16:creationId xmlns:a16="http://schemas.microsoft.com/office/drawing/2014/main" id="{9EA6AA82-813D-46FA-93FB-CB252975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Result: faster triage, more consistent guidance, and one clear next step.</a:t>
            </a:r>
          </a:p>
        </p:txBody>
      </p:sp>
    </p:spTree>
    <p:extLst>
      <p:ext uri="{BB962C8B-B14F-4D97-AF65-F5344CB8AC3E}">
        <p14:creationId xmlns:p14="http://schemas.microsoft.com/office/powerpoint/2010/main" val="1003988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2026-07-05T09:06:53.0950000Z</dcterms:created>
  <dcterms:modified xsi:type="dcterms:W3CDTF">2026-07-05T09:06:53.0960000Z</dcterms:modified>
</coreProperties>
</file>