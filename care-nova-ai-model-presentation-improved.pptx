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408f0be274cf2" /><Relationship Type="http://schemas.openxmlformats.org/officeDocument/2006/relationships/extended-properties" Target="/docProps/app.xml" Id="Rc5471fab432a484a" /><Relationship Type="http://schemas.openxmlformats.org/officeDocument/2006/relationships/officeDocument" Target="/ppt/presentation.xml" Id="R6f05792ddf2c45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fef1fac224a86"/>
  </p:sldMasterIdLst>
  <p:notesMasterIdLst>
    <p:notesMasterId xmlns:r="http://schemas.openxmlformats.org/officeDocument/2006/relationships" r:id="R13e5dd6cc6fd4bf4"/>
  </p:notesMasterIdLst>
  <p:sldIdLst>
    <p:sldId xmlns:r="http://schemas.openxmlformats.org/officeDocument/2006/relationships" id="256" r:id="R3e567b2ccabc46e7"/>
    <p:sldId xmlns:r="http://schemas.openxmlformats.org/officeDocument/2006/relationships" id="257" r:id="Ra5e937b9e0c543b1"/>
    <p:sldId xmlns:r="http://schemas.openxmlformats.org/officeDocument/2006/relationships" id="258" r:id="R1a090702609f4a9c"/>
    <p:sldId xmlns:r="http://schemas.openxmlformats.org/officeDocument/2006/relationships" id="259" r:id="R153a0c62db9b4a28"/>
    <p:sldId xmlns:r="http://schemas.openxmlformats.org/officeDocument/2006/relationships" id="260" r:id="Rd87c014605e44669"/>
    <p:sldId xmlns:r="http://schemas.openxmlformats.org/officeDocument/2006/relationships" id="261" r:id="Rf59fbc140a41486a"/>
    <p:sldId xmlns:r="http://schemas.openxmlformats.org/officeDocument/2006/relationships" id="262" r:id="R799dbf71381a481a"/>
    <p:sldId xmlns:r="http://schemas.openxmlformats.org/officeDocument/2006/relationships" id="263" r:id="R793046f271494bd8"/>
    <p:sldId xmlns:r="http://schemas.openxmlformats.org/officeDocument/2006/relationships" id="264" r:id="R66904c63a92242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83800cf454e68" /><Relationship Type="http://schemas.openxmlformats.org/officeDocument/2006/relationships/slideMaster" Target="/ppt/slideMasters/slideMaster1.xml" Id="R582fef1fac224a86" /><Relationship Type="http://schemas.openxmlformats.org/officeDocument/2006/relationships/notesMaster" Target="/ppt/notesMasters/notesMaster1.xml" Id="R13e5dd6cc6fd4bf4" /><Relationship Type="http://schemas.openxmlformats.org/officeDocument/2006/relationships/presProps" Target="/ppt/presProps.xml" Id="R1d93d1c2ea384361" /><Relationship Type="http://schemas.openxmlformats.org/officeDocument/2006/relationships/tableStyles" Target="/ppt/tableStyles.xml" Id="R323a83a7a7024e9f" /><Relationship Type="http://schemas.openxmlformats.org/officeDocument/2006/relationships/slide" Target="/ppt/slides/slide1.xml" Id="R3e567b2ccabc46e7" /><Relationship Type="http://schemas.openxmlformats.org/officeDocument/2006/relationships/slide" Target="/ppt/slides/slide2.xml" Id="Ra5e937b9e0c543b1" /><Relationship Type="http://schemas.openxmlformats.org/officeDocument/2006/relationships/slide" Target="/ppt/slides/slide3.xml" Id="R1a090702609f4a9c" /><Relationship Type="http://schemas.openxmlformats.org/officeDocument/2006/relationships/slide" Target="/ppt/slides/slide4.xml" Id="R153a0c62db9b4a28" /><Relationship Type="http://schemas.openxmlformats.org/officeDocument/2006/relationships/slide" Target="/ppt/slides/slide5.xml" Id="Rd87c014605e44669" /><Relationship Type="http://schemas.openxmlformats.org/officeDocument/2006/relationships/slide" Target="/ppt/slides/slide6.xml" Id="Rf59fbc140a41486a" /><Relationship Type="http://schemas.openxmlformats.org/officeDocument/2006/relationships/slide" Target="/ppt/slides/slide7.xml" Id="R799dbf71381a481a" /><Relationship Type="http://schemas.openxmlformats.org/officeDocument/2006/relationships/slide" Target="/ppt/slides/slide8.xml" Id="R793046f271494bd8" /><Relationship Type="http://schemas.openxmlformats.org/officeDocument/2006/relationships/slide" Target="/ppt/slides/slide9.xml" Id="R66904c63a92242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25cbe3de943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7dacad53d941eb" /><Relationship Type="http://schemas.openxmlformats.org/officeDocument/2006/relationships/notesMaster" Target="/ppt/notesMasters/notesMaster1.xml" Id="Ra6a7814c4be0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dd0f354c14acd" /><Relationship Type="http://schemas.openxmlformats.org/officeDocument/2006/relationships/notesMaster" Target="/ppt/notesMasters/notesMaster1.xml" Id="R44f89a9a805348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ab986b7924fc1" /><Relationship Type="http://schemas.openxmlformats.org/officeDocument/2006/relationships/notesMaster" Target="/ppt/notesMasters/notesMaster1.xml" Id="Rcd71c1dec8ed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30da852074fa3" /><Relationship Type="http://schemas.openxmlformats.org/officeDocument/2006/relationships/notesMaster" Target="/ppt/notesMasters/notesMaster1.xml" Id="R3d3c98a74d98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ccace9e8bd436c" /><Relationship Type="http://schemas.openxmlformats.org/officeDocument/2006/relationships/notesMaster" Target="/ppt/notesMasters/notesMaster1.xml" Id="R8847ce54036146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75b4608ec8458a" /><Relationship Type="http://schemas.openxmlformats.org/officeDocument/2006/relationships/notesMaster" Target="/ppt/notesMasters/notesMaster1.xml" Id="R58960ccb235241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c33391359f4b1a" /><Relationship Type="http://schemas.openxmlformats.org/officeDocument/2006/relationships/notesMaster" Target="/ppt/notesMasters/notesMaster1.xml" Id="R109c8764e7ec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56331e661c47b3" /><Relationship Type="http://schemas.openxmlformats.org/officeDocument/2006/relationships/notesMaster" Target="/ppt/notesMasters/notesMaster1.xml" Id="R1fd85009922b4c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e3f775eed54b71" /><Relationship Type="http://schemas.openxmlformats.org/officeDocument/2006/relationships/notesMaster" Target="/ppt/notesMasters/notesMaster1.xml" Id="R7835904ed36343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c969167a6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db9b46b9244019" /><Relationship Type="http://schemas.openxmlformats.org/officeDocument/2006/relationships/slideLayout" Target="/ppt/slideLayouts/slideLayout1.xml" Id="R8989a8aac5e145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9a8aac5e145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2586c38024f8f" /><Relationship Type="http://schemas.openxmlformats.org/officeDocument/2006/relationships/image" Target="/ppt/media/image.jpeg" Id="Rda7dbcf20b494ba9" /><Relationship Type="http://schemas.openxmlformats.org/officeDocument/2006/relationships/notesSlide" Target="/ppt/notesSlides/notesSlide1.xml" Id="R332532c8424444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29b5bc707458f" /><Relationship Type="http://schemas.openxmlformats.org/officeDocument/2006/relationships/notesSlide" Target="/ppt/notesSlides/notesSlide2.xml" Id="Reca209b7f86a47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da82c808b40f0" /><Relationship Type="http://schemas.openxmlformats.org/officeDocument/2006/relationships/image" Target="/ppt/media/image2.jpeg" Id="Rddfb69e0680747e9" /><Relationship Type="http://schemas.openxmlformats.org/officeDocument/2006/relationships/notesSlide" Target="/ppt/notesSlides/notesSlide3.xml" Id="R9ae5aa1de11343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7f799bb3f4e4e" /><Relationship Type="http://schemas.openxmlformats.org/officeDocument/2006/relationships/image" Target="/ppt/media/image3.jpeg" Id="Raf25bf263d744c0b" /><Relationship Type="http://schemas.openxmlformats.org/officeDocument/2006/relationships/notesSlide" Target="/ppt/notesSlides/notesSlide4.xml" Id="R98fcec45ffea43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1cc5f82824e3f" /><Relationship Type="http://schemas.openxmlformats.org/officeDocument/2006/relationships/notesSlide" Target="/ppt/notesSlides/notesSlide5.xml" Id="R23b971111d3d46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aad2087c14d9d" /><Relationship Type="http://schemas.openxmlformats.org/officeDocument/2006/relationships/notesSlide" Target="/ppt/notesSlides/notesSlide6.xml" Id="R6cb9ceb127f44c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e6c6722d54376" /><Relationship Type="http://schemas.openxmlformats.org/officeDocument/2006/relationships/notesSlide" Target="/ppt/notesSlides/notesSlide7.xml" Id="Ra367827048c14f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739a9881f449d" /><Relationship Type="http://schemas.openxmlformats.org/officeDocument/2006/relationships/notesSlide" Target="/ppt/notesSlides/notesSlide8.xml" Id="R599e5df3aea042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dc7f0c311419a" /><Relationship Type="http://schemas.openxmlformats.org/officeDocument/2006/relationships/notesSlide" Target="/ppt/notesSlides/notesSlide9.xml" Id="R8d739d490d29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E1847E36-CE40-480F-9831-D570AEF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3929A8A-6ECC-4A55-999C-F04FF49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HEALTHCARE AI DEMO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5A9D0FE-21BD-4490-8906-AEA1F53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AI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75DAAA49-4F18-430E-87D9-9D7722AF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DABC9F-69A6-41E6-808A-1C5DA2D5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69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Turns fragmented healthcare context into one clear, safety-checked next step.</a:t>
            </a:r>
          </a:p>
        </p:txBody>
      </p:sp>
      <p:sp>
        <p:nvSpPr>
          <p:cNvPr id="6" name="cover-supporting-line">
            <a:extLst xmlns:a="http://schemas.openxmlformats.org/drawingml/2006/main">
              <a:ext uri="{FF2B5EF4-FFF2-40B4-BE49-F238E27FC236}">
                <a16:creationId xmlns:a16="http://schemas.microsoft.com/office/drawing/2014/main" id="{244DC28C-F1A2-42B4-B8BB-9A93F55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Built for healthcare, not generic chat.</a:t>
            </a:r>
          </a:p>
        </p:txBody>
      </p:sp>
      <p:sp>
        <p:nvSpPr>
          <p:cNvPr id="7" name="cover-key-line-1">
            <a:extLst xmlns:a="http://schemas.openxmlformats.org/drawingml/2006/main">
              <a:ext uri="{FF2B5EF4-FFF2-40B4-BE49-F238E27FC236}">
                <a16:creationId xmlns:a16="http://schemas.microsoft.com/office/drawing/2014/main" id="{C4BC9C32-C743-4851-ACDF-D50B284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8" name="cover-key-text-1">
            <a:extLst xmlns:a="http://schemas.openxmlformats.org/drawingml/2006/main">
              <a:ext uri="{FF2B5EF4-FFF2-40B4-BE49-F238E27FC236}">
                <a16:creationId xmlns:a16="http://schemas.microsoft.com/office/drawing/2014/main" id="{E72273B4-010F-4BC0-89CA-E6E5B72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privacy</a:t>
            </a:r>
          </a:p>
        </p:txBody>
      </p:sp>
      <p:sp>
        <p:nvSpPr>
          <p:cNvPr id="9" name="cover-key-line-2">
            <a:extLst xmlns:a="http://schemas.openxmlformats.org/drawingml/2006/main">
              <a:ext uri="{FF2B5EF4-FFF2-40B4-BE49-F238E27FC236}">
                <a16:creationId xmlns:a16="http://schemas.microsoft.com/office/drawing/2014/main" id="{7F8DDE96-4F68-4B09-8076-4E4F86A5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0" name="cover-key-text-2">
            <a:extLst xmlns:a="http://schemas.openxmlformats.org/drawingml/2006/main">
              <a:ext uri="{FF2B5EF4-FFF2-40B4-BE49-F238E27FC236}">
                <a16:creationId xmlns:a16="http://schemas.microsoft.com/office/drawing/2014/main" id="{1215DECD-92F0-42B8-AC0F-92A2D0B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Specialist routing + evidence</a:t>
            </a:r>
          </a:p>
        </p:txBody>
      </p:sp>
      <p:sp>
        <p:nvSpPr>
          <p:cNvPr id="11" name="cover-key-line-3">
            <a:extLst xmlns:a="http://schemas.openxmlformats.org/drawingml/2006/main">
              <a:ext uri="{FF2B5EF4-FFF2-40B4-BE49-F238E27FC236}">
                <a16:creationId xmlns:a16="http://schemas.microsoft.com/office/drawing/2014/main" id="{85D76633-EB40-450E-980B-42DB5E19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2" name="cover-key-text-3">
            <a:extLst xmlns:a="http://schemas.openxmlformats.org/drawingml/2006/main">
              <a:ext uri="{FF2B5EF4-FFF2-40B4-BE49-F238E27FC236}">
                <a16:creationId xmlns:a16="http://schemas.microsoft.com/office/drawing/2014/main" id="{737B1C48-9542-471A-8B11-F4C605AA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 boundary built in</a:t>
            </a:r>
          </a:p>
        </p:txBody>
      </p:sp>
      <p:sp>
        <p:nvSpPr>
          <p:cNvPr id="13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14E94EB-AE5E-4F19-B9E1-B9BE3540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Cloud access is optional, not required.</a:t>
            </a:r>
          </a:p>
        </p:txBody>
      </p:sp>
      <p:sp>
        <p:nvSpPr>
          <p:cNvPr id="14" name="cover-desktop-backplate">
            <a:extLst xmlns:a="http://schemas.openxmlformats.org/drawingml/2006/main">
              <a:ext uri="{FF2B5EF4-FFF2-40B4-BE49-F238E27FC236}">
                <a16:creationId xmlns:a16="http://schemas.microsoft.com/office/drawing/2014/main" id="{BED0E9C1-5554-465C-BCED-CF4A4A2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"/>
            <a:ext cx="7429500" cy="60198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15" name="cover-desktop-frame">
            <a:extLst xmlns:a="http://schemas.openxmlformats.org/drawingml/2006/main">
              <a:ext uri="{FF2B5EF4-FFF2-40B4-BE49-F238E27FC236}">
                <a16:creationId xmlns:a16="http://schemas.microsoft.com/office/drawing/2014/main" id="{2A7F13E9-1DE0-4A4B-9A1F-AE88018E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"/>
            <a:ext cx="7200900" cy="57912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dbcf20b494ba9"/>
          <a:srcRect xmlns:a="http://schemas.openxmlformats.org/drawingml/2006/main" l="14614" t="0" r="146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514350"/>
            <a:ext cx="7200900" cy="57912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389716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">
            <a:extLst xmlns:a="http://schemas.openxmlformats.org/drawingml/2006/main">
              <a:ext uri="{FF2B5EF4-FFF2-40B4-BE49-F238E27FC236}">
                <a16:creationId xmlns:a16="http://schemas.microsoft.com/office/drawing/2014/main" id="{EB5600E8-5B1A-4292-BB0F-0727A960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</a:t>
            </a:r>
          </a:p>
        </p:txBody>
      </p:sp>
      <p:sp>
        <p:nvSpPr>
          <p:cNvPr id="2" name="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2FBCA102-56A1-4B44-BA83-5079B8E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From fragmented care data to one next step</a:t>
            </a:r>
          </a:p>
        </p:txBody>
      </p:sp>
      <p:sp>
        <p:nvSpPr>
          <p:cNvPr id="3" name="header-lin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14415802-A428-4BE6-96A7-A48C6AA7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C3C1013A-7A42-427D-B25C-477917C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Scattered care context becomes one focused, safety-checked response.</a:t>
            </a:r>
          </a:p>
        </p:txBody>
      </p:sp>
      <p:sp>
        <p:nvSpPr>
          <p:cNvPr id="5" name="application-input-panel">
            <a:extLst xmlns:a="http://schemas.openxmlformats.org/drawingml/2006/main">
              <a:ext uri="{FF2B5EF4-FFF2-40B4-BE49-F238E27FC236}">
                <a16:creationId xmlns:a16="http://schemas.microsoft.com/office/drawing/2014/main" id="{50EE1D42-5463-418E-94FD-029CCA0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38350"/>
            <a:ext cx="4362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pplication-input-line">
            <a:extLst xmlns:a="http://schemas.openxmlformats.org/drawingml/2006/main">
              <a:ext uri="{FF2B5EF4-FFF2-40B4-BE49-F238E27FC236}">
                <a16:creationId xmlns:a16="http://schemas.microsoft.com/office/drawing/2014/main" id="{943B65DD-E948-469D-8B5F-AA80D36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application-input-title">
            <a:extLst xmlns:a="http://schemas.openxmlformats.org/drawingml/2006/main">
              <a:ext uri="{FF2B5EF4-FFF2-40B4-BE49-F238E27FC236}">
                <a16:creationId xmlns:a16="http://schemas.microsoft.com/office/drawing/2014/main" id="{6AACA448-D439-48A1-AABA-4B3981E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in</a:t>
            </a:r>
          </a:p>
        </p:txBody>
      </p:sp>
      <p:sp>
        <p:nvSpPr>
          <p:cNvPr id="8" name="application-input-body">
            <a:extLst xmlns:a="http://schemas.openxmlformats.org/drawingml/2006/main">
              <a:ext uri="{FF2B5EF4-FFF2-40B4-BE49-F238E27FC236}">
                <a16:creationId xmlns:a16="http://schemas.microsoft.com/office/drawing/2014/main" id="{E7B321A0-9D7E-43FC-820A-52463454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Healthcare context is usually scattered.</a:t>
            </a:r>
          </a:p>
        </p:txBody>
      </p:sp>
      <p:sp>
        <p:nvSpPr>
          <p:cNvPr id="9" name="application-input-pill-1-panel">
            <a:extLst xmlns:a="http://schemas.openxmlformats.org/drawingml/2006/main">
              <a:ext uri="{FF2B5EF4-FFF2-40B4-BE49-F238E27FC236}">
                <a16:creationId xmlns:a16="http://schemas.microsoft.com/office/drawing/2014/main" id="{B6464E47-4609-4D37-8955-E066837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0" name="application-input-pill-1-text">
            <a:extLst xmlns:a="http://schemas.openxmlformats.org/drawingml/2006/main">
              <a:ext uri="{FF2B5EF4-FFF2-40B4-BE49-F238E27FC236}">
                <a16:creationId xmlns:a16="http://schemas.microsoft.com/office/drawing/2014/main" id="{3E5377F5-F4E5-428D-ABD7-56F8761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Symptoms</a:t>
            </a:r>
          </a:p>
        </p:txBody>
      </p:sp>
      <p:sp>
        <p:nvSpPr>
          <p:cNvPr id="11" name="application-input-pill-2-panel">
            <a:extLst xmlns:a="http://schemas.openxmlformats.org/drawingml/2006/main">
              <a:ext uri="{FF2B5EF4-FFF2-40B4-BE49-F238E27FC236}">
                <a16:creationId xmlns:a16="http://schemas.microsoft.com/office/drawing/2014/main" id="{E21CD544-C79C-4D73-88F1-AD4956C5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2" name="application-input-pill-2-text">
            <a:extLst xmlns:a="http://schemas.openxmlformats.org/drawingml/2006/main">
              <a:ext uri="{FF2B5EF4-FFF2-40B4-BE49-F238E27FC236}">
                <a16:creationId xmlns:a16="http://schemas.microsoft.com/office/drawing/2014/main" id="{8FA419C4-26DE-4C79-AB43-F692BD2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13" name="application-input-pill-3-panel">
            <a:extLst xmlns:a="http://schemas.openxmlformats.org/drawingml/2006/main">
              <a:ext uri="{FF2B5EF4-FFF2-40B4-BE49-F238E27FC236}">
                <a16:creationId xmlns:a16="http://schemas.microsoft.com/office/drawing/2014/main" id="{71F32027-136F-4685-924E-9497D85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14" name="application-input-pill-3-text">
            <a:extLst xmlns:a="http://schemas.openxmlformats.org/drawingml/2006/main">
              <a:ext uri="{FF2B5EF4-FFF2-40B4-BE49-F238E27FC236}">
                <a16:creationId xmlns:a16="http://schemas.microsoft.com/office/drawing/2014/main" id="{B49D27BF-EB73-44C7-96F0-644E0D40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Medicines</a:t>
            </a:r>
          </a:p>
        </p:txBody>
      </p:sp>
      <p:sp>
        <p:nvSpPr>
          <p:cNvPr id="15" name="application-input-pill-4-panel">
            <a:extLst xmlns:a="http://schemas.openxmlformats.org/drawingml/2006/main">
              <a:ext uri="{FF2B5EF4-FFF2-40B4-BE49-F238E27FC236}">
                <a16:creationId xmlns:a16="http://schemas.microsoft.com/office/drawing/2014/main" id="{BF7AC2E6-322B-4C59-B4BE-F45698F4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6" name="application-input-pill-4-text">
            <a:extLst xmlns:a="http://schemas.openxmlformats.org/drawingml/2006/main">
              <a:ext uri="{FF2B5EF4-FFF2-40B4-BE49-F238E27FC236}">
                <a16:creationId xmlns:a16="http://schemas.microsoft.com/office/drawing/2014/main" id="{0853E5CC-1347-405A-B6EF-1AC9F5EF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17" name="application-input-pill-5-panel">
            <a:extLst xmlns:a="http://schemas.openxmlformats.org/drawingml/2006/main">
              <a:ext uri="{FF2B5EF4-FFF2-40B4-BE49-F238E27FC236}">
                <a16:creationId xmlns:a16="http://schemas.microsoft.com/office/drawing/2014/main" id="{82D6410B-3192-4940-A01A-8A5BFBD7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8" name="application-input-pill-5-text">
            <a:extLst xmlns:a="http://schemas.openxmlformats.org/drawingml/2006/main">
              <a:ext uri="{FF2B5EF4-FFF2-40B4-BE49-F238E27FC236}">
                <a16:creationId xmlns:a16="http://schemas.microsoft.com/office/drawing/2014/main" id="{4937F68A-D84E-42E8-8F2B-02EDD208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19" name="application-input-pill-6-panel">
            <a:extLst xmlns:a="http://schemas.openxmlformats.org/drawingml/2006/main">
              <a:ext uri="{FF2B5EF4-FFF2-40B4-BE49-F238E27FC236}">
                <a16:creationId xmlns:a16="http://schemas.microsoft.com/office/drawing/2014/main" id="{EE1F7B3C-3CCF-4103-9115-CC6F2DD1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20" name="application-input-pill-6-text">
            <a:extLst xmlns:a="http://schemas.openxmlformats.org/drawingml/2006/main">
              <a:ext uri="{FF2B5EF4-FFF2-40B4-BE49-F238E27FC236}">
                <a16:creationId xmlns:a16="http://schemas.microsoft.com/office/drawing/2014/main" id="{FE8DE415-1D9C-4C6D-8716-6C0EC0B1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21" name="application-input-close">
            <a:extLst xmlns:a="http://schemas.openxmlformats.org/drawingml/2006/main">
              <a:ext uri="{FF2B5EF4-FFF2-40B4-BE49-F238E27FC236}">
                <a16:creationId xmlns:a16="http://schemas.microsoft.com/office/drawing/2014/main" id="{73444066-DE28-45B7-A90C-EC57069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Users struggle to turn this into one safe action.</a:t>
            </a:r>
          </a:p>
        </p:txBody>
      </p:sp>
      <p:sp>
        <p:nvSpPr>
          <p:cNvPr id="22" name="application-output-panel">
            <a:extLst xmlns:a="http://schemas.openxmlformats.org/drawingml/2006/main">
              <a:ext uri="{FF2B5EF4-FFF2-40B4-BE49-F238E27FC236}">
                <a16:creationId xmlns:a16="http://schemas.microsoft.com/office/drawing/2014/main" id="{AF08384E-5898-42E9-A6DF-640796C8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6648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pplication-output-line">
            <a:extLst xmlns:a="http://schemas.openxmlformats.org/drawingml/2006/main">
              <a:ext uri="{FF2B5EF4-FFF2-40B4-BE49-F238E27FC236}">
                <a16:creationId xmlns:a16="http://schemas.microsoft.com/office/drawing/2014/main" id="{7F1AD480-75EE-4741-9F4F-1F17BDE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application-output-title">
            <a:extLst xmlns:a="http://schemas.openxmlformats.org/drawingml/2006/main">
              <a:ext uri="{FF2B5EF4-FFF2-40B4-BE49-F238E27FC236}">
                <a16:creationId xmlns:a16="http://schemas.microsoft.com/office/drawing/2014/main" id="{68F71878-904D-419B-9918-5C5111B9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out</a:t>
            </a:r>
          </a:p>
        </p:txBody>
      </p:sp>
      <p:sp>
        <p:nvSpPr>
          <p:cNvPr id="25" name="application-output-hero">
            <a:extLst xmlns:a="http://schemas.openxmlformats.org/drawingml/2006/main">
              <a:ext uri="{FF2B5EF4-FFF2-40B4-BE49-F238E27FC236}">
                <a16:creationId xmlns:a16="http://schemas.microsoft.com/office/drawing/2014/main" id="{A02D800F-6CDE-4CC8-8C7E-FDE72DCA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focused,</a:t>
            </a:r>
          </a:p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safety-checked next step.</a:t>
            </a:r>
          </a:p>
        </p:txBody>
      </p:sp>
      <p:sp>
        <p:nvSpPr>
          <p:cNvPr id="26" name="application-output-bullet-icon-562-432">
            <a:extLst xmlns:a="http://schemas.openxmlformats.org/drawingml/2006/main">
              <a:ext uri="{FF2B5EF4-FFF2-40B4-BE49-F238E27FC236}">
                <a16:creationId xmlns:a16="http://schemas.microsoft.com/office/drawing/2014/main" id="{32BA79B6-AF4A-44FC-9CAE-35B119B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7" name="application-output-bullet-text-562-432">
            <a:extLst xmlns:a="http://schemas.openxmlformats.org/drawingml/2006/main">
              <a:ext uri="{FF2B5EF4-FFF2-40B4-BE49-F238E27FC236}">
                <a16:creationId xmlns:a16="http://schemas.microsoft.com/office/drawing/2014/main" id="{A008D41F-668F-4850-BBB3-3D7D775A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Relevant risk level</a:t>
            </a:r>
          </a:p>
        </p:txBody>
      </p:sp>
      <p:sp>
        <p:nvSpPr>
          <p:cNvPr id="28" name="application-output-bullet-icon-562-474">
            <a:extLst xmlns:a="http://schemas.openxmlformats.org/drawingml/2006/main">
              <a:ext uri="{FF2B5EF4-FFF2-40B4-BE49-F238E27FC236}">
                <a16:creationId xmlns:a16="http://schemas.microsoft.com/office/drawing/2014/main" id="{4F4204F2-3A45-4AB8-A8D0-2BE2150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9" name="application-output-bullet-text-562-474">
            <a:extLst xmlns:a="http://schemas.openxmlformats.org/drawingml/2006/main">
              <a:ext uri="{FF2B5EF4-FFF2-40B4-BE49-F238E27FC236}">
                <a16:creationId xmlns:a16="http://schemas.microsoft.com/office/drawing/2014/main" id="{C57E26CA-4E3D-4E92-98DB-45DC19FD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14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Evidence-backed reason</a:t>
            </a:r>
          </a:p>
        </p:txBody>
      </p:sp>
      <p:sp>
        <p:nvSpPr>
          <p:cNvPr id="30" name="application-output-bullet-icon-562-516">
            <a:extLst xmlns:a="http://schemas.openxmlformats.org/drawingml/2006/main">
              <a:ext uri="{FF2B5EF4-FFF2-40B4-BE49-F238E27FC236}">
                <a16:creationId xmlns:a16="http://schemas.microsoft.com/office/drawing/2014/main" id="{316F3E9F-F4D0-412F-A001-9223C2F8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91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application-output-bullet-text-562-516">
            <a:extLst xmlns:a="http://schemas.openxmlformats.org/drawingml/2006/main">
              <a:ext uri="{FF2B5EF4-FFF2-40B4-BE49-F238E27FC236}">
                <a16:creationId xmlns:a16="http://schemas.microsoft.com/office/drawing/2014/main" id="{843EB4CA-1955-4D8E-872A-115131ED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next action</a:t>
            </a:r>
          </a:p>
        </p:txBody>
      </p:sp>
      <p:sp>
        <p:nvSpPr>
          <p:cNvPr id="32" name="application-output-close">
            <a:extLst xmlns:a="http://schemas.openxmlformats.org/drawingml/2006/main">
              <a:ext uri="{FF2B5EF4-FFF2-40B4-BE49-F238E27FC236}">
                <a16:creationId xmlns:a16="http://schemas.microsoft.com/office/drawing/2014/main" id="{54D17586-E3B9-4566-ABB8-1917A1A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Not a broad answer. A guided next step.</a:t>
            </a:r>
          </a:p>
        </p:txBody>
      </p:sp>
      <p:sp>
        <p:nvSpPr>
          <p:cNvPr id="33" name="app-footer-card">
            <a:extLst xmlns:a="http://schemas.openxmlformats.org/drawingml/2006/main">
              <a:ext uri="{FF2B5EF4-FFF2-40B4-BE49-F238E27FC236}">
                <a16:creationId xmlns:a16="http://schemas.microsoft.com/office/drawing/2014/main" id="{EBCF1302-2F48-439F-A4C1-15B1645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72200"/>
            <a:ext cx="113538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app-bottom-line">
            <a:extLst xmlns:a="http://schemas.openxmlformats.org/drawingml/2006/main">
              <a:ext uri="{FF2B5EF4-FFF2-40B4-BE49-F238E27FC236}">
                <a16:creationId xmlns:a16="http://schemas.microsoft.com/office/drawing/2014/main" id="{3CE3F15B-7A4A-47FE-BB3E-2C166289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35" name="app-bottom-text">
            <a:extLst xmlns:a="http://schemas.openxmlformats.org/drawingml/2006/main">
              <a:ext uri="{FF2B5EF4-FFF2-40B4-BE49-F238E27FC236}">
                <a16:creationId xmlns:a16="http://schemas.microsoft.com/office/drawing/2014/main" id="{C9D26AE6-9AEA-4787-9D03-6D988CC5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Care Nova organizes context before it answers.</a:t>
            </a:r>
          </a:p>
        </p:txBody>
      </p:sp>
    </p:spTree>
    <p:extLst>
      <p:ext uri="{BB962C8B-B14F-4D97-AF65-F5344CB8AC3E}">
        <p14:creationId xmlns:p14="http://schemas.microsoft.com/office/powerpoint/2010/main" val="1934285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 MODES">
            <a:extLst xmlns:a="http://schemas.openxmlformats.org/drawingml/2006/main">
              <a:ext uri="{FF2B5EF4-FFF2-40B4-BE49-F238E27FC236}">
                <a16:creationId xmlns:a16="http://schemas.microsoft.com/office/drawing/2014/main" id="{494394C4-5319-4958-BF12-D99AD5F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 MODES</a:t>
            </a:r>
          </a:p>
        </p:txBody>
      </p:sp>
      <p:sp>
        <p:nvSpPr>
          <p:cNvPr id="2" name="title-One product. Two modes.">
            <a:extLst xmlns:a="http://schemas.openxmlformats.org/drawingml/2006/main">
              <a:ext uri="{FF2B5EF4-FFF2-40B4-BE49-F238E27FC236}">
                <a16:creationId xmlns:a16="http://schemas.microsoft.com/office/drawing/2014/main" id="{E203FF31-DB54-46FC-ACC5-26012AE8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One product. Two modes.</a:t>
            </a:r>
          </a:p>
        </p:txBody>
      </p:sp>
      <p:sp>
        <p:nvSpPr>
          <p:cNvPr id="3" name="header-line-One product. Two modes.">
            <a:extLst xmlns:a="http://schemas.openxmlformats.org/drawingml/2006/main">
              <a:ext uri="{FF2B5EF4-FFF2-40B4-BE49-F238E27FC236}">
                <a16:creationId xmlns:a16="http://schemas.microsoft.com/office/drawing/2014/main" id="{20A45281-C2AC-4230-94A4-30ADAE22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One product. Two modes.">
            <a:extLst xmlns:a="http://schemas.openxmlformats.org/drawingml/2006/main">
              <a:ext uri="{FF2B5EF4-FFF2-40B4-BE49-F238E27FC236}">
                <a16:creationId xmlns:a16="http://schemas.microsoft.com/office/drawing/2014/main" id="{3960AC41-0D77-4E8C-AEEC-5A1F7143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Simple guidance for patients. Deep review for teams.</a:t>
            </a:r>
          </a:p>
        </p:txBody>
      </p:sp>
      <p:sp>
        <p:nvSpPr>
          <p:cNvPr id="5" name="modes-mobile-backplate">
            <a:extLst xmlns:a="http://schemas.openxmlformats.org/drawingml/2006/main">
              <a:ext uri="{FF2B5EF4-FFF2-40B4-BE49-F238E27FC236}">
                <a16:creationId xmlns:a16="http://schemas.microsoft.com/office/drawing/2014/main" id="{45E7E6C8-D288-49B4-8A07-1F82C034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57400"/>
            <a:ext cx="2990850" cy="40767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modes-mobile-frame">
            <a:extLst xmlns:a="http://schemas.openxmlformats.org/drawingml/2006/main">
              <a:ext uri="{FF2B5EF4-FFF2-40B4-BE49-F238E27FC236}">
                <a16:creationId xmlns:a16="http://schemas.microsoft.com/office/drawing/2014/main" id="{8068B877-CA40-4867-B16E-20217FF3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b69e0680747e9"/>
          <a:srcRect xmlns:a="http://schemas.openxmlformats.org/drawingml/2006/main" l="0" t="19051" r="0" b="19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sp>
        <p:nvSpPr>
          <p:cNvPr id="8" name="modes-mobile-caption">
            <a:extLst xmlns:a="http://schemas.openxmlformats.org/drawingml/2006/main">
              <a:ext uri="{FF2B5EF4-FFF2-40B4-BE49-F238E27FC236}">
                <a16:creationId xmlns:a16="http://schemas.microsoft.com/office/drawing/2014/main" id="{FA6E7449-B057-4E1C-8660-C391308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Local-first PWA: laptop, mobile, and installable app shells.</a:t>
            </a:r>
          </a:p>
        </p:txBody>
      </p:sp>
      <p:sp>
        <p:nvSpPr>
          <p:cNvPr id="9" name="mode-panel-1">
            <a:extLst xmlns:a="http://schemas.openxmlformats.org/drawingml/2006/main">
              <a:ext uri="{FF2B5EF4-FFF2-40B4-BE49-F238E27FC236}">
                <a16:creationId xmlns:a16="http://schemas.microsoft.com/office/drawing/2014/main" id="{7D527217-086C-4A26-89EE-5AD79341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ode-panel-line-1">
            <a:extLst xmlns:a="http://schemas.openxmlformats.org/drawingml/2006/main">
              <a:ext uri="{FF2B5EF4-FFF2-40B4-BE49-F238E27FC236}">
                <a16:creationId xmlns:a16="http://schemas.microsoft.com/office/drawing/2014/main" id="{6ED69C5C-A09A-41A2-9F08-5561E650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1" name="mode-panel-title-1">
            <a:extLst xmlns:a="http://schemas.openxmlformats.org/drawingml/2006/main">
              <a:ext uri="{FF2B5EF4-FFF2-40B4-BE49-F238E27FC236}">
                <a16:creationId xmlns:a16="http://schemas.microsoft.com/office/drawing/2014/main" id="{3ABAC862-338E-4F31-BFB9-78A54CFF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mode</a:t>
            </a:r>
          </a:p>
        </p:txBody>
      </p:sp>
      <p:sp>
        <p:nvSpPr>
          <p:cNvPr id="12" name="mode-panel-body-1">
            <a:extLst xmlns:a="http://schemas.openxmlformats.org/drawingml/2006/main">
              <a:ext uri="{FF2B5EF4-FFF2-40B4-BE49-F238E27FC236}">
                <a16:creationId xmlns:a16="http://schemas.microsoft.com/office/drawing/2014/main" id="{655FCCC1-E7C0-497D-94EC-40C7DBB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Fast, patient-friendly first pass.</a:t>
            </a:r>
          </a:p>
        </p:txBody>
      </p:sp>
      <p:sp>
        <p:nvSpPr>
          <p:cNvPr id="13" name="mode-panel-divider-1">
            <a:extLst xmlns:a="http://schemas.openxmlformats.org/drawingml/2006/main">
              <a:ext uri="{FF2B5EF4-FFF2-40B4-BE49-F238E27FC236}">
                <a16:creationId xmlns:a16="http://schemas.microsoft.com/office/drawing/2014/main" id="{E4946429-27AF-4DCA-8461-62E3719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14" name="mode-panel-bullet-1-icon-810-272">
            <a:extLst xmlns:a="http://schemas.openxmlformats.org/drawingml/2006/main">
              <a:ext uri="{FF2B5EF4-FFF2-40B4-BE49-F238E27FC236}">
                <a16:creationId xmlns:a16="http://schemas.microsoft.com/office/drawing/2014/main" id="{1E201CF8-AAB0-48A8-BF97-36AB5CA5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5" name="mode-panel-bullet-1-text-810-272">
            <a:extLst xmlns:a="http://schemas.openxmlformats.org/drawingml/2006/main">
              <a:ext uri="{FF2B5EF4-FFF2-40B4-BE49-F238E27FC236}">
                <a16:creationId xmlns:a16="http://schemas.microsoft.com/office/drawing/2014/main" id="{5A9BE57E-3CB2-4294-946B-75B0B76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Low-friction experience</a:t>
            </a:r>
          </a:p>
        </p:txBody>
      </p:sp>
      <p:sp>
        <p:nvSpPr>
          <p:cNvPr id="16" name="mode-panel-bullet-1-icon-810-308">
            <a:extLst xmlns:a="http://schemas.openxmlformats.org/drawingml/2006/main">
              <a:ext uri="{FF2B5EF4-FFF2-40B4-BE49-F238E27FC236}">
                <a16:creationId xmlns:a16="http://schemas.microsoft.com/office/drawing/2014/main" id="{7C3CD2B0-2A43-40FA-B705-34FE989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7" name="mode-panel-bullet-1-text-810-308">
            <a:extLst xmlns:a="http://schemas.openxmlformats.org/drawingml/2006/main">
              <a:ext uri="{FF2B5EF4-FFF2-40B4-BE49-F238E27FC236}">
                <a16:creationId xmlns:a16="http://schemas.microsoft.com/office/drawing/2014/main" id="{F4C9273B-62CB-4643-9364-769DCDB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Clear safe answer</a:t>
            </a:r>
          </a:p>
        </p:txBody>
      </p:sp>
      <p:sp>
        <p:nvSpPr>
          <p:cNvPr id="18" name="mode-panel-2">
            <a:extLst xmlns:a="http://schemas.openxmlformats.org/drawingml/2006/main">
              <a:ext uri="{FF2B5EF4-FFF2-40B4-BE49-F238E27FC236}">
                <a16:creationId xmlns:a16="http://schemas.microsoft.com/office/drawing/2014/main" id="{A2B344B3-36A2-440B-ADD9-2A8304C8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mode-panel-line-2">
            <a:extLst xmlns:a="http://schemas.openxmlformats.org/drawingml/2006/main">
              <a:ext uri="{FF2B5EF4-FFF2-40B4-BE49-F238E27FC236}">
                <a16:creationId xmlns:a16="http://schemas.microsoft.com/office/drawing/2014/main" id="{1466B953-84A2-4219-922D-16C342AC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mode-panel-title-2">
            <a:extLst xmlns:a="http://schemas.openxmlformats.org/drawingml/2006/main">
              <a:ext uri="{FF2B5EF4-FFF2-40B4-BE49-F238E27FC236}">
                <a16:creationId xmlns:a16="http://schemas.microsoft.com/office/drawing/2014/main" id="{551749E4-72DE-45A8-A0A4-D8CAE8EA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Expert mode</a:t>
            </a:r>
          </a:p>
        </p:txBody>
      </p:sp>
      <p:sp>
        <p:nvSpPr>
          <p:cNvPr id="21" name="mode-panel-body-2">
            <a:extLst xmlns:a="http://schemas.openxmlformats.org/drawingml/2006/main">
              <a:ext uri="{FF2B5EF4-FFF2-40B4-BE49-F238E27FC236}">
                <a16:creationId xmlns:a16="http://schemas.microsoft.com/office/drawing/2014/main" id="{D5EF8909-61D0-4900-8C85-B1A221D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1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Full review surface for routes, evidence, and records.</a:t>
            </a:r>
          </a:p>
        </p:txBody>
      </p:sp>
      <p:sp>
        <p:nvSpPr>
          <p:cNvPr id="22" name="mode-panel-divider-2">
            <a:extLst xmlns:a="http://schemas.openxmlformats.org/drawingml/2006/main">
              <a:ext uri="{FF2B5EF4-FFF2-40B4-BE49-F238E27FC236}">
                <a16:creationId xmlns:a16="http://schemas.microsoft.com/office/drawing/2014/main" id="{94638657-4579-4963-99E4-73D84154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23" name="mode-panel-bullet-2-icon-810-436">
            <a:extLst xmlns:a="http://schemas.openxmlformats.org/drawingml/2006/main">
              <a:ext uri="{FF2B5EF4-FFF2-40B4-BE49-F238E27FC236}">
                <a16:creationId xmlns:a16="http://schemas.microsoft.com/office/drawing/2014/main" id="{9E404582-CAC7-4DAC-BA3D-66F73D11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4" name="mode-panel-bullet-2-text-810-436">
            <a:extLst xmlns:a="http://schemas.openxmlformats.org/drawingml/2006/main">
              <a:ext uri="{FF2B5EF4-FFF2-40B4-BE49-F238E27FC236}">
                <a16:creationId xmlns:a16="http://schemas.microsoft.com/office/drawing/2014/main" id="{DA3A6FC8-085B-4AC0-B049-17D8DC58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Review risk and evidence</a:t>
            </a:r>
          </a:p>
        </p:txBody>
      </p:sp>
      <p:sp>
        <p:nvSpPr>
          <p:cNvPr id="25" name="mode-panel-bullet-2-icon-810-472">
            <a:extLst xmlns:a="http://schemas.openxmlformats.org/drawingml/2006/main">
              <a:ext uri="{FF2B5EF4-FFF2-40B4-BE49-F238E27FC236}">
                <a16:creationId xmlns:a16="http://schemas.microsoft.com/office/drawing/2014/main" id="{F7B749A9-55F7-4421-85D0-89974C4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panel-bullet-2-text-810-472">
            <a:extLst xmlns:a="http://schemas.openxmlformats.org/drawingml/2006/main">
              <a:ext uri="{FF2B5EF4-FFF2-40B4-BE49-F238E27FC236}">
                <a16:creationId xmlns:a16="http://schemas.microsoft.com/office/drawing/2014/main" id="{E2D9FFC4-DBEC-413A-B553-864C663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Inspect records and memory</a:t>
            </a:r>
          </a:p>
        </p:txBody>
      </p:sp>
      <p:sp>
        <p:nvSpPr>
          <p:cNvPr id="27" name="workspace-modes-panel">
            <a:extLst xmlns:a="http://schemas.openxmlformats.org/drawingml/2006/main">
              <a:ext uri="{FF2B5EF4-FFF2-40B4-BE49-F238E27FC236}">
                <a16:creationId xmlns:a16="http://schemas.microsoft.com/office/drawing/2014/main" id="{02237290-4069-49A1-A4E2-0AD43A45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8115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workspace-modes-line">
            <a:extLst xmlns:a="http://schemas.openxmlformats.org/drawingml/2006/main">
              <a:ext uri="{FF2B5EF4-FFF2-40B4-BE49-F238E27FC236}">
                <a16:creationId xmlns:a16="http://schemas.microsoft.com/office/drawing/2014/main" id="{684E89E2-29F1-458A-BF11-3CF0490A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245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9" name="workspace-modes-title">
            <a:extLst xmlns:a="http://schemas.openxmlformats.org/drawingml/2006/main">
              <a:ext uri="{FF2B5EF4-FFF2-40B4-BE49-F238E27FC236}">
                <a16:creationId xmlns:a16="http://schemas.microsoft.com/office/drawing/2014/main" id="{63D22EFC-15FF-4469-B7E4-F7FBEFA1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388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workspaces</a:t>
            </a:r>
          </a:p>
        </p:txBody>
      </p:sp>
      <p:sp>
        <p:nvSpPr>
          <p:cNvPr id="30" name="workspace-mode-pill-1-panel">
            <a:extLst xmlns:a="http://schemas.openxmlformats.org/drawingml/2006/main">
              <a:ext uri="{FF2B5EF4-FFF2-40B4-BE49-F238E27FC236}">
                <a16:creationId xmlns:a16="http://schemas.microsoft.com/office/drawing/2014/main" id="{D545A6B6-CD2F-4977-A6A4-BF97EE2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054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1" name="workspace-mode-pill-1-text">
            <a:extLst xmlns:a="http://schemas.openxmlformats.org/drawingml/2006/main">
              <a:ext uri="{FF2B5EF4-FFF2-40B4-BE49-F238E27FC236}">
                <a16:creationId xmlns:a16="http://schemas.microsoft.com/office/drawing/2014/main" id="{C3A1C946-3F8E-4ECC-BD5D-B334C61B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32" name="workspace-mode-pill-2-panel">
            <a:extLst xmlns:a="http://schemas.openxmlformats.org/drawingml/2006/main">
              <a:ext uri="{FF2B5EF4-FFF2-40B4-BE49-F238E27FC236}">
                <a16:creationId xmlns:a16="http://schemas.microsoft.com/office/drawing/2014/main" id="{4D367CDA-5E2F-4DD5-A53D-B4722546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054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3" name="workspace-mode-pill-2-text">
            <a:extLst xmlns:a="http://schemas.openxmlformats.org/drawingml/2006/main">
              <a:ext uri="{FF2B5EF4-FFF2-40B4-BE49-F238E27FC236}">
                <a16:creationId xmlns:a16="http://schemas.microsoft.com/office/drawing/2014/main" id="{E67FD873-9338-4CB5-AF1D-F67B25D6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34" name="workspace-mode-pill-3-panel">
            <a:extLst xmlns:a="http://schemas.openxmlformats.org/drawingml/2006/main">
              <a:ext uri="{FF2B5EF4-FFF2-40B4-BE49-F238E27FC236}">
                <a16:creationId xmlns:a16="http://schemas.microsoft.com/office/drawing/2014/main" id="{42CAB6E7-41B5-4481-AD85-0544C51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05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workspace-mode-pill-3-text">
            <a:extLst xmlns:a="http://schemas.openxmlformats.org/drawingml/2006/main">
              <a:ext uri="{FF2B5EF4-FFF2-40B4-BE49-F238E27FC236}">
                <a16:creationId xmlns:a16="http://schemas.microsoft.com/office/drawing/2014/main" id="{5E40828D-0E1E-4295-9084-7852EC99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Wellness</a:t>
            </a:r>
          </a:p>
        </p:txBody>
      </p:sp>
      <p:sp>
        <p:nvSpPr>
          <p:cNvPr id="36" name="workspace-mode-pill-4-panel">
            <a:extLst xmlns:a="http://schemas.openxmlformats.org/drawingml/2006/main">
              <a:ext uri="{FF2B5EF4-FFF2-40B4-BE49-F238E27FC236}">
                <a16:creationId xmlns:a16="http://schemas.microsoft.com/office/drawing/2014/main" id="{3DB02257-5AB0-411C-9148-4D39F253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05450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7" name="workspace-mode-pill-4-text">
            <a:extLst xmlns:a="http://schemas.openxmlformats.org/drawingml/2006/main">
              <a:ext uri="{FF2B5EF4-FFF2-40B4-BE49-F238E27FC236}">
                <a16:creationId xmlns:a16="http://schemas.microsoft.com/office/drawing/2014/main" id="{CEE9FF79-54B5-4759-8FD5-C547A1DD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38" name="workspace-mode-pill-5-panel">
            <a:extLst xmlns:a="http://schemas.openxmlformats.org/drawingml/2006/main">
              <a:ext uri="{FF2B5EF4-FFF2-40B4-BE49-F238E27FC236}">
                <a16:creationId xmlns:a16="http://schemas.microsoft.com/office/drawing/2014/main" id="{247037F4-30FC-43E6-A5D6-3263B0AB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054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9" name="workspace-mode-pill-5-text">
            <a:extLst xmlns:a="http://schemas.openxmlformats.org/drawingml/2006/main">
              <a:ext uri="{FF2B5EF4-FFF2-40B4-BE49-F238E27FC236}">
                <a16:creationId xmlns:a16="http://schemas.microsoft.com/office/drawing/2014/main" id="{FAF249E0-8B66-4D99-90C3-4561EC2B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24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40" name="workspace-mode-pill-6-panel">
            <a:extLst xmlns:a="http://schemas.openxmlformats.org/drawingml/2006/main">
              <a:ext uri="{FF2B5EF4-FFF2-40B4-BE49-F238E27FC236}">
                <a16:creationId xmlns:a16="http://schemas.microsoft.com/office/drawing/2014/main" id="{54E2280B-CF91-443C-8FB5-8369102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054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1" name="workspace-mode-pill-6-text">
            <a:extLst xmlns:a="http://schemas.openxmlformats.org/drawingml/2006/main">
              <a:ext uri="{FF2B5EF4-FFF2-40B4-BE49-F238E27FC236}">
                <a16:creationId xmlns:a16="http://schemas.microsoft.com/office/drawing/2014/main" id="{FA7CF79E-50B8-4C4E-944D-3D49BC39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42" name="access-footer-text">
            <a:extLst xmlns:a="http://schemas.openxmlformats.org/drawingml/2006/main">
              <a:ext uri="{FF2B5EF4-FFF2-40B4-BE49-F238E27FC236}">
                <a16:creationId xmlns:a16="http://schemas.microsoft.com/office/drawing/2014/main" id="{AFFA6196-E329-4745-A46D-4E11BC10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0555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38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surface can support both quick guidance and deep review.</a:t>
            </a:r>
          </a:p>
        </p:txBody>
      </p:sp>
    </p:spTree>
    <p:extLst>
      <p:ext uri="{BB962C8B-B14F-4D97-AF65-F5344CB8AC3E}">
        <p14:creationId xmlns:p14="http://schemas.microsoft.com/office/powerpoint/2010/main" val="1102468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MODEL WORKFLOW">
            <a:extLst xmlns:a="http://schemas.openxmlformats.org/drawingml/2006/main">
              <a:ext uri="{FF2B5EF4-FFF2-40B4-BE49-F238E27FC236}">
                <a16:creationId xmlns:a16="http://schemas.microsoft.com/office/drawing/2014/main" id="{C07E2430-C4EE-477A-BD9A-EC80CD4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MODEL WORKFLOW</a:t>
            </a:r>
          </a:p>
        </p:txBody>
      </p:sp>
      <p:sp>
        <p:nvSpPr>
          <p:cNvPr id="2" name="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B0DA9DE3-EB53-49E3-A91F-41DA4F2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is not a normal chatbot</a:t>
            </a:r>
          </a:p>
        </p:txBody>
      </p:sp>
      <p:sp>
        <p:nvSpPr>
          <p:cNvPr id="3" name="header-lin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7D1A5E04-A515-4824-A596-7B23355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FEF52680-EA01-4BE9-AC45-152FEBFE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generic chatbot answers once. Care Nova checks, routes, and guards first.</a:t>
            </a:r>
          </a:p>
        </p:txBody>
      </p:sp>
      <p:sp>
        <p:nvSpPr>
          <p:cNvPr id="5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D3750E5E-FB59-47AB-8BE6-0250030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4"/>
          </a:solidFill>
          <a:ln xmlns:a="http://schemas.openxmlformats.org/drawingml/2006/main" w="0">
            <a:solidFill>
              <a:srgbClr val="CCD9E4"/>
            </a:solidFill>
            <a:prstDash val="solid"/>
          </a:ln>
        </p:spPr>
      </p:sp>
      <p:sp>
        <p:nvSpPr>
          <p:cNvPr id="6" name="workflow-step-1-panel">
            <a:extLst xmlns:a="http://schemas.openxmlformats.org/drawingml/2006/main">
              <a:ext uri="{FF2B5EF4-FFF2-40B4-BE49-F238E27FC236}">
                <a16:creationId xmlns:a16="http://schemas.microsoft.com/office/drawing/2014/main" id="{C071F965-6E11-495F-A306-1B5A9FF5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7" name="workflow-step-1-text">
            <a:extLst xmlns:a="http://schemas.openxmlformats.org/drawingml/2006/main">
              <a:ext uri="{FF2B5EF4-FFF2-40B4-BE49-F238E27FC236}">
                <a16:creationId xmlns:a16="http://schemas.microsoft.com/office/drawing/2014/main" id="{DAC816B1-9993-4D11-841F-4C5784DB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workflow-step-title-1">
            <a:extLst xmlns:a="http://schemas.openxmlformats.org/drawingml/2006/main">
              <a:ext uri="{FF2B5EF4-FFF2-40B4-BE49-F238E27FC236}">
                <a16:creationId xmlns:a16="http://schemas.microsoft.com/office/drawing/2014/main" id="{5C7ED085-E2C4-43DC-9D14-C471D122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input</a:t>
            </a:r>
          </a:p>
        </p:txBody>
      </p:sp>
      <p:sp>
        <p:nvSpPr>
          <p:cNvPr id="9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A2A66D5B-56DC-4945-B3DB-0F7B80D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Symptom, reading, medicine question, or care request enters.</a:t>
            </a:r>
          </a:p>
        </p:txBody>
      </p:sp>
      <p:sp>
        <p:nvSpPr>
          <p:cNvPr id="10" name="workflow-step-2-panel">
            <a:extLst xmlns:a="http://schemas.openxmlformats.org/drawingml/2006/main">
              <a:ext uri="{FF2B5EF4-FFF2-40B4-BE49-F238E27FC236}">
                <a16:creationId xmlns:a16="http://schemas.microsoft.com/office/drawing/2014/main" id="{49ED0B57-9E2F-4119-A1EE-941DBE82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11" name="workflow-step-2-text">
            <a:extLst xmlns:a="http://schemas.openxmlformats.org/drawingml/2006/main">
              <a:ext uri="{FF2B5EF4-FFF2-40B4-BE49-F238E27FC236}">
                <a16:creationId xmlns:a16="http://schemas.microsoft.com/office/drawing/2014/main" id="{0AB6A458-DC14-439F-8375-D2DD24E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workflow-step-title-2">
            <a:extLst xmlns:a="http://schemas.openxmlformats.org/drawingml/2006/main">
              <a:ext uri="{FF2B5EF4-FFF2-40B4-BE49-F238E27FC236}">
                <a16:creationId xmlns:a16="http://schemas.microsoft.com/office/drawing/2014/main" id="{3568A7CB-F223-47BE-B196-8CD29B17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 load</a:t>
            </a:r>
          </a:p>
        </p:txBody>
      </p:sp>
      <p:sp>
        <p:nvSpPr>
          <p:cNvPr id="13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CABF8B20-D9CB-4AB1-8517-79E681C7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Recent patient context reloads before analysis starts.</a:t>
            </a:r>
          </a:p>
        </p:txBody>
      </p:sp>
      <p:sp>
        <p:nvSpPr>
          <p:cNvPr id="14" name="workflow-step-3-panel">
            <a:extLst xmlns:a="http://schemas.openxmlformats.org/drawingml/2006/main">
              <a:ext uri="{FF2B5EF4-FFF2-40B4-BE49-F238E27FC236}">
                <a16:creationId xmlns:a16="http://schemas.microsoft.com/office/drawing/2014/main" id="{ABF53145-1279-46EA-AF9B-DC74386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15" name="workflow-step-3-text">
            <a:extLst xmlns:a="http://schemas.openxmlformats.org/drawingml/2006/main">
              <a:ext uri="{FF2B5EF4-FFF2-40B4-BE49-F238E27FC236}">
                <a16:creationId xmlns:a16="http://schemas.microsoft.com/office/drawing/2014/main" id="{4A4B3D1C-A014-42FE-93C2-F7E05E38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workflow-step-title-3">
            <a:extLst xmlns:a="http://schemas.openxmlformats.org/drawingml/2006/main">
              <a:ext uri="{FF2B5EF4-FFF2-40B4-BE49-F238E27FC236}">
                <a16:creationId xmlns:a16="http://schemas.microsoft.com/office/drawing/2014/main" id="{35E20C39-59B1-4300-8B96-46B0139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Intent classify</a:t>
            </a:r>
          </a:p>
        </p:txBody>
      </p:sp>
      <p:sp>
        <p:nvSpPr>
          <p:cNvPr id="17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AE75E0FA-8A29-47AB-BF9D-8FDD81A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request is routed into the correct care path.</a:t>
            </a:r>
          </a:p>
        </p:txBody>
      </p:sp>
      <p:sp>
        <p:nvSpPr>
          <p:cNvPr id="18" name="workflow-step-4-panel">
            <a:extLst xmlns:a="http://schemas.openxmlformats.org/drawingml/2006/main">
              <a:ext uri="{FF2B5EF4-FFF2-40B4-BE49-F238E27FC236}">
                <a16:creationId xmlns:a16="http://schemas.microsoft.com/office/drawing/2014/main" id="{A46A88F5-5085-4CEF-9782-80E5706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19" name="workflow-step-4-text">
            <a:extLst xmlns:a="http://schemas.openxmlformats.org/drawingml/2006/main">
              <a:ext uri="{FF2B5EF4-FFF2-40B4-BE49-F238E27FC236}">
                <a16:creationId xmlns:a16="http://schemas.microsoft.com/office/drawing/2014/main" id="{603207B7-FFB2-44BA-9A73-32726D98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workflow-step-title-4">
            <a:extLst xmlns:a="http://schemas.openxmlformats.org/drawingml/2006/main">
              <a:ext uri="{FF2B5EF4-FFF2-40B4-BE49-F238E27FC236}">
                <a16:creationId xmlns:a16="http://schemas.microsoft.com/office/drawing/2014/main" id="{F02C9ECF-EF05-419A-BD2A-AFFD795C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 + specialist</a:t>
            </a:r>
          </a:p>
        </p:txBody>
      </p:sp>
      <p:sp>
        <p:nvSpPr>
          <p:cNvPr id="21" name="workflow-step-body-4">
            <a:extLst xmlns:a="http://schemas.openxmlformats.org/drawingml/2006/main">
              <a:ext uri="{FF2B5EF4-FFF2-40B4-BE49-F238E27FC236}">
                <a16:creationId xmlns:a16="http://schemas.microsoft.com/office/drawing/2014/main" id="{5CDDE6D3-F024-4029-B47C-6A3F9D67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Local evidence and specialist workflow shape the answer.</a:t>
            </a:r>
          </a:p>
        </p:txBody>
      </p:sp>
      <p:sp>
        <p:nvSpPr>
          <p:cNvPr id="22" name="workflow-step-5-panel">
            <a:extLst xmlns:a="http://schemas.openxmlformats.org/drawingml/2006/main">
              <a:ext uri="{FF2B5EF4-FFF2-40B4-BE49-F238E27FC236}">
                <a16:creationId xmlns:a16="http://schemas.microsoft.com/office/drawing/2014/main" id="{A27E270D-50A5-45F9-906E-0770432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23" name="workflow-step-5-text">
            <a:extLst xmlns:a="http://schemas.openxmlformats.org/drawingml/2006/main">
              <a:ext uri="{FF2B5EF4-FFF2-40B4-BE49-F238E27FC236}">
                <a16:creationId xmlns:a16="http://schemas.microsoft.com/office/drawing/2014/main" id="{7C94EF41-8D74-4AC3-8050-096B405F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4" name="workflow-step-title-5">
            <a:extLst xmlns:a="http://schemas.openxmlformats.org/drawingml/2006/main">
              <a:ext uri="{FF2B5EF4-FFF2-40B4-BE49-F238E27FC236}">
                <a16:creationId xmlns:a16="http://schemas.microsoft.com/office/drawing/2014/main" id="{563D1ECD-15D1-4CD8-9625-8842D4D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reply</a:t>
            </a:r>
          </a:p>
        </p:txBody>
      </p:sp>
      <p:sp>
        <p:nvSpPr>
          <p:cNvPr id="25" name="workflow-step-body-5">
            <a:extLst xmlns:a="http://schemas.openxmlformats.org/drawingml/2006/main">
              <a:ext uri="{FF2B5EF4-FFF2-40B4-BE49-F238E27FC236}">
                <a16:creationId xmlns:a16="http://schemas.microsoft.com/office/drawing/2014/main" id="{9F257F6F-7B75-4169-8583-D835884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Guardrails check the response before it is shown.</a:t>
            </a:r>
          </a:p>
        </p:txBody>
      </p:sp>
      <p:sp>
        <p:nvSpPr>
          <p:cNvPr id="26" name="example-route-card-backplate">
            <a:extLst xmlns:a="http://schemas.openxmlformats.org/drawingml/2006/main">
              <a:ext uri="{FF2B5EF4-FFF2-40B4-BE49-F238E27FC236}">
                <a16:creationId xmlns:a16="http://schemas.microsoft.com/office/drawing/2014/main" id="{B907F5A6-7088-4158-94A5-37B46BB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60579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27" name="example-route-card-frame">
            <a:extLst xmlns:a="http://schemas.openxmlformats.org/drawingml/2006/main">
              <a:ext uri="{FF2B5EF4-FFF2-40B4-BE49-F238E27FC236}">
                <a16:creationId xmlns:a16="http://schemas.microsoft.com/office/drawing/2014/main" id="{D07B7D59-0B94-4E85-9F72-16543499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5bf263d744c0b"/>
          <a:srcRect xmlns:a="http://schemas.openxmlformats.org/drawingml/2006/main" l="5342" t="0" r="5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29" name="workflow-close-panel">
            <a:extLst xmlns:a="http://schemas.openxmlformats.org/drawingml/2006/main">
              <a:ext uri="{FF2B5EF4-FFF2-40B4-BE49-F238E27FC236}">
                <a16:creationId xmlns:a16="http://schemas.microsoft.com/office/drawing/2014/main" id="{AA753000-9783-46EB-8B40-DFE885CB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112014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B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workflow-close-line">
            <a:extLst xmlns:a="http://schemas.openxmlformats.org/drawingml/2006/main">
              <a:ext uri="{FF2B5EF4-FFF2-40B4-BE49-F238E27FC236}">
                <a16:creationId xmlns:a16="http://schemas.microsoft.com/office/drawing/2014/main" id="{440182D6-6C5E-4A41-83F1-0360B62D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workflow-close-text">
            <a:extLst xmlns:a="http://schemas.openxmlformats.org/drawingml/2006/main">
              <a:ext uri="{FF2B5EF4-FFF2-40B4-BE49-F238E27FC236}">
                <a16:creationId xmlns:a16="http://schemas.microsoft.com/office/drawing/2014/main" id="{B2A67212-B083-4B88-9328-22ED0F9A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76950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reply is shaped by workflow, not by one free-form prompt.</a:t>
            </a:r>
          </a:p>
        </p:txBody>
      </p:sp>
    </p:spTree>
    <p:extLst>
      <p:ext uri="{BB962C8B-B14F-4D97-AF65-F5344CB8AC3E}">
        <p14:creationId xmlns:p14="http://schemas.microsoft.com/office/powerpoint/2010/main" val="31845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YSTEM DESIGN">
            <a:extLst xmlns:a="http://schemas.openxmlformats.org/drawingml/2006/main">
              <a:ext uri="{FF2B5EF4-FFF2-40B4-BE49-F238E27FC236}">
                <a16:creationId xmlns:a16="http://schemas.microsoft.com/office/drawing/2014/main" id="{D4611933-4617-4C95-8906-3447139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2" name="title-The system routes each case to the right specialist">
            <a:extLst xmlns:a="http://schemas.openxmlformats.org/drawingml/2006/main">
              <a:ext uri="{FF2B5EF4-FFF2-40B4-BE49-F238E27FC236}">
                <a16:creationId xmlns:a16="http://schemas.microsoft.com/office/drawing/2014/main" id="{A1658133-220D-4E8E-8535-C3A9B79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routes each case to the right specialist</a:t>
            </a:r>
          </a:p>
        </p:txBody>
      </p:sp>
      <p:sp>
        <p:nvSpPr>
          <p:cNvPr id="3" name="header-line-The system routes each case to the right specialist">
            <a:extLst xmlns:a="http://schemas.openxmlformats.org/drawingml/2006/main">
              <a:ext uri="{FF2B5EF4-FFF2-40B4-BE49-F238E27FC236}">
                <a16:creationId xmlns:a16="http://schemas.microsoft.com/office/drawing/2014/main" id="{37317DD7-5678-498A-9C73-4F00E0D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The system routes each case to the right specialist">
            <a:extLst xmlns:a="http://schemas.openxmlformats.org/drawingml/2006/main">
              <a:ext uri="{FF2B5EF4-FFF2-40B4-BE49-F238E27FC236}">
                <a16:creationId xmlns:a16="http://schemas.microsoft.com/office/drawing/2014/main" id="{3660E5F0-39FD-46F5-B11D-592492FC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One governed workflow chooses the right route before it answers.</a:t>
            </a:r>
          </a:p>
        </p:txBody>
      </p:sp>
      <p:sp>
        <p:nvSpPr>
          <p:cNvPr id="5" name="router-callout-line">
            <a:extLst xmlns:a="http://schemas.openxmlformats.org/drawingml/2006/main">
              <a:ext uri="{FF2B5EF4-FFF2-40B4-BE49-F238E27FC236}">
                <a16:creationId xmlns:a16="http://schemas.microsoft.com/office/drawing/2014/main" id="{5A16FEF7-AA93-41C1-813F-356A6D7B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6" name="router-callout-title">
            <a:extLst xmlns:a="http://schemas.openxmlformats.org/drawingml/2006/main">
              <a:ext uri="{FF2B5EF4-FFF2-40B4-BE49-F238E27FC236}">
                <a16:creationId xmlns:a16="http://schemas.microsoft.com/office/drawing/2014/main" id="{95C9A108-4466-4550-A4C1-F80351F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Four routes. One governed workflow.</a:t>
            </a:r>
          </a:p>
        </p:txBody>
      </p:sp>
      <p:sp>
        <p:nvSpPr>
          <p:cNvPr id="7" name="router-callout-body">
            <a:extLst xmlns:a="http://schemas.openxmlformats.org/drawingml/2006/main">
              <a:ext uri="{FF2B5EF4-FFF2-40B4-BE49-F238E27FC236}">
                <a16:creationId xmlns:a16="http://schemas.microsoft.com/office/drawing/2014/main" id="{B221B713-2F14-4566-B8F2-EBD2C74A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Memory reloads, intent is classified, evidence is retrieved, and safety is checked before any reply.</a:t>
            </a:r>
          </a:p>
        </p:txBody>
      </p:sp>
      <p:sp>
        <p:nvSpPr>
          <p:cNvPr id="8" name="router-pill-1-panel">
            <a:extLst xmlns:a="http://schemas.openxmlformats.org/drawingml/2006/main">
              <a:ext uri="{FF2B5EF4-FFF2-40B4-BE49-F238E27FC236}">
                <a16:creationId xmlns:a16="http://schemas.microsoft.com/office/drawing/2014/main" id="{FD91EB2E-FAAC-43D0-A263-64F4E91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9" name="router-pill-1-text">
            <a:extLst xmlns:a="http://schemas.openxmlformats.org/drawingml/2006/main">
              <a:ext uri="{FF2B5EF4-FFF2-40B4-BE49-F238E27FC236}">
                <a16:creationId xmlns:a16="http://schemas.microsoft.com/office/drawing/2014/main" id="{13846BC5-D8E5-4AAC-8DEC-E47E037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Multi-agent</a:t>
            </a:r>
          </a:p>
        </p:txBody>
      </p:sp>
      <p:sp>
        <p:nvSpPr>
          <p:cNvPr id="10" name="router-pill-2-panel">
            <a:extLst xmlns:a="http://schemas.openxmlformats.org/drawingml/2006/main">
              <a:ext uri="{FF2B5EF4-FFF2-40B4-BE49-F238E27FC236}">
                <a16:creationId xmlns:a16="http://schemas.microsoft.com/office/drawing/2014/main" id="{BC43E4EC-F8F4-4A1F-9F24-92EFFD15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11" name="router-pill-2-text">
            <a:extLst xmlns:a="http://schemas.openxmlformats.org/drawingml/2006/main">
              <a:ext uri="{FF2B5EF4-FFF2-40B4-BE49-F238E27FC236}">
                <a16:creationId xmlns:a16="http://schemas.microsoft.com/office/drawing/2014/main" id="{2FDCBC5C-013E-4D22-B20F-C390BE93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244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12" name="router-pill-3-panel">
            <a:extLst xmlns:a="http://schemas.openxmlformats.org/drawingml/2006/main">
              <a:ext uri="{FF2B5EF4-FFF2-40B4-BE49-F238E27FC236}">
                <a16:creationId xmlns:a16="http://schemas.microsoft.com/office/drawing/2014/main" id="{80DCCBF2-429E-4539-B059-24DBDC95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053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</p:sp>
      <p:sp>
        <p:nvSpPr>
          <p:cNvPr id="13" name="router-pill-3-text">
            <a:extLst xmlns:a="http://schemas.openxmlformats.org/drawingml/2006/main">
              <a:ext uri="{FF2B5EF4-FFF2-40B4-BE49-F238E27FC236}">
                <a16:creationId xmlns:a16="http://schemas.microsoft.com/office/drawing/2014/main" id="{4141FCB7-FA7C-4462-B17D-CB5C9F0D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244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Safe</a:t>
            </a:r>
          </a:p>
        </p:txBody>
      </p:sp>
      <p:sp>
        <p:nvSpPr>
          <p:cNvPr id="14" name="specialist-route-1">
            <a:extLst xmlns:a="http://schemas.openxmlformats.org/drawingml/2006/main">
              <a:ext uri="{FF2B5EF4-FFF2-40B4-BE49-F238E27FC236}">
                <a16:creationId xmlns:a16="http://schemas.microsoft.com/office/drawing/2014/main" id="{48641B4A-0B3D-4589-96F7-762233D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pecialist-route-line-1">
            <a:extLst xmlns:a="http://schemas.openxmlformats.org/drawingml/2006/main">
              <a:ext uri="{FF2B5EF4-FFF2-40B4-BE49-F238E27FC236}">
                <a16:creationId xmlns:a16="http://schemas.microsoft.com/office/drawing/2014/main" id="{F42AF1FB-D52B-4839-8513-A7D09D6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specialist-route-title-1">
            <a:extLst xmlns:a="http://schemas.openxmlformats.org/drawingml/2006/main">
              <a:ext uri="{FF2B5EF4-FFF2-40B4-BE49-F238E27FC236}">
                <a16:creationId xmlns:a16="http://schemas.microsoft.com/office/drawing/2014/main" id="{3BD199AC-539A-4B21-BC55-6847F31C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Agent</a:t>
            </a:r>
          </a:p>
        </p:txBody>
      </p:sp>
      <p:sp>
        <p:nvSpPr>
          <p:cNvPr id="17" name="specialist-route-body-1">
            <a:extLst xmlns:a="http://schemas.openxmlformats.org/drawingml/2006/main">
              <a:ext uri="{FF2B5EF4-FFF2-40B4-BE49-F238E27FC236}">
                <a16:creationId xmlns:a16="http://schemas.microsoft.com/office/drawing/2014/main" id="{B53FC30E-EEDF-466F-AB8D-09DEF6D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Grounds answers in local medical evidence.</a:t>
            </a:r>
          </a:p>
        </p:txBody>
      </p:sp>
      <p:sp>
        <p:nvSpPr>
          <p:cNvPr id="18" name="specialist-route-2">
            <a:extLst xmlns:a="http://schemas.openxmlformats.org/drawingml/2006/main">
              <a:ext uri="{FF2B5EF4-FFF2-40B4-BE49-F238E27FC236}">
                <a16:creationId xmlns:a16="http://schemas.microsoft.com/office/drawing/2014/main" id="{A4890D83-DAB7-4A7A-BB94-799F7C7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pecialist-route-line-2">
            <a:extLst xmlns:a="http://schemas.openxmlformats.org/drawingml/2006/main">
              <a:ext uri="{FF2B5EF4-FFF2-40B4-BE49-F238E27FC236}">
                <a16:creationId xmlns:a16="http://schemas.microsoft.com/office/drawing/2014/main" id="{5CB9C441-2E7A-4D94-B755-32FB25CA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specialist-route-title-2">
            <a:extLst xmlns:a="http://schemas.openxmlformats.org/drawingml/2006/main">
              <a:ext uri="{FF2B5EF4-FFF2-40B4-BE49-F238E27FC236}">
                <a16:creationId xmlns:a16="http://schemas.microsoft.com/office/drawing/2014/main" id="{A7BD5D51-822E-4496-BD65-9324229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Pharmacy Agent</a:t>
            </a:r>
          </a:p>
        </p:txBody>
      </p:sp>
      <p:sp>
        <p:nvSpPr>
          <p:cNvPr id="21" name="specialist-route-body-2">
            <a:extLst xmlns:a="http://schemas.openxmlformats.org/drawingml/2006/main">
              <a:ext uri="{FF2B5EF4-FFF2-40B4-BE49-F238E27FC236}">
                <a16:creationId xmlns:a16="http://schemas.microsoft.com/office/drawing/2014/main" id="{E5DCA657-E60C-428C-B3AA-113A4266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Checks medicine questions with medication safeguards.</a:t>
            </a:r>
          </a:p>
        </p:txBody>
      </p:sp>
      <p:sp>
        <p:nvSpPr>
          <p:cNvPr id="22" name="specialist-route-3">
            <a:extLst xmlns:a="http://schemas.openxmlformats.org/drawingml/2006/main">
              <a:ext uri="{FF2B5EF4-FFF2-40B4-BE49-F238E27FC236}">
                <a16:creationId xmlns:a16="http://schemas.microsoft.com/office/drawing/2014/main" id="{301CE04E-7C8B-4AC2-9DB7-65CC090E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pecialist-route-line-3">
            <a:extLst xmlns:a="http://schemas.openxmlformats.org/drawingml/2006/main">
              <a:ext uri="{FF2B5EF4-FFF2-40B4-BE49-F238E27FC236}">
                <a16:creationId xmlns:a16="http://schemas.microsoft.com/office/drawing/2014/main" id="{11549BD1-D205-4903-967C-4D1F65C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specialist-route-title-3">
            <a:extLst xmlns:a="http://schemas.openxmlformats.org/drawingml/2006/main">
              <a:ext uri="{FF2B5EF4-FFF2-40B4-BE49-F238E27FC236}">
                <a16:creationId xmlns:a16="http://schemas.microsoft.com/office/drawing/2014/main" id="{B64FEE38-9449-415E-B684-666DBF5A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Scheduling Agent</a:t>
            </a:r>
          </a:p>
        </p:txBody>
      </p:sp>
      <p:sp>
        <p:nvSpPr>
          <p:cNvPr id="25" name="specialist-route-body-3">
            <a:extLst xmlns:a="http://schemas.openxmlformats.org/drawingml/2006/main">
              <a:ext uri="{FF2B5EF4-FFF2-40B4-BE49-F238E27FC236}">
                <a16:creationId xmlns:a16="http://schemas.microsoft.com/office/drawing/2014/main" id="{E9AE02D6-FECB-4D51-8EDB-F8990D2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Supports visit prep and follow-up coordination.</a:t>
            </a:r>
          </a:p>
        </p:txBody>
      </p:sp>
      <p:sp>
        <p:nvSpPr>
          <p:cNvPr id="26" name="specialist-route-4">
            <a:extLst xmlns:a="http://schemas.openxmlformats.org/drawingml/2006/main">
              <a:ext uri="{FF2B5EF4-FFF2-40B4-BE49-F238E27FC236}">
                <a16:creationId xmlns:a16="http://schemas.microsoft.com/office/drawing/2014/main" id="{D2021599-1834-4A4D-8AB0-AAC4E76C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pecialist-route-line-4">
            <a:extLst xmlns:a="http://schemas.openxmlformats.org/drawingml/2006/main">
              <a:ext uri="{FF2B5EF4-FFF2-40B4-BE49-F238E27FC236}">
                <a16:creationId xmlns:a16="http://schemas.microsoft.com/office/drawing/2014/main" id="{1B9F3456-BDD3-45F4-B3F5-ECB75E52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12324A"/>
            </a:solidFill>
            <a:prstDash val="solid"/>
          </a:ln>
        </p:spPr>
      </p:sp>
      <p:sp>
        <p:nvSpPr>
          <p:cNvPr id="28" name="specialist-route-title-4">
            <a:extLst xmlns:a="http://schemas.openxmlformats.org/drawingml/2006/main">
              <a:ext uri="{FF2B5EF4-FFF2-40B4-BE49-F238E27FC236}">
                <a16:creationId xmlns:a16="http://schemas.microsoft.com/office/drawing/2014/main" id="{FCFF659A-7798-4DA6-ADEF-C6EB4103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Alert Agent</a:t>
            </a:r>
          </a:p>
        </p:txBody>
      </p:sp>
      <p:sp>
        <p:nvSpPr>
          <p:cNvPr id="29" name="specialist-route-body-4">
            <a:extLst xmlns:a="http://schemas.openxmlformats.org/drawingml/2006/main">
              <a:ext uri="{FF2B5EF4-FFF2-40B4-BE49-F238E27FC236}">
                <a16:creationId xmlns:a16="http://schemas.microsoft.com/office/drawing/2014/main" id="{0F6360E8-4EA6-4FF0-BCE8-AE62EDB0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Escalates urgent patterns into a safety-first path.</a:t>
            </a:r>
          </a:p>
        </p:txBody>
      </p:sp>
      <p:sp>
        <p:nvSpPr>
          <p:cNvPr id="30" name="workspace-strip">
            <a:extLst xmlns:a="http://schemas.openxmlformats.org/drawingml/2006/main">
              <a:ext uri="{FF2B5EF4-FFF2-40B4-BE49-F238E27FC236}">
                <a16:creationId xmlns:a16="http://schemas.microsoft.com/office/drawing/2014/main" id="{D74CA048-FD79-48ED-9274-B360267D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7962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31" name="workspace-strip-text">
            <a:extLst xmlns:a="http://schemas.openxmlformats.org/drawingml/2006/main">
              <a:ext uri="{FF2B5EF4-FFF2-40B4-BE49-F238E27FC236}">
                <a16:creationId xmlns:a16="http://schemas.microsoft.com/office/drawing/2014/main" id="{C7DDAC4B-F3EA-4B52-9AFF-7DA28BB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91150"/>
            <a:ext cx="746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Workspaces: Vitals, Labs, Wellness, Records, Insurance, Summary.</a:t>
            </a:r>
          </a:p>
        </p:txBody>
      </p:sp>
      <p:sp>
        <p:nvSpPr>
          <p:cNvPr id="32" name="router-close">
            <a:extLst xmlns:a="http://schemas.openxmlformats.org/drawingml/2006/main">
              <a:ext uri="{FF2B5EF4-FFF2-40B4-BE49-F238E27FC236}">
                <a16:creationId xmlns:a16="http://schemas.microsoft.com/office/drawing/2014/main" id="{2BE327C4-92BD-4D1B-A43B-50CA0162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That is why it answers narrowly, not broadly.</a:t>
            </a:r>
          </a:p>
        </p:txBody>
      </p:sp>
    </p:spTree>
    <p:extLst>
      <p:ext uri="{BB962C8B-B14F-4D97-AF65-F5344CB8AC3E}">
        <p14:creationId xmlns:p14="http://schemas.microsoft.com/office/powerpoint/2010/main" val="923720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RAG + MEMORY">
            <a:extLst xmlns:a="http://schemas.openxmlformats.org/drawingml/2006/main">
              <a:ext uri="{FF2B5EF4-FFF2-40B4-BE49-F238E27FC236}">
                <a16:creationId xmlns:a16="http://schemas.microsoft.com/office/drawing/2014/main" id="{BC305E60-EFAC-43B5-9BB1-1A6CE35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 + MEMORY</a:t>
            </a:r>
          </a:p>
        </p:txBody>
      </p:sp>
      <p:sp>
        <p:nvSpPr>
          <p:cNvPr id="2" name="titl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00A85C8A-A644-4815-8A1C-D5D9711D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Retrieval grounds facts. Memory grounds context.</a:t>
            </a:r>
          </a:p>
        </p:txBody>
      </p:sp>
      <p:sp>
        <p:nvSpPr>
          <p:cNvPr id="3" name="header-lin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C64B8E9A-4DDA-430B-8458-A045A2C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D4AD9BBF-3E2D-4AAF-87F0-0D943388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Together they cut broad guessing and keep answers patient-specific.</a:t>
            </a:r>
          </a:p>
        </p:txBody>
      </p:sp>
      <p:sp>
        <p:nvSpPr>
          <p:cNvPr id="5" name="hybrid-retrieval-block">
            <a:extLst xmlns:a="http://schemas.openxmlformats.org/drawingml/2006/main">
              <a:ext uri="{FF2B5EF4-FFF2-40B4-BE49-F238E27FC236}">
                <a16:creationId xmlns:a16="http://schemas.microsoft.com/office/drawing/2014/main" id="{BC584E4C-4852-4B72-BE76-7345E774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539115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hybrid-retrieval-label">
            <a:extLst xmlns:a="http://schemas.openxmlformats.org/drawingml/2006/main">
              <a:ext uri="{FF2B5EF4-FFF2-40B4-BE49-F238E27FC236}">
                <a16:creationId xmlns:a16="http://schemas.microsoft.com/office/drawing/2014/main" id="{03FB38A6-363D-4191-B7FD-0B137985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7" name="hybrid-retrieval-title">
            <a:extLst xmlns:a="http://schemas.openxmlformats.org/drawingml/2006/main">
              <a:ext uri="{FF2B5EF4-FFF2-40B4-BE49-F238E27FC236}">
                <a16:creationId xmlns:a16="http://schemas.microsoft.com/office/drawing/2014/main" id="{E5D21062-6D3E-4C60-A7CF-DE971D9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medical facts</a:t>
            </a:r>
          </a:p>
        </p:txBody>
      </p:sp>
      <p:sp>
        <p:nvSpPr>
          <p:cNvPr id="8" name="hybrid-retrieval-body">
            <a:extLst xmlns:a="http://schemas.openxmlformats.org/drawingml/2006/main">
              <a:ext uri="{FF2B5EF4-FFF2-40B4-BE49-F238E27FC236}">
                <a16:creationId xmlns:a16="http://schemas.microsoft.com/office/drawing/2014/main" id="{5F9BE346-8EAB-460D-BCF3-FA80A8F3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Query is built from the message, vitals, profile, and memory.</a:t>
            </a:r>
          </a:p>
        </p:txBody>
      </p:sp>
      <p:sp>
        <p:nvSpPr>
          <p:cNvPr id="9" name="hybrid-retrieval-bullet-icon-64-398">
            <a:extLst xmlns:a="http://schemas.openxmlformats.org/drawingml/2006/main">
              <a:ext uri="{FF2B5EF4-FFF2-40B4-BE49-F238E27FC236}">
                <a16:creationId xmlns:a16="http://schemas.microsoft.com/office/drawing/2014/main" id="{A158BA3C-21A3-41B6-8004-02F12593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0" name="hybrid-retrieval-bullet-text-64-398">
            <a:extLst xmlns:a="http://schemas.openxmlformats.org/drawingml/2006/main">
              <a:ext uri="{FF2B5EF4-FFF2-40B4-BE49-F238E27FC236}">
                <a16:creationId xmlns:a16="http://schemas.microsoft.com/office/drawing/2014/main" id="{8B70D499-CBCB-460A-8835-18D35D09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Ranks local healthcare knowledge</a:t>
            </a:r>
          </a:p>
        </p:txBody>
      </p:sp>
      <p:sp>
        <p:nvSpPr>
          <p:cNvPr id="11" name="hybrid-retrieval-bullet-icon-64-436">
            <a:extLst xmlns:a="http://schemas.openxmlformats.org/drawingml/2006/main">
              <a:ext uri="{FF2B5EF4-FFF2-40B4-BE49-F238E27FC236}">
                <a16:creationId xmlns:a16="http://schemas.microsoft.com/office/drawing/2014/main" id="{200557E0-89D2-4B07-ABE2-4BEC6A87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2" name="hybrid-retrieval-bullet-text-64-436">
            <a:extLst xmlns:a="http://schemas.openxmlformats.org/drawingml/2006/main">
              <a:ext uri="{FF2B5EF4-FFF2-40B4-BE49-F238E27FC236}">
                <a16:creationId xmlns:a16="http://schemas.microsoft.com/office/drawing/2014/main" id="{16005B35-2F75-46EB-A489-1DC4629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Can reuse approved cached references</a:t>
            </a:r>
          </a:p>
        </p:txBody>
      </p:sp>
      <p:sp>
        <p:nvSpPr>
          <p:cNvPr id="13" name="hybrid-retrieval-bullet-icon-64-474">
            <a:extLst xmlns:a="http://schemas.openxmlformats.org/drawingml/2006/main">
              <a:ext uri="{FF2B5EF4-FFF2-40B4-BE49-F238E27FC236}">
                <a16:creationId xmlns:a16="http://schemas.microsoft.com/office/drawing/2014/main" id="{86F79301-9C9F-4718-A53C-B9A3649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4" name="hybrid-retrieval-bullet-text-64-474">
            <a:extLst xmlns:a="http://schemas.openxmlformats.org/drawingml/2006/main">
              <a:ext uri="{FF2B5EF4-FFF2-40B4-BE49-F238E27FC236}">
                <a16:creationId xmlns:a16="http://schemas.microsoft.com/office/drawing/2014/main" id="{D65B6A4D-9634-438B-9D81-B3E63717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the reply in evidence</a:t>
            </a:r>
          </a:p>
        </p:txBody>
      </p:sp>
      <p:sp>
        <p:nvSpPr>
          <p:cNvPr id="15" name="hybrid-memory-block">
            <a:extLst xmlns:a="http://schemas.openxmlformats.org/drawingml/2006/main">
              <a:ext uri="{FF2B5EF4-FFF2-40B4-BE49-F238E27FC236}">
                <a16:creationId xmlns:a16="http://schemas.microsoft.com/office/drawing/2014/main" id="{29BFDAF3-7013-4A0F-8AEE-E10F7935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573405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0">
            <a:solidFill>
              <a:srgbClr val="EAF9F7"/>
            </a:solidFill>
            <a:prstDash val="solid"/>
          </a:ln>
        </p:spPr>
      </p:sp>
      <p:sp>
        <p:nvSpPr>
          <p:cNvPr id="16" name="hybrid-memory-label">
            <a:extLst xmlns:a="http://schemas.openxmlformats.org/drawingml/2006/main">
              <a:ext uri="{FF2B5EF4-FFF2-40B4-BE49-F238E27FC236}">
                <a16:creationId xmlns:a16="http://schemas.microsoft.com/office/drawing/2014/main" id="{4C2FF3E8-0504-4DD8-AD14-3E1260F9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17" name="hybrid-memory-title">
            <a:extLst xmlns:a="http://schemas.openxmlformats.org/drawingml/2006/main">
              <a:ext uri="{FF2B5EF4-FFF2-40B4-BE49-F238E27FC236}">
                <a16:creationId xmlns:a16="http://schemas.microsoft.com/office/drawing/2014/main" id="{408F72B4-42DD-44C4-B23E-9BDF6BC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patient context</a:t>
            </a:r>
          </a:p>
        </p:txBody>
      </p:sp>
      <p:sp>
        <p:nvSpPr>
          <p:cNvPr id="18" name="hybrid-memory-body">
            <a:extLst xmlns:a="http://schemas.openxmlformats.org/drawingml/2006/main">
              <a:ext uri="{FF2B5EF4-FFF2-40B4-BE49-F238E27FC236}">
                <a16:creationId xmlns:a16="http://schemas.microsoft.com/office/drawing/2014/main" id="{21007279-270C-4E5C-ACAE-D99CAAEA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Persistent local context reloads before every analysis.</a:t>
            </a:r>
          </a:p>
        </p:txBody>
      </p:sp>
      <p:sp>
        <p:nvSpPr>
          <p:cNvPr id="19" name="hybrid-memory-bullet-icon-654-398">
            <a:extLst xmlns:a="http://schemas.openxmlformats.org/drawingml/2006/main">
              <a:ext uri="{FF2B5EF4-FFF2-40B4-BE49-F238E27FC236}">
                <a16:creationId xmlns:a16="http://schemas.microsoft.com/office/drawing/2014/main" id="{9D267511-19EF-4D33-857A-C9A5B8B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hybrid-memory-bullet-text-654-398">
            <a:extLst xmlns:a="http://schemas.openxmlformats.org/drawingml/2006/main">
              <a:ext uri="{FF2B5EF4-FFF2-40B4-BE49-F238E27FC236}">
                <a16:creationId xmlns:a16="http://schemas.microsoft.com/office/drawing/2014/main" id="{FEA60B69-2E2B-44F2-B2EC-47A93D6A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memory, records, and knowledge graph</a:t>
            </a:r>
          </a:p>
        </p:txBody>
      </p:sp>
      <p:sp>
        <p:nvSpPr>
          <p:cNvPr id="21" name="hybrid-memory-bullet-icon-654-436">
            <a:extLst xmlns:a="http://schemas.openxmlformats.org/drawingml/2006/main">
              <a:ext uri="{FF2B5EF4-FFF2-40B4-BE49-F238E27FC236}">
                <a16:creationId xmlns:a16="http://schemas.microsoft.com/office/drawing/2014/main" id="{BA3C86B7-5088-4C94-9073-5761A258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hybrid-memory-bullet-text-654-436">
            <a:extLst xmlns:a="http://schemas.openxmlformats.org/drawingml/2006/main">
              <a:ext uri="{FF2B5EF4-FFF2-40B4-BE49-F238E27FC236}">
                <a16:creationId xmlns:a16="http://schemas.microsoft.com/office/drawing/2014/main" id="{18183D6D-7755-4E5A-9083-E0D3ECA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is not stateless</a:t>
            </a:r>
          </a:p>
        </p:txBody>
      </p:sp>
      <p:sp>
        <p:nvSpPr>
          <p:cNvPr id="23" name="hybrid-memory-bullet-icon-654-474">
            <a:extLst xmlns:a="http://schemas.openxmlformats.org/drawingml/2006/main">
              <a:ext uri="{FF2B5EF4-FFF2-40B4-BE49-F238E27FC236}">
                <a16:creationId xmlns:a16="http://schemas.microsoft.com/office/drawing/2014/main" id="{D76D5BD1-BAA9-4D0C-B093-9A6765F2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4" name="hybrid-memory-bullet-text-654-474">
            <a:extLst xmlns:a="http://schemas.openxmlformats.org/drawingml/2006/main">
              <a:ext uri="{FF2B5EF4-FFF2-40B4-BE49-F238E27FC236}">
                <a16:creationId xmlns:a16="http://schemas.microsoft.com/office/drawing/2014/main" id="{DE454030-A368-4C83-A764-732CAC36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Result is stored for the next turn</a:t>
            </a:r>
          </a:p>
        </p:txBody>
      </p:sp>
      <p:sp>
        <p:nvSpPr>
          <p:cNvPr id="25" name="hybrid-trust-title">
            <a:extLst xmlns:a="http://schemas.openxmlformats.org/drawingml/2006/main">
              <a:ext uri="{FF2B5EF4-FFF2-40B4-BE49-F238E27FC236}">
                <a16:creationId xmlns:a16="http://schemas.microsoft.com/office/drawing/2014/main" id="{3B1E2F34-A777-4B9E-AAB8-41B440A4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72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Approved sources</a:t>
            </a:r>
          </a:p>
        </p:txBody>
      </p:sp>
      <p:sp>
        <p:nvSpPr>
          <p:cNvPr id="26" name="hybrid-trust-pill-1-panel">
            <a:extLst xmlns:a="http://schemas.openxmlformats.org/drawingml/2006/main">
              <a:ext uri="{FF2B5EF4-FFF2-40B4-BE49-F238E27FC236}">
                <a16:creationId xmlns:a16="http://schemas.microsoft.com/office/drawing/2014/main" id="{E0B2E027-540D-41FF-8DA5-58B5B1B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7" name="hybrid-trust-pill-1-text">
            <a:extLst xmlns:a="http://schemas.openxmlformats.org/drawingml/2006/main">
              <a:ext uri="{FF2B5EF4-FFF2-40B4-BE49-F238E27FC236}">
                <a16:creationId xmlns:a16="http://schemas.microsoft.com/office/drawing/2014/main" id="{B88A3E0E-3E18-40F4-890C-3B30E7A6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MedlinePlus</a:t>
            </a:r>
          </a:p>
        </p:txBody>
      </p:sp>
      <p:sp>
        <p:nvSpPr>
          <p:cNvPr id="28" name="hybrid-trust-pill-2-panel">
            <a:extLst xmlns:a="http://schemas.openxmlformats.org/drawingml/2006/main">
              <a:ext uri="{FF2B5EF4-FFF2-40B4-BE49-F238E27FC236}">
                <a16:creationId xmlns:a16="http://schemas.microsoft.com/office/drawing/2014/main" id="{5C34D5B6-F6AA-4131-8FCB-07ECC9D7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29" name="hybrid-trust-pill-2-text">
            <a:extLst xmlns:a="http://schemas.openxmlformats.org/drawingml/2006/main">
              <a:ext uri="{FF2B5EF4-FFF2-40B4-BE49-F238E27FC236}">
                <a16:creationId xmlns:a16="http://schemas.microsoft.com/office/drawing/2014/main" id="{CA537C03-0601-4D50-9C79-3F7305C0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RxNorm</a:t>
            </a:r>
          </a:p>
        </p:txBody>
      </p:sp>
      <p:sp>
        <p:nvSpPr>
          <p:cNvPr id="30" name="hybrid-trust-pill-3-panel">
            <a:extLst xmlns:a="http://schemas.openxmlformats.org/drawingml/2006/main">
              <a:ext uri="{FF2B5EF4-FFF2-40B4-BE49-F238E27FC236}">
                <a16:creationId xmlns:a16="http://schemas.microsoft.com/office/drawing/2014/main" id="{40DAE625-D05F-4FCA-A7AB-6821A0F9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1" name="hybrid-trust-pill-3-text">
            <a:extLst xmlns:a="http://schemas.openxmlformats.org/drawingml/2006/main">
              <a:ext uri="{FF2B5EF4-FFF2-40B4-BE49-F238E27FC236}">
                <a16:creationId xmlns:a16="http://schemas.microsoft.com/office/drawing/2014/main" id="{6645C830-88EB-4734-961C-3E6FAD6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openFDA</a:t>
            </a:r>
          </a:p>
        </p:txBody>
      </p:sp>
      <p:sp>
        <p:nvSpPr>
          <p:cNvPr id="32" name="hybrid-trust-pill-4-panel">
            <a:extLst xmlns:a="http://schemas.openxmlformats.org/drawingml/2006/main">
              <a:ext uri="{FF2B5EF4-FFF2-40B4-BE49-F238E27FC236}">
                <a16:creationId xmlns:a16="http://schemas.microsoft.com/office/drawing/2014/main" id="{0785CC73-6C09-4B5E-A989-256C109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3" name="hybrid-trust-pill-4-text">
            <a:extLst xmlns:a="http://schemas.openxmlformats.org/drawingml/2006/main">
              <a:ext uri="{FF2B5EF4-FFF2-40B4-BE49-F238E27FC236}">
                <a16:creationId xmlns:a16="http://schemas.microsoft.com/office/drawing/2014/main" id="{7F293A68-F465-414B-BF86-F4287791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LOINC</a:t>
            </a:r>
          </a:p>
        </p:txBody>
      </p:sp>
      <p:sp>
        <p:nvSpPr>
          <p:cNvPr id="34" name="hybrid-trust-pill-5-panel">
            <a:extLst xmlns:a="http://schemas.openxmlformats.org/drawingml/2006/main">
              <a:ext uri="{FF2B5EF4-FFF2-40B4-BE49-F238E27FC236}">
                <a16:creationId xmlns:a16="http://schemas.microsoft.com/office/drawing/2014/main" id="{8AFC22A9-A34E-47FE-B8DD-BEB2BA3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hybrid-trust-pill-5-text">
            <a:extLst xmlns:a="http://schemas.openxmlformats.org/drawingml/2006/main">
              <a:ext uri="{FF2B5EF4-FFF2-40B4-BE49-F238E27FC236}">
                <a16:creationId xmlns:a16="http://schemas.microsoft.com/office/drawing/2014/main" id="{ECB95418-FB42-4F3A-AB7C-B65D211D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53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SMART on FHIR</a:t>
            </a:r>
          </a:p>
        </p:txBody>
      </p:sp>
      <p:sp>
        <p:nvSpPr>
          <p:cNvPr id="36" name="hybrid-footer-text">
            <a:extLst xmlns:a="http://schemas.openxmlformats.org/drawingml/2006/main">
              <a:ext uri="{FF2B5EF4-FFF2-40B4-BE49-F238E27FC236}">
                <a16:creationId xmlns:a16="http://schemas.microsoft.com/office/drawing/2014/main" id="{02A8A055-B2F1-4BF8-878B-5D3A236D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0300"/>
            <a:ext cx="1135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answers use local evidence and prior patient context, not raw model memory alone.</a:t>
            </a:r>
          </a:p>
        </p:txBody>
      </p:sp>
    </p:spTree>
    <p:extLst>
      <p:ext uri="{BB962C8B-B14F-4D97-AF65-F5344CB8AC3E}">
        <p14:creationId xmlns:p14="http://schemas.microsoft.com/office/powerpoint/2010/main" val="1279914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BUSINESS RELEVANCE">
            <a:extLst xmlns:a="http://schemas.openxmlformats.org/drawingml/2006/main">
              <a:ext uri="{FF2B5EF4-FFF2-40B4-BE49-F238E27FC236}">
                <a16:creationId xmlns:a16="http://schemas.microsoft.com/office/drawing/2014/main" id="{811DF294-63B1-40B5-87C0-C2D26319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BUSINESS RELEVANCE</a:t>
            </a:r>
          </a:p>
        </p:txBody>
      </p:sp>
      <p:sp>
        <p:nvSpPr>
          <p:cNvPr id="2" name="title-Local-first makes deployment practical">
            <a:extLst xmlns:a="http://schemas.openxmlformats.org/drawingml/2006/main">
              <a:ext uri="{FF2B5EF4-FFF2-40B4-BE49-F238E27FC236}">
                <a16:creationId xmlns:a16="http://schemas.microsoft.com/office/drawing/2014/main" id="{053F12EA-4266-4D8E-BC1E-0703FDB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makes deployment practical</a:t>
            </a:r>
          </a:p>
        </p:txBody>
      </p:sp>
      <p:sp>
        <p:nvSpPr>
          <p:cNvPr id="3" name="header-line-Local-first makes deployment practical">
            <a:extLst xmlns:a="http://schemas.openxmlformats.org/drawingml/2006/main">
              <a:ext uri="{FF2B5EF4-FFF2-40B4-BE49-F238E27FC236}">
                <a16:creationId xmlns:a16="http://schemas.microsoft.com/office/drawing/2014/main" id="{6E383142-567D-4F09-BAA9-B62ECC2D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4" name="subtitle-Local-first makes deployment practical">
            <a:extLst xmlns:a="http://schemas.openxmlformats.org/drawingml/2006/main">
              <a:ext uri="{FF2B5EF4-FFF2-40B4-BE49-F238E27FC236}">
                <a16:creationId xmlns:a16="http://schemas.microsoft.com/office/drawing/2014/main" id="{26809854-1AF2-4702-A4A0-626C29A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Private by default. Reliable on weak networks. Low-friction pilots.</a:t>
            </a:r>
          </a:p>
        </p:txBody>
      </p:sp>
      <p:sp>
        <p:nvSpPr>
          <p:cNvPr id="5" name="offline-metric-panel">
            <a:extLst xmlns:a="http://schemas.openxmlformats.org/drawingml/2006/main">
              <a:ext uri="{FF2B5EF4-FFF2-40B4-BE49-F238E27FC236}">
                <a16:creationId xmlns:a16="http://schemas.microsoft.com/office/drawing/2014/main" id="{7C564A8D-026F-4EF8-97AA-0159B46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33600"/>
            <a:ext cx="40957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offline-metric-line">
            <a:extLst xmlns:a="http://schemas.openxmlformats.org/drawingml/2006/main">
              <a:ext uri="{FF2B5EF4-FFF2-40B4-BE49-F238E27FC236}">
                <a16:creationId xmlns:a16="http://schemas.microsoft.com/office/drawing/2014/main" id="{EF4B3469-A2F4-4DD8-8918-7EC3177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offline-metric-pill-panel">
            <a:extLst xmlns:a="http://schemas.openxmlformats.org/drawingml/2006/main">
              <a:ext uri="{FF2B5EF4-FFF2-40B4-BE49-F238E27FC236}">
                <a16:creationId xmlns:a16="http://schemas.microsoft.com/office/drawing/2014/main" id="{4769C40A-A466-4BA4-877A-AD60488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8" name="offline-metric-pill-text">
            <a:extLst xmlns:a="http://schemas.openxmlformats.org/drawingml/2006/main">
              <a:ext uri="{FF2B5EF4-FFF2-40B4-BE49-F238E27FC236}">
                <a16:creationId xmlns:a16="http://schemas.microsoft.com/office/drawing/2014/main" id="{B41F72EE-1604-4B95-A638-093A077B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Default mode</a:t>
            </a:r>
          </a:p>
        </p:txBody>
      </p:sp>
      <p:sp>
        <p:nvSpPr>
          <p:cNvPr id="9" name="offline-metric-number">
            <a:extLst xmlns:a="http://schemas.openxmlformats.org/drawingml/2006/main">
              <a:ext uri="{FF2B5EF4-FFF2-40B4-BE49-F238E27FC236}">
                <a16:creationId xmlns:a16="http://schemas.microsoft.com/office/drawing/2014/main" id="{17CBEFD5-34BA-41E9-8994-B1334B9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0</a:t>
            </a:r>
          </a:p>
        </p:txBody>
      </p:sp>
      <p:sp>
        <p:nvSpPr>
          <p:cNvPr id="10" name="offline-metric-label">
            <a:extLst xmlns:a="http://schemas.openxmlformats.org/drawingml/2006/main">
              <a:ext uri="{FF2B5EF4-FFF2-40B4-BE49-F238E27FC236}">
                <a16:creationId xmlns:a16="http://schemas.microsoft.com/office/drawing/2014/main" id="{BCF0A7AC-F22C-4082-A291-4060FB9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5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mandatory cloud calls</a:t>
            </a:r>
          </a:p>
        </p:txBody>
      </p:sp>
      <p:sp>
        <p:nvSpPr>
          <p:cNvPr id="11" name="offline-metric-body">
            <a:extLst xmlns:a="http://schemas.openxmlformats.org/drawingml/2006/main">
              <a:ext uri="{FF2B5EF4-FFF2-40B4-BE49-F238E27FC236}">
                <a16:creationId xmlns:a16="http://schemas.microsoft.com/office/drawing/2014/main" id="{D7EA9A33-4AF0-43E9-B0CB-CE7102B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core workflow still runs locally, even without reliable cloud access.</a:t>
            </a:r>
          </a:p>
        </p:txBody>
      </p:sp>
      <p:sp>
        <p:nvSpPr>
          <p:cNvPr id="12" name="offline-metric-bullet-icon-68-476">
            <a:extLst xmlns:a="http://schemas.openxmlformats.org/drawingml/2006/main">
              <a:ext uri="{FF2B5EF4-FFF2-40B4-BE49-F238E27FC236}">
                <a16:creationId xmlns:a16="http://schemas.microsoft.com/office/drawing/2014/main" id="{0016BF5C-CB4F-4AE5-90ED-E1B17E5C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offline-metric-bullet-text-68-476">
            <a:extLst xmlns:a="http://schemas.openxmlformats.org/drawingml/2006/main">
              <a:ext uri="{FF2B5EF4-FFF2-40B4-BE49-F238E27FC236}">
                <a16:creationId xmlns:a16="http://schemas.microsoft.com/office/drawing/2014/main" id="{1CC88951-31C6-49EE-AB89-D14E2DDE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Privacy by default for patient context</a:t>
            </a:r>
          </a:p>
        </p:txBody>
      </p:sp>
      <p:sp>
        <p:nvSpPr>
          <p:cNvPr id="14" name="offline-metric-bullet-icon-68-510">
            <a:extLst xmlns:a="http://schemas.openxmlformats.org/drawingml/2006/main">
              <a:ext uri="{FF2B5EF4-FFF2-40B4-BE49-F238E27FC236}">
                <a16:creationId xmlns:a16="http://schemas.microsoft.com/office/drawing/2014/main" id="{5D30BB05-6A35-4F36-BD81-6E742F5E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offline-metric-bullet-text-68-510">
            <a:extLst xmlns:a="http://schemas.openxmlformats.org/drawingml/2006/main">
              <a:ext uri="{FF2B5EF4-FFF2-40B4-BE49-F238E27FC236}">
                <a16:creationId xmlns:a16="http://schemas.microsoft.com/office/drawing/2014/main" id="{88EB1AAD-7AC7-493E-9BEE-D93A6520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Reliable on weak or unstable networks</a:t>
            </a:r>
          </a:p>
        </p:txBody>
      </p:sp>
      <p:sp>
        <p:nvSpPr>
          <p:cNvPr id="16" name="offline-metric-bullet-icon-68-544">
            <a:extLst xmlns:a="http://schemas.openxmlformats.org/drawingml/2006/main">
              <a:ext uri="{FF2B5EF4-FFF2-40B4-BE49-F238E27FC236}">
                <a16:creationId xmlns:a16="http://schemas.microsoft.com/office/drawing/2014/main" id="{C7AE09C5-E40B-4A20-AF56-0EC1B219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7" name="offline-metric-bullet-text-68-544">
            <a:extLst xmlns:a="http://schemas.openxmlformats.org/drawingml/2006/main">
              <a:ext uri="{FF2B5EF4-FFF2-40B4-BE49-F238E27FC236}">
                <a16:creationId xmlns:a16="http://schemas.microsoft.com/office/drawing/2014/main" id="{BA530FE6-A4D9-484E-ABCE-0B8A2808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Works in controlled environments</a:t>
            </a:r>
          </a:p>
        </p:txBody>
      </p:sp>
      <p:sp>
        <p:nvSpPr>
          <p:cNvPr id="18" name="offline-local-card">
            <a:extLst xmlns:a="http://schemas.openxmlformats.org/drawingml/2006/main">
              <a:ext uri="{FF2B5EF4-FFF2-40B4-BE49-F238E27FC236}">
                <a16:creationId xmlns:a16="http://schemas.microsoft.com/office/drawing/2014/main" id="{74C9E042-EC89-4A66-A9CC-491F78E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68770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offline-local-line">
            <a:extLst xmlns:a="http://schemas.openxmlformats.org/drawingml/2006/main">
              <a:ext uri="{FF2B5EF4-FFF2-40B4-BE49-F238E27FC236}">
                <a16:creationId xmlns:a16="http://schemas.microsoft.com/office/drawing/2014/main" id="{FE4BBDC7-3B04-4EE0-82DA-BE89048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0" name="offline-local-title">
            <a:extLst xmlns:a="http://schemas.openxmlformats.org/drawingml/2006/main">
              <a:ext uri="{FF2B5EF4-FFF2-40B4-BE49-F238E27FC236}">
                <a16:creationId xmlns:a16="http://schemas.microsoft.com/office/drawing/2014/main" id="{BFA71F05-CA8D-4B30-ADAC-E49531FB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pilots start</a:t>
            </a:r>
          </a:p>
        </p:txBody>
      </p:sp>
      <p:sp>
        <p:nvSpPr>
          <p:cNvPr id="21" name="offline-local-body">
            <a:extLst xmlns:a="http://schemas.openxmlformats.org/drawingml/2006/main">
              <a:ext uri="{FF2B5EF4-FFF2-40B4-BE49-F238E27FC236}">
                <a16:creationId xmlns:a16="http://schemas.microsoft.com/office/drawing/2014/main" id="{301124C9-66A7-4D83-8CC6-8353B9B8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It does not require a cloud dependency to begin.</a:t>
            </a:r>
          </a:p>
        </p:txBody>
      </p:sp>
      <p:sp>
        <p:nvSpPr>
          <p:cNvPr id="22" name="offline-why-card">
            <a:extLst xmlns:a="http://schemas.openxmlformats.org/drawingml/2006/main">
              <a:ext uri="{FF2B5EF4-FFF2-40B4-BE49-F238E27FC236}">
                <a16:creationId xmlns:a16="http://schemas.microsoft.com/office/drawing/2014/main" id="{1D30017B-FECD-4E27-BD3B-64EACDCD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8770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offline-why-line">
            <a:extLst xmlns:a="http://schemas.openxmlformats.org/drawingml/2006/main">
              <a:ext uri="{FF2B5EF4-FFF2-40B4-BE49-F238E27FC236}">
                <a16:creationId xmlns:a16="http://schemas.microsoft.com/office/drawing/2014/main" id="{AD362615-06D1-4941-8718-AF5170D0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95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offline-why-title">
            <a:extLst xmlns:a="http://schemas.openxmlformats.org/drawingml/2006/main">
              <a:ext uri="{FF2B5EF4-FFF2-40B4-BE49-F238E27FC236}">
                <a16:creationId xmlns:a16="http://schemas.microsoft.com/office/drawing/2014/main" id="{E64F009E-B0A4-4785-AB8F-BC927B0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Business impact</a:t>
            </a:r>
          </a:p>
        </p:txBody>
      </p:sp>
      <p:sp>
        <p:nvSpPr>
          <p:cNvPr id="25" name="offline-why-bullet-icon-538-494">
            <a:extLst xmlns:a="http://schemas.openxmlformats.org/drawingml/2006/main">
              <a:ext uri="{FF2B5EF4-FFF2-40B4-BE49-F238E27FC236}">
                <a16:creationId xmlns:a16="http://schemas.microsoft.com/office/drawing/2014/main" id="{8726DC2C-82D3-4443-90C4-56E925D9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offline-why-bullet-text-538-494">
            <a:extLst xmlns:a="http://schemas.openxmlformats.org/drawingml/2006/main">
              <a:ext uri="{FF2B5EF4-FFF2-40B4-BE49-F238E27FC236}">
                <a16:creationId xmlns:a16="http://schemas.microsoft.com/office/drawing/2014/main" id="{6563135D-624E-4E72-9359-087C35E7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Faster first-level triage</a:t>
            </a:r>
          </a:p>
        </p:txBody>
      </p:sp>
      <p:sp>
        <p:nvSpPr>
          <p:cNvPr id="27" name="offline-why-bullet-icon-538-526">
            <a:extLst xmlns:a="http://schemas.openxmlformats.org/drawingml/2006/main">
              <a:ext uri="{FF2B5EF4-FFF2-40B4-BE49-F238E27FC236}">
                <a16:creationId xmlns:a16="http://schemas.microsoft.com/office/drawing/2014/main" id="{86FAE6EC-8356-43D2-9B87-EE700C2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8" name="offline-why-bullet-text-538-526">
            <a:extLst xmlns:a="http://schemas.openxmlformats.org/drawingml/2006/main">
              <a:ext uri="{FF2B5EF4-FFF2-40B4-BE49-F238E27FC236}">
                <a16:creationId xmlns:a16="http://schemas.microsoft.com/office/drawing/2014/main" id="{87F285A2-97CF-4845-A3B4-FE92CC72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More consistent patient guidance</a:t>
            </a:r>
          </a:p>
        </p:txBody>
      </p:sp>
      <p:sp>
        <p:nvSpPr>
          <p:cNvPr id="29" name="offline-why-bullet-icon-538-558">
            <a:extLst xmlns:a="http://schemas.openxmlformats.org/drawingml/2006/main">
              <a:ext uri="{FF2B5EF4-FFF2-40B4-BE49-F238E27FC236}">
                <a16:creationId xmlns:a16="http://schemas.microsoft.com/office/drawing/2014/main" id="{871FE267-8B9E-422C-BF8F-50D8DE1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0" name="offline-why-bullet-text-538-558">
            <a:extLst xmlns:a="http://schemas.openxmlformats.org/drawingml/2006/main">
              <a:ext uri="{FF2B5EF4-FFF2-40B4-BE49-F238E27FC236}">
                <a16:creationId xmlns:a16="http://schemas.microsoft.com/office/drawing/2014/main" id="{B123DAC5-A5F3-4349-8078-CFDC24CE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49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Lower deployment friction for pilots</a:t>
            </a:r>
          </a:p>
        </p:txBody>
      </p:sp>
    </p:spTree>
    <p:extLst>
      <p:ext uri="{BB962C8B-B14F-4D97-AF65-F5344CB8AC3E}">
        <p14:creationId xmlns:p14="http://schemas.microsoft.com/office/powerpoint/2010/main" val="181812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AFETY BOUNDARY">
            <a:extLst xmlns:a="http://schemas.openxmlformats.org/drawingml/2006/main">
              <a:ext uri="{FF2B5EF4-FFF2-40B4-BE49-F238E27FC236}">
                <a16:creationId xmlns:a16="http://schemas.microsoft.com/office/drawing/2014/main" id="{9C2005CD-6C91-4A30-BAD6-038F319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 BOUNDARY</a:t>
            </a:r>
          </a:p>
        </p:txBody>
      </p:sp>
      <p:sp>
        <p:nvSpPr>
          <p:cNvPr id="2" name="titl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79092E5F-C2F0-4893-A690-E7E9FB3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helps, but it does not overstep</a:t>
            </a:r>
          </a:p>
        </p:txBody>
      </p:sp>
      <p:sp>
        <p:nvSpPr>
          <p:cNvPr id="3" name="header-lin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FE278EDD-909B-446A-BBDC-14BD1769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C459AF02-29BE-42A0-B273-2BCFB887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That keeps the demo useful and honest.</a:t>
            </a:r>
          </a:p>
        </p:txBody>
      </p:sp>
      <p:sp>
        <p:nvSpPr>
          <p:cNvPr id="5" name="final-supports-card">
            <a:extLst xmlns:a="http://schemas.openxmlformats.org/drawingml/2006/main">
              <a:ext uri="{FF2B5EF4-FFF2-40B4-BE49-F238E27FC236}">
                <a16:creationId xmlns:a16="http://schemas.microsoft.com/office/drawing/2014/main" id="{37CAB25D-149D-4CB5-9133-4584DE41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71700"/>
            <a:ext cx="5524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0">
            <a:solidFill>
              <a:srgbClr val="F7FFFD"/>
            </a:solidFill>
            <a:prstDash val="solid"/>
          </a:ln>
        </p:spPr>
      </p:sp>
      <p:sp>
        <p:nvSpPr>
          <p:cNvPr id="6" name="final-supports-line">
            <a:extLst xmlns:a="http://schemas.openxmlformats.org/drawingml/2006/main">
              <a:ext uri="{FF2B5EF4-FFF2-40B4-BE49-F238E27FC236}">
                <a16:creationId xmlns:a16="http://schemas.microsoft.com/office/drawing/2014/main" id="{EAE7E7C4-A676-4426-A9C5-C2E86EF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final-supports-title">
            <a:extLst xmlns:a="http://schemas.openxmlformats.org/drawingml/2006/main">
              <a:ext uri="{FF2B5EF4-FFF2-40B4-BE49-F238E27FC236}">
                <a16:creationId xmlns:a16="http://schemas.microsoft.com/office/drawing/2014/main" id="{702115DF-6218-48CB-9696-D4788BA0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Does help</a:t>
            </a:r>
          </a:p>
        </p:txBody>
      </p:sp>
      <p:sp>
        <p:nvSpPr>
          <p:cNvPr id="8" name="final-supports-bullet-icon-52-346">
            <a:extLst xmlns:a="http://schemas.openxmlformats.org/drawingml/2006/main">
              <a:ext uri="{FF2B5EF4-FFF2-40B4-BE49-F238E27FC236}">
                <a16:creationId xmlns:a16="http://schemas.microsoft.com/office/drawing/2014/main" id="{18EF92AE-0B2D-45A8-88A7-0B2B509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final-supports-bullet-text-52-346">
            <a:extLst xmlns:a="http://schemas.openxmlformats.org/drawingml/2006/main">
              <a:ext uri="{FF2B5EF4-FFF2-40B4-BE49-F238E27FC236}">
                <a16:creationId xmlns:a16="http://schemas.microsoft.com/office/drawing/2014/main" id="{7631A475-78D6-4F64-936C-249955A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Risk review and triage</a:t>
            </a:r>
          </a:p>
        </p:txBody>
      </p:sp>
      <p:sp>
        <p:nvSpPr>
          <p:cNvPr id="10" name="final-supports-bullet-icon-52-394">
            <a:extLst xmlns:a="http://schemas.openxmlformats.org/drawingml/2006/main">
              <a:ext uri="{FF2B5EF4-FFF2-40B4-BE49-F238E27FC236}">
                <a16:creationId xmlns:a16="http://schemas.microsoft.com/office/drawing/2014/main" id="{A049D8FB-F559-49E1-9487-04A4C406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1" name="final-supports-bullet-text-52-394">
            <a:extLst xmlns:a="http://schemas.openxmlformats.org/drawingml/2006/main">
              <a:ext uri="{FF2B5EF4-FFF2-40B4-BE49-F238E27FC236}">
                <a16:creationId xmlns:a16="http://schemas.microsoft.com/office/drawing/2014/main" id="{0D3BABCA-84B8-4ABA-9BD1-BEAA880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Medicine, lab, and insurance guidance</a:t>
            </a:r>
          </a:p>
        </p:txBody>
      </p:sp>
      <p:sp>
        <p:nvSpPr>
          <p:cNvPr id="12" name="final-supports-bullet-icon-52-442">
            <a:extLst xmlns:a="http://schemas.openxmlformats.org/drawingml/2006/main">
              <a:ext uri="{FF2B5EF4-FFF2-40B4-BE49-F238E27FC236}">
                <a16:creationId xmlns:a16="http://schemas.microsoft.com/office/drawing/2014/main" id="{4354A290-817E-4939-ACE2-14ABF888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final-supports-bullet-text-52-442">
            <a:extLst xmlns:a="http://schemas.openxmlformats.org/drawingml/2006/main">
              <a:ext uri="{FF2B5EF4-FFF2-40B4-BE49-F238E27FC236}">
                <a16:creationId xmlns:a16="http://schemas.microsoft.com/office/drawing/2014/main" id="{EC413ABA-40B8-45A8-A5E1-7455933E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Doctor-ready summary and follow-up prep</a:t>
            </a:r>
          </a:p>
        </p:txBody>
      </p:sp>
      <p:sp>
        <p:nvSpPr>
          <p:cNvPr id="14" name="final-supports-bullet-icon-52-490">
            <a:extLst xmlns:a="http://schemas.openxmlformats.org/drawingml/2006/main">
              <a:ext uri="{FF2B5EF4-FFF2-40B4-BE49-F238E27FC236}">
                <a16:creationId xmlns:a16="http://schemas.microsoft.com/office/drawing/2014/main" id="{2657AA86-7379-4350-8C1E-AA2662C4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final-supports-bullet-text-52-490">
            <a:extLst xmlns:a="http://schemas.openxmlformats.org/drawingml/2006/main">
              <a:ext uri="{FF2B5EF4-FFF2-40B4-BE49-F238E27FC236}">
                <a16:creationId xmlns:a16="http://schemas.microsoft.com/office/drawing/2014/main" id="{D063B968-F7C9-41C9-A366-B4F81D4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Urgent cases can force a safety-first route</a:t>
            </a:r>
          </a:p>
        </p:txBody>
      </p:sp>
      <p:sp>
        <p:nvSpPr>
          <p:cNvPr id="16" name="final-limits-card">
            <a:extLst xmlns:a="http://schemas.openxmlformats.org/drawingml/2006/main">
              <a:ext uri="{FF2B5EF4-FFF2-40B4-BE49-F238E27FC236}">
                <a16:creationId xmlns:a16="http://schemas.microsoft.com/office/drawing/2014/main" id="{E7CD7B27-2DE5-4716-8C6C-6C3DE5E3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524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0">
            <a:solidFill>
              <a:srgbClr val="FFF5EE"/>
            </a:solidFill>
            <a:prstDash val="solid"/>
          </a:ln>
        </p:spPr>
      </p:sp>
      <p:sp>
        <p:nvSpPr>
          <p:cNvPr id="17" name="final-limits-line">
            <a:extLst xmlns:a="http://schemas.openxmlformats.org/drawingml/2006/main">
              <a:ext uri="{FF2B5EF4-FFF2-40B4-BE49-F238E27FC236}">
                <a16:creationId xmlns:a16="http://schemas.microsoft.com/office/drawing/2014/main" id="{C2D06E41-8F13-481F-8D8A-195926E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8" name="final-limits-title">
            <a:extLst xmlns:a="http://schemas.openxmlformats.org/drawingml/2006/main">
              <a:ext uri="{FF2B5EF4-FFF2-40B4-BE49-F238E27FC236}">
                <a16:creationId xmlns:a16="http://schemas.microsoft.com/office/drawing/2014/main" id="{E0C3BF44-A6F5-4B87-A264-FE03D040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Never does</a:t>
            </a:r>
          </a:p>
        </p:txBody>
      </p:sp>
      <p:sp>
        <p:nvSpPr>
          <p:cNvPr id="19" name="final-limits-bullet-icon-674-346">
            <a:extLst xmlns:a="http://schemas.openxmlformats.org/drawingml/2006/main">
              <a:ext uri="{FF2B5EF4-FFF2-40B4-BE49-F238E27FC236}">
                <a16:creationId xmlns:a16="http://schemas.microsoft.com/office/drawing/2014/main" id="{6AA74DEA-2A42-446F-BB06-C1C66D96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0" name="final-limits-bullet-text-674-346">
            <a:extLst xmlns:a="http://schemas.openxmlformats.org/drawingml/2006/main">
              <a:ext uri="{FF2B5EF4-FFF2-40B4-BE49-F238E27FC236}">
                <a16:creationId xmlns:a16="http://schemas.microsoft.com/office/drawing/2014/main" id="{4ACCA15D-C627-47DC-8EA9-434AA0C9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Final diagnosis</a:t>
            </a:r>
          </a:p>
        </p:txBody>
      </p:sp>
      <p:sp>
        <p:nvSpPr>
          <p:cNvPr id="21" name="final-limits-bullet-icon-674-394">
            <a:extLst xmlns:a="http://schemas.openxmlformats.org/drawingml/2006/main">
              <a:ext uri="{FF2B5EF4-FFF2-40B4-BE49-F238E27FC236}">
                <a16:creationId xmlns:a16="http://schemas.microsoft.com/office/drawing/2014/main" id="{BADB15F5-5359-41C9-B8D5-10115F7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2" name="final-limits-bullet-text-674-394">
            <a:extLst xmlns:a="http://schemas.openxmlformats.org/drawingml/2006/main">
              <a:ext uri="{FF2B5EF4-FFF2-40B4-BE49-F238E27FC236}">
                <a16:creationId xmlns:a16="http://schemas.microsoft.com/office/drawing/2014/main" id="{46602B1E-6934-40AE-96E9-D873BF9F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Prescribing</a:t>
            </a:r>
          </a:p>
        </p:txBody>
      </p:sp>
      <p:sp>
        <p:nvSpPr>
          <p:cNvPr id="23" name="final-limits-bullet-icon-674-442">
            <a:extLst xmlns:a="http://schemas.openxmlformats.org/drawingml/2006/main">
              <a:ext uri="{FF2B5EF4-FFF2-40B4-BE49-F238E27FC236}">
                <a16:creationId xmlns:a16="http://schemas.microsoft.com/office/drawing/2014/main" id="{815A2AAD-5107-4DBF-B621-2B98812C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final-limits-bullet-text-674-442">
            <a:extLst xmlns:a="http://schemas.openxmlformats.org/drawingml/2006/main">
              <a:ext uri="{FF2B5EF4-FFF2-40B4-BE49-F238E27FC236}">
                <a16:creationId xmlns:a16="http://schemas.microsoft.com/office/drawing/2014/main" id="{F7398D8A-A4D3-4952-99DF-F0E432C8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Dose calculation</a:t>
            </a:r>
          </a:p>
        </p:txBody>
      </p:sp>
      <p:sp>
        <p:nvSpPr>
          <p:cNvPr id="25" name="final-limits-bullet-icon-674-490">
            <a:extLst xmlns:a="http://schemas.openxmlformats.org/drawingml/2006/main">
              <a:ext uri="{FF2B5EF4-FFF2-40B4-BE49-F238E27FC236}">
                <a16:creationId xmlns:a16="http://schemas.microsoft.com/office/drawing/2014/main" id="{FC0545CE-668B-45AF-8DAF-0044D6E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final-limits-bullet-text-674-490">
            <a:extLst xmlns:a="http://schemas.openxmlformats.org/drawingml/2006/main">
              <a:ext uri="{FF2B5EF4-FFF2-40B4-BE49-F238E27FC236}">
                <a16:creationId xmlns:a16="http://schemas.microsoft.com/office/drawing/2014/main" id="{33CEE2FF-163F-4B84-8254-FD109CF1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Appointment booking or emergency calls</a:t>
            </a:r>
          </a:p>
        </p:txBody>
      </p:sp>
      <p:sp>
        <p:nvSpPr>
          <p:cNvPr id="27" name="final-memory-band">
            <a:extLst xmlns:a="http://schemas.openxmlformats.org/drawingml/2006/main">
              <a:ext uri="{FF2B5EF4-FFF2-40B4-BE49-F238E27FC236}">
                <a16:creationId xmlns:a16="http://schemas.microsoft.com/office/drawing/2014/main" id="{4FCEA0F1-1152-454B-A37C-7C813B8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610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8" name="final-memory-text">
            <a:extLst xmlns:a="http://schemas.openxmlformats.org/drawingml/2006/main">
              <a:ext uri="{FF2B5EF4-FFF2-40B4-BE49-F238E27FC236}">
                <a16:creationId xmlns:a16="http://schemas.microsoft.com/office/drawing/2014/main" id="{3976BCC6-DD7E-4FE5-BD29-E8993F1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Patient context can grow. Clinical boundaries stay locked.</a:t>
            </a:r>
          </a:p>
        </p:txBody>
      </p:sp>
    </p:spTree>
    <p:extLst>
      <p:ext uri="{BB962C8B-B14F-4D97-AF65-F5344CB8AC3E}">
        <p14:creationId xmlns:p14="http://schemas.microsoft.com/office/powerpoint/2010/main" val="1199098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WHY IT STANDS OUT">
            <a:extLst xmlns:a="http://schemas.openxmlformats.org/drawingml/2006/main">
              <a:ext uri="{FF2B5EF4-FFF2-40B4-BE49-F238E27FC236}">
                <a16:creationId xmlns:a16="http://schemas.microsoft.com/office/drawing/2014/main" id="{56EBD53C-010E-4441-AE2E-B83892FA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WHY IT STANDS OUT</a:t>
            </a:r>
          </a:p>
        </p:txBody>
      </p:sp>
      <p:sp>
        <p:nvSpPr>
          <p:cNvPr id="2" name="title-Why it stands out in healthcare">
            <a:extLst xmlns:a="http://schemas.openxmlformats.org/drawingml/2006/main">
              <a:ext uri="{FF2B5EF4-FFF2-40B4-BE49-F238E27FC236}">
                <a16:creationId xmlns:a16="http://schemas.microsoft.com/office/drawing/2014/main" id="{D5146593-1B59-4D27-BC31-8726C35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stands out in healthcare</a:t>
            </a:r>
          </a:p>
        </p:txBody>
      </p:sp>
      <p:sp>
        <p:nvSpPr>
          <p:cNvPr id="3" name="header-line-Why it stands out in healthcare">
            <a:extLst xmlns:a="http://schemas.openxmlformats.org/drawingml/2006/main">
              <a:ext uri="{FF2B5EF4-FFF2-40B4-BE49-F238E27FC236}">
                <a16:creationId xmlns:a16="http://schemas.microsoft.com/office/drawing/2014/main" id="{6BA7EF92-70D2-4A4A-8C54-D54AE18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Why it stands out in healthcare">
            <a:extLst xmlns:a="http://schemas.openxmlformats.org/drawingml/2006/main">
              <a:ext uri="{FF2B5EF4-FFF2-40B4-BE49-F238E27FC236}">
                <a16:creationId xmlns:a16="http://schemas.microsoft.com/office/drawing/2014/main" id="{9D3D648E-8D30-4A90-8BBF-20FB4C29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Three design choices change the result.</a:t>
            </a:r>
          </a:p>
        </p:txBody>
      </p:sp>
      <p:sp>
        <p:nvSpPr>
          <p:cNvPr id="5" name="closing-band-1">
            <a:extLst xmlns:a="http://schemas.openxmlformats.org/drawingml/2006/main">
              <a:ext uri="{FF2B5EF4-FFF2-40B4-BE49-F238E27FC236}">
                <a16:creationId xmlns:a16="http://schemas.microsoft.com/office/drawing/2014/main" id="{C367D5EF-EFE9-4F44-B54F-575D8CB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losing-band-line-1">
            <a:extLst xmlns:a="http://schemas.openxmlformats.org/drawingml/2006/main">
              <a:ext uri="{FF2B5EF4-FFF2-40B4-BE49-F238E27FC236}">
                <a16:creationId xmlns:a16="http://schemas.microsoft.com/office/drawing/2014/main" id="{6FBD97A3-B406-43AD-A962-646F4871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losing-band-label-1">
            <a:extLst xmlns:a="http://schemas.openxmlformats.org/drawingml/2006/main">
              <a:ext uri="{FF2B5EF4-FFF2-40B4-BE49-F238E27FC236}">
                <a16:creationId xmlns:a16="http://schemas.microsoft.com/office/drawing/2014/main" id="{E5796209-E205-4F0C-9E9E-E55125A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8" name="closing-band-generic-1">
            <a:extLst xmlns:a="http://schemas.openxmlformats.org/drawingml/2006/main">
              <a:ext uri="{FF2B5EF4-FFF2-40B4-BE49-F238E27FC236}">
                <a16:creationId xmlns:a16="http://schemas.microsoft.com/office/drawing/2014/main" id="{DE98090E-8052-4133-9EE0-F2FFEF8B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starts cold.</a:t>
            </a:r>
          </a:p>
        </p:txBody>
      </p:sp>
      <p:sp>
        <p:nvSpPr>
          <p:cNvPr id="9" name="closing-band-divider-1">
            <a:extLst xmlns:a="http://schemas.openxmlformats.org/drawingml/2006/main">
              <a:ext uri="{FF2B5EF4-FFF2-40B4-BE49-F238E27FC236}">
                <a16:creationId xmlns:a16="http://schemas.microsoft.com/office/drawing/2014/main" id="{04B9267F-C8CA-4A45-88E3-F2FDD020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03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0" name="closing-band-care-1">
            <a:extLst xmlns:a="http://schemas.openxmlformats.org/drawingml/2006/main">
              <a:ext uri="{FF2B5EF4-FFF2-40B4-BE49-F238E27FC236}">
                <a16:creationId xmlns:a16="http://schemas.microsoft.com/office/drawing/2014/main" id="{16B88E24-1946-4543-AC49-2A524FEC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Remembers patient context</a:t>
            </a:r>
          </a:p>
        </p:txBody>
      </p:sp>
      <p:sp>
        <p:nvSpPr>
          <p:cNvPr id="11" name="closing-band-2">
            <a:extLst xmlns:a="http://schemas.openxmlformats.org/drawingml/2006/main">
              <a:ext uri="{FF2B5EF4-FFF2-40B4-BE49-F238E27FC236}">
                <a16:creationId xmlns:a16="http://schemas.microsoft.com/office/drawing/2014/main" id="{1591A332-0BEA-4E70-B2AE-AC870E6E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losing-band-line-2">
            <a:extLst xmlns:a="http://schemas.openxmlformats.org/drawingml/2006/main">
              <a:ext uri="{FF2B5EF4-FFF2-40B4-BE49-F238E27FC236}">
                <a16:creationId xmlns:a16="http://schemas.microsoft.com/office/drawing/2014/main" id="{9C40CE20-91C9-4147-BE05-20F20084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closing-band-label-2">
            <a:extLst xmlns:a="http://schemas.openxmlformats.org/drawingml/2006/main">
              <a:ext uri="{FF2B5EF4-FFF2-40B4-BE49-F238E27FC236}">
                <a16:creationId xmlns:a16="http://schemas.microsoft.com/office/drawing/2014/main" id="{57BA127C-EFAB-452A-906B-5DF189DB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ROUTING</a:t>
            </a:r>
          </a:p>
        </p:txBody>
      </p:sp>
      <p:sp>
        <p:nvSpPr>
          <p:cNvPr id="14" name="closing-band-generic-2">
            <a:extLst xmlns:a="http://schemas.openxmlformats.org/drawingml/2006/main">
              <a:ext uri="{FF2B5EF4-FFF2-40B4-BE49-F238E27FC236}">
                <a16:creationId xmlns:a16="http://schemas.microsoft.com/office/drawing/2014/main" id="{AB0DC579-FE90-42E7-BE71-3DB3768C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gives one broad answer.</a:t>
            </a:r>
          </a:p>
        </p:txBody>
      </p:sp>
      <p:sp>
        <p:nvSpPr>
          <p:cNvPr id="15" name="closing-band-divider-2">
            <a:extLst xmlns:a="http://schemas.openxmlformats.org/drawingml/2006/main">
              <a:ext uri="{FF2B5EF4-FFF2-40B4-BE49-F238E27FC236}">
                <a16:creationId xmlns:a16="http://schemas.microsoft.com/office/drawing/2014/main" id="{0820A88B-E4C1-43CE-85DC-C40FC659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6" name="closing-band-care-2">
            <a:extLst xmlns:a="http://schemas.openxmlformats.org/drawingml/2006/main">
              <a:ext uri="{FF2B5EF4-FFF2-40B4-BE49-F238E27FC236}">
                <a16:creationId xmlns:a16="http://schemas.microsoft.com/office/drawing/2014/main" id="{B2D4DA35-D868-48DB-8620-3E7CA44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Routes to the right specialist</a:t>
            </a:r>
          </a:p>
        </p:txBody>
      </p:sp>
      <p:sp>
        <p:nvSpPr>
          <p:cNvPr id="17" name="closing-band-3">
            <a:extLst xmlns:a="http://schemas.openxmlformats.org/drawingml/2006/main">
              <a:ext uri="{FF2B5EF4-FFF2-40B4-BE49-F238E27FC236}">
                <a16:creationId xmlns:a16="http://schemas.microsoft.com/office/drawing/2014/main" id="{D37912C5-6A6F-413F-B63A-5524D4C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losing-band-line-3">
            <a:extLst xmlns:a="http://schemas.openxmlformats.org/drawingml/2006/main">
              <a:ext uri="{FF2B5EF4-FFF2-40B4-BE49-F238E27FC236}">
                <a16:creationId xmlns:a16="http://schemas.microsoft.com/office/drawing/2014/main" id="{5B4245F1-512B-47DA-945B-C4DF2A0B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9" name="closing-band-label-3">
            <a:extLst xmlns:a="http://schemas.openxmlformats.org/drawingml/2006/main">
              <a:ext uri="{FF2B5EF4-FFF2-40B4-BE49-F238E27FC236}">
                <a16:creationId xmlns:a16="http://schemas.microsoft.com/office/drawing/2014/main" id="{A644C5C7-C412-4F95-B27A-039800E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</a:t>
            </a:r>
          </a:p>
        </p:txBody>
      </p:sp>
      <p:sp>
        <p:nvSpPr>
          <p:cNvPr id="20" name="closing-band-generic-3">
            <a:extLst xmlns:a="http://schemas.openxmlformats.org/drawingml/2006/main">
              <a:ext uri="{FF2B5EF4-FFF2-40B4-BE49-F238E27FC236}">
                <a16:creationId xmlns:a16="http://schemas.microsoft.com/office/drawing/2014/main" id="{5E0003BA-ED13-4AEE-BD65-E755EF5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can overstep.</a:t>
            </a:r>
          </a:p>
        </p:txBody>
      </p:sp>
      <p:sp>
        <p:nvSpPr>
          <p:cNvPr id="21" name="closing-band-divider-3">
            <a:extLst xmlns:a="http://schemas.openxmlformats.org/drawingml/2006/main">
              <a:ext uri="{FF2B5EF4-FFF2-40B4-BE49-F238E27FC236}">
                <a16:creationId xmlns:a16="http://schemas.microsoft.com/office/drawing/2014/main" id="{7EFB79A7-6511-4FD2-8705-0A58F1C7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22" name="closing-band-care-3">
            <a:extLst xmlns:a="http://schemas.openxmlformats.org/drawingml/2006/main">
              <a:ext uri="{FF2B5EF4-FFF2-40B4-BE49-F238E27FC236}">
                <a16:creationId xmlns:a16="http://schemas.microsoft.com/office/drawing/2014/main" id="{3FADF151-5EC6-4383-B647-CCF483A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86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Stops unsafe medical advice</a:t>
            </a:r>
          </a:p>
        </p:txBody>
      </p:sp>
      <p:sp>
        <p:nvSpPr>
          <p:cNvPr id="23" name="closing-summary-strip">
            <a:extLst xmlns:a="http://schemas.openxmlformats.org/drawingml/2006/main">
              <a:ext uri="{FF2B5EF4-FFF2-40B4-BE49-F238E27FC236}">
                <a16:creationId xmlns:a16="http://schemas.microsoft.com/office/drawing/2014/main" id="{17051E1E-F5C6-4555-B477-35EDA10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201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4" name="closing-final-text">
            <a:extLst xmlns:a="http://schemas.openxmlformats.org/drawingml/2006/main">
              <a:ext uri="{FF2B5EF4-FFF2-40B4-BE49-F238E27FC236}">
                <a16:creationId xmlns:a16="http://schemas.microsoft.com/office/drawing/2014/main" id="{332EC62A-3EE7-4418-8A10-56F8FC1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faster triage, clearer guidance, safer boundaries.</a:t>
            </a:r>
          </a:p>
        </p:txBody>
      </p:sp>
    </p:spTree>
    <p:extLst>
      <p:ext uri="{BB962C8B-B14F-4D97-AF65-F5344CB8AC3E}">
        <p14:creationId xmlns:p14="http://schemas.microsoft.com/office/powerpoint/2010/main" val="765406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2026-07-05T09:16:36.3670000Z</dcterms:created>
  <dcterms:modified xsi:type="dcterms:W3CDTF">2026-07-05T09:16:36.3670000Z</dcterms:modified>
</coreProperties>
</file>