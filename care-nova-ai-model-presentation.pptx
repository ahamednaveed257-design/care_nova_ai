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0ea1d74fc548a7" /><Relationship Type="http://schemas.openxmlformats.org/officeDocument/2006/relationships/extended-properties" Target="/docProps/app.xml" Id="Rd15139aa00274924" /><Relationship Type="http://schemas.openxmlformats.org/officeDocument/2006/relationships/officeDocument" Target="/ppt/presentation.xml" Id="R7f94ac5541ca4e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898791d92d41da"/>
  </p:sldMasterIdLst>
  <p:notesMasterIdLst>
    <p:notesMasterId xmlns:r="http://schemas.openxmlformats.org/officeDocument/2006/relationships" r:id="Rb097c62df8b64f6a"/>
  </p:notesMasterIdLst>
  <p:sldIdLst>
    <p:sldId xmlns:r="http://schemas.openxmlformats.org/officeDocument/2006/relationships" id="256" r:id="R810a4463e32648af"/>
    <p:sldId xmlns:r="http://schemas.openxmlformats.org/officeDocument/2006/relationships" id="257" r:id="R15f925204c2242d2"/>
    <p:sldId xmlns:r="http://schemas.openxmlformats.org/officeDocument/2006/relationships" id="258" r:id="Rdd56b5cebb6c494a"/>
    <p:sldId xmlns:r="http://schemas.openxmlformats.org/officeDocument/2006/relationships" id="259" r:id="Re29fd32c26384919"/>
    <p:sldId xmlns:r="http://schemas.openxmlformats.org/officeDocument/2006/relationships" id="260" r:id="R8f104d37c1814d67"/>
    <p:sldId xmlns:r="http://schemas.openxmlformats.org/officeDocument/2006/relationships" id="261" r:id="Rd83ab341e66a4624"/>
    <p:sldId xmlns:r="http://schemas.openxmlformats.org/officeDocument/2006/relationships" id="262" r:id="R1df895065f594558"/>
    <p:sldId xmlns:r="http://schemas.openxmlformats.org/officeDocument/2006/relationships" id="263" r:id="Rc4412ffdb92b4e27"/>
    <p:sldId xmlns:r="http://schemas.openxmlformats.org/officeDocument/2006/relationships" id="264" r:id="R93146a2469c14b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beb1fa0c2a4e90" /><Relationship Type="http://schemas.openxmlformats.org/officeDocument/2006/relationships/slideMaster" Target="/ppt/slideMasters/slideMaster1.xml" Id="Red898791d92d41da" /><Relationship Type="http://schemas.openxmlformats.org/officeDocument/2006/relationships/notesMaster" Target="/ppt/notesMasters/notesMaster1.xml" Id="Rb097c62df8b64f6a" /><Relationship Type="http://schemas.openxmlformats.org/officeDocument/2006/relationships/presProps" Target="/ppt/presProps.xml" Id="R80d3bf9c3ef041f6" /><Relationship Type="http://schemas.openxmlformats.org/officeDocument/2006/relationships/tableStyles" Target="/ppt/tableStyles.xml" Id="R1a3bdac0ae874291" /><Relationship Type="http://schemas.openxmlformats.org/officeDocument/2006/relationships/slide" Target="/ppt/slides/slide1.xml" Id="R810a4463e32648af" /><Relationship Type="http://schemas.openxmlformats.org/officeDocument/2006/relationships/slide" Target="/ppt/slides/slide2.xml" Id="R15f925204c2242d2" /><Relationship Type="http://schemas.openxmlformats.org/officeDocument/2006/relationships/slide" Target="/ppt/slides/slide3.xml" Id="Rdd56b5cebb6c494a" /><Relationship Type="http://schemas.openxmlformats.org/officeDocument/2006/relationships/slide" Target="/ppt/slides/slide4.xml" Id="Re29fd32c26384919" /><Relationship Type="http://schemas.openxmlformats.org/officeDocument/2006/relationships/slide" Target="/ppt/slides/slide5.xml" Id="R8f104d37c1814d67" /><Relationship Type="http://schemas.openxmlformats.org/officeDocument/2006/relationships/slide" Target="/ppt/slides/slide6.xml" Id="Rd83ab341e66a4624" /><Relationship Type="http://schemas.openxmlformats.org/officeDocument/2006/relationships/slide" Target="/ppt/slides/slide7.xml" Id="R1df895065f594558" /><Relationship Type="http://schemas.openxmlformats.org/officeDocument/2006/relationships/slide" Target="/ppt/slides/slide8.xml" Id="Rc4412ffdb92b4e27" /><Relationship Type="http://schemas.openxmlformats.org/officeDocument/2006/relationships/slide" Target="/ppt/slides/slide9.xml" Id="R93146a2469c14b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09b04f0a9f46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9c52423df54c41" /><Relationship Type="http://schemas.openxmlformats.org/officeDocument/2006/relationships/notesMaster" Target="/ppt/notesMasters/notesMaster1.xml" Id="R1a1e844f310f45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534bba76684b7b" /><Relationship Type="http://schemas.openxmlformats.org/officeDocument/2006/relationships/notesMaster" Target="/ppt/notesMasters/notesMaster1.xml" Id="R67e0ef0731b544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1f94c0739448bf" /><Relationship Type="http://schemas.openxmlformats.org/officeDocument/2006/relationships/notesMaster" Target="/ppt/notesMasters/notesMaster1.xml" Id="Rd4860d65fdf545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4ba1c49bd542ab" /><Relationship Type="http://schemas.openxmlformats.org/officeDocument/2006/relationships/notesMaster" Target="/ppt/notesMasters/notesMaster1.xml" Id="Rbff7fa19052d4f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d4c88e5b6b4058" /><Relationship Type="http://schemas.openxmlformats.org/officeDocument/2006/relationships/notesMaster" Target="/ppt/notesMasters/notesMaster1.xml" Id="Re705a5c8c8344c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cf35d53f484ae4" /><Relationship Type="http://schemas.openxmlformats.org/officeDocument/2006/relationships/notesMaster" Target="/ppt/notesMasters/notesMaster1.xml" Id="Rb16d9a9e5e504d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bdade151f4462c" /><Relationship Type="http://schemas.openxmlformats.org/officeDocument/2006/relationships/notesMaster" Target="/ppt/notesMasters/notesMaster1.xml" Id="R783ba8243bfe4c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e5d155bab64506" /><Relationship Type="http://schemas.openxmlformats.org/officeDocument/2006/relationships/notesMaster" Target="/ppt/notesMasters/notesMaster1.xml" Id="R76b491bf10b64c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74f9b66bac4422" /><Relationship Type="http://schemas.openxmlformats.org/officeDocument/2006/relationships/notesMaster" Target="/ppt/notesMasters/notesMaster1.xml" Id="R5a6fd98c31c94f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32afdf70a45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e474655e2746d8" /><Relationship Type="http://schemas.openxmlformats.org/officeDocument/2006/relationships/slideLayout" Target="/ppt/slideLayouts/slideLayout1.xml" Id="Rae36b85926e841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36b85926e841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d494a42c74804" /><Relationship Type="http://schemas.openxmlformats.org/officeDocument/2006/relationships/image" Target="/ppt/media/image.jpeg" Id="R93122d57ace04282" /><Relationship Type="http://schemas.openxmlformats.org/officeDocument/2006/relationships/notesSlide" Target="/ppt/notesSlides/notesSlide1.xml" Id="R0340c07a626744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e2e8a205d4bac" /><Relationship Type="http://schemas.openxmlformats.org/officeDocument/2006/relationships/notesSlide" Target="/ppt/notesSlides/notesSlide2.xml" Id="R68c926381edf41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d297dca954747" /><Relationship Type="http://schemas.openxmlformats.org/officeDocument/2006/relationships/image" Target="/ppt/media/image2.jpeg" Id="R8b92c793d7144731" /><Relationship Type="http://schemas.openxmlformats.org/officeDocument/2006/relationships/notesSlide" Target="/ppt/notesSlides/notesSlide3.xml" Id="R9cd5a6b6f98e45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0d696b6134bd6" /><Relationship Type="http://schemas.openxmlformats.org/officeDocument/2006/relationships/notesSlide" Target="/ppt/notesSlides/notesSlide4.xml" Id="R016f7c4f977146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a1ed675f94c4d" /><Relationship Type="http://schemas.openxmlformats.org/officeDocument/2006/relationships/notesSlide" Target="/ppt/notesSlides/notesSlide5.xml" Id="Re59b472b9e2a4a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e390fc8b24474" /><Relationship Type="http://schemas.openxmlformats.org/officeDocument/2006/relationships/notesSlide" Target="/ppt/notesSlides/notesSlide6.xml" Id="R63cbe28412c84d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deecd632e49bc" /><Relationship Type="http://schemas.openxmlformats.org/officeDocument/2006/relationships/image" Target="/ppt/media/image3.jpeg" Id="Rf2de3f65d8994e87" /><Relationship Type="http://schemas.openxmlformats.org/officeDocument/2006/relationships/notesSlide" Target="/ppt/notesSlides/notesSlide7.xml" Id="Re057d386c23545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afa34184f4cfa" /><Relationship Type="http://schemas.openxmlformats.org/officeDocument/2006/relationships/notesSlide" Target="/ppt/notesSlides/notesSlide8.xml" Id="R028d8a8a8c9c40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87f6e601248ea" /><Relationship Type="http://schemas.openxmlformats.org/officeDocument/2006/relationships/notesSlide" Target="/ppt/notesSlides/notesSlide9.xml" Id="R2db5310f6b6c4c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content-panel">
            <a:extLst xmlns:a="http://schemas.openxmlformats.org/drawingml/2006/main">
              <a:ext uri="{FF2B5EF4-FFF2-40B4-BE49-F238E27FC236}">
                <a16:creationId xmlns:a16="http://schemas.microsoft.com/office/drawing/2014/main" id="{E1048E6D-A412-4A3E-AF17-052EE861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"/>
            <a:ext cx="3924300" cy="60579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E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01F87A1-08AD-4D9C-93F5-AD106506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HEALTHCARE AI DEMO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FF1CE46-B3AA-46B6-8317-6C747E9A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373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Care Nova AI</a:t>
            </a:r>
          </a:p>
        </p:txBody>
      </p:sp>
      <p:sp>
        <p:nvSpPr>
          <p:cNvPr id="4" name="cover-line">
            <a:extLst xmlns:a="http://schemas.openxmlformats.org/drawingml/2006/main">
              <a:ext uri="{FF2B5EF4-FFF2-40B4-BE49-F238E27FC236}">
                <a16:creationId xmlns:a16="http://schemas.microsoft.com/office/drawing/2014/main" id="{AE7963F2-9926-41DB-88C0-0BAC6E41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971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DAD7354-E24F-49B9-8463-1BE355D6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3314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A local-first multi-agent healthcare RAG platform.</a:t>
            </a:r>
          </a:p>
        </p:txBody>
      </p:sp>
      <p:sp>
        <p:nvSpPr>
          <p:cNvPr id="6" name="cover-key-line-1">
            <a:extLst xmlns:a="http://schemas.openxmlformats.org/drawingml/2006/main">
              <a:ext uri="{FF2B5EF4-FFF2-40B4-BE49-F238E27FC236}">
                <a16:creationId xmlns:a16="http://schemas.microsoft.com/office/drawing/2014/main" id="{2B56E07F-869B-409F-941B-C0AC6B7A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576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7" name="cover-key-text-1">
            <a:extLst xmlns:a="http://schemas.openxmlformats.org/drawingml/2006/main">
              <a:ext uri="{FF2B5EF4-FFF2-40B4-BE49-F238E27FC236}">
                <a16:creationId xmlns:a16="http://schemas.microsoft.com/office/drawing/2014/main" id="{6E8926C4-1A5D-4238-8A9F-7C92766C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93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Turns fragmented patient data into one next step</a:t>
            </a:r>
          </a:p>
        </p:txBody>
      </p:sp>
      <p:sp>
        <p:nvSpPr>
          <p:cNvPr id="8" name="cover-key-line-2">
            <a:extLst xmlns:a="http://schemas.openxmlformats.org/drawingml/2006/main">
              <a:ext uri="{FF2B5EF4-FFF2-40B4-BE49-F238E27FC236}">
                <a16:creationId xmlns:a16="http://schemas.microsoft.com/office/drawing/2014/main" id="{55F6FBD4-C3D9-4B6B-A003-0DCECA9F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9" name="cover-key-text-2">
            <a:extLst xmlns:a="http://schemas.openxmlformats.org/drawingml/2006/main">
              <a:ext uri="{FF2B5EF4-FFF2-40B4-BE49-F238E27FC236}">
                <a16:creationId xmlns:a16="http://schemas.microsoft.com/office/drawing/2014/main" id="{666A527B-E540-4264-B6F3-E784ACC2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36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Memory, retrieval, and specialist agents</a:t>
            </a:r>
          </a:p>
        </p:txBody>
      </p:sp>
      <p:sp>
        <p:nvSpPr>
          <p:cNvPr id="10" name="cover-key-line-3">
            <a:extLst xmlns:a="http://schemas.openxmlformats.org/drawingml/2006/main">
              <a:ext uri="{FF2B5EF4-FFF2-40B4-BE49-F238E27FC236}">
                <a16:creationId xmlns:a16="http://schemas.microsoft.com/office/drawing/2014/main" id="{7331906E-E1CA-40C3-8D60-89B0FA1F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11" name="cover-key-text-3">
            <a:extLst xmlns:a="http://schemas.openxmlformats.org/drawingml/2006/main">
              <a:ext uri="{FF2B5EF4-FFF2-40B4-BE49-F238E27FC236}">
                <a16:creationId xmlns:a16="http://schemas.microsoft.com/office/drawing/2014/main" id="{53B9DD84-DD79-4F31-957F-383ABDA4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Safety-checked by default</a:t>
            </a:r>
          </a:p>
        </p:txBody>
      </p:sp>
      <p:sp>
        <p:nvSpPr>
          <p:cNvPr id="12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CF3C5A4A-2E96-484F-BB58-D7E604F0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354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Cloud access is optional, not required.</a:t>
            </a:r>
          </a:p>
        </p:txBody>
      </p:sp>
      <p:sp>
        <p:nvSpPr>
          <p:cNvPr id="13" name="cover-desktop-backplate">
            <a:extLst xmlns:a="http://schemas.openxmlformats.org/drawingml/2006/main">
              <a:ext uri="{FF2B5EF4-FFF2-40B4-BE49-F238E27FC236}">
                <a16:creationId xmlns:a16="http://schemas.microsoft.com/office/drawing/2014/main" id="{66DF0F4B-0663-4B8C-AAD7-C23BD9F5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7200"/>
            <a:ext cx="7162800" cy="5962650"/>
          </a:xfrm>
          <a:prstGeom xmlns:a="http://schemas.openxmlformats.org/drawingml/2006/main" prst="roundRect">
            <a:avLst>
              <a:gd name="adj" fmla="val 255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14" name="cover-desktop-frame">
            <a:extLst xmlns:a="http://schemas.openxmlformats.org/drawingml/2006/main">
              <a:ext uri="{FF2B5EF4-FFF2-40B4-BE49-F238E27FC236}">
                <a16:creationId xmlns:a16="http://schemas.microsoft.com/office/drawing/2014/main" id="{9E6E4AC3-AC23-41B0-8537-CDB4A373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1500"/>
            <a:ext cx="6934200" cy="5734050"/>
          </a:xfrm>
          <a:prstGeom xmlns:a="http://schemas.openxmlformats.org/drawingml/2006/main" prst="roundRect">
            <a:avLst>
              <a:gd name="adj" fmla="val 26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22d57ace04282"/>
          <a:srcRect xmlns:a="http://schemas.openxmlformats.org/drawingml/2006/main" l="15585" t="0" r="155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571500"/>
            <a:ext cx="6934200" cy="5734050"/>
          </a:xfrm>
          <a:prstGeom xmlns:a="http://schemas.openxmlformats.org/drawingml/2006/main" prst="roundRect">
            <a:avLst>
              <a:gd name="adj" fmla="val 2658"/>
            </a:avLst>
          </a:prstGeom>
        </p:spPr>
      </p:pic>
    </p:spTree>
    <p:extLst>
      <p:ext uri="{BB962C8B-B14F-4D97-AF65-F5344CB8AC3E}">
        <p14:creationId xmlns:p14="http://schemas.microsoft.com/office/powerpoint/2010/main" val="20638875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APPLICATION">
            <a:extLst xmlns:a="http://schemas.openxmlformats.org/drawingml/2006/main">
              <a:ext uri="{FF2B5EF4-FFF2-40B4-BE49-F238E27FC236}">
                <a16:creationId xmlns:a16="http://schemas.microsoft.com/office/drawing/2014/main" id="{C5A00769-5F4B-4A7A-B8C9-0E5F2CBC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APPLICATION</a:t>
            </a:r>
          </a:p>
        </p:txBody>
      </p:sp>
      <p:sp>
        <p:nvSpPr>
          <p:cNvPr id="2" name="title-From fragmented care data to one next step">
            <a:extLst xmlns:a="http://schemas.openxmlformats.org/drawingml/2006/main">
              <a:ext uri="{FF2B5EF4-FFF2-40B4-BE49-F238E27FC236}">
                <a16:creationId xmlns:a16="http://schemas.microsoft.com/office/drawing/2014/main" id="{F72CA735-CD9D-4A62-9824-043D795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From fragmented care data to one next step</a:t>
            </a:r>
          </a:p>
        </p:txBody>
      </p:sp>
      <p:sp>
        <p:nvSpPr>
          <p:cNvPr id="3" name="header-line-From fragmented care data to one next step">
            <a:extLst xmlns:a="http://schemas.openxmlformats.org/drawingml/2006/main">
              <a:ext uri="{FF2B5EF4-FFF2-40B4-BE49-F238E27FC236}">
                <a16:creationId xmlns:a16="http://schemas.microsoft.com/office/drawing/2014/main" id="{789F0677-0158-4E55-AA73-E562A9F9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From fragmented care data to one next step">
            <a:extLst xmlns:a="http://schemas.openxmlformats.org/drawingml/2006/main">
              <a:ext uri="{FF2B5EF4-FFF2-40B4-BE49-F238E27FC236}">
                <a16:creationId xmlns:a16="http://schemas.microsoft.com/office/drawing/2014/main" id="{4A1C7FA5-6A0A-4B29-89A3-14127342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Scattered care context becomes one focused, safety-checked response.</a:t>
            </a:r>
          </a:p>
        </p:txBody>
      </p:sp>
      <p:sp>
        <p:nvSpPr>
          <p:cNvPr id="5" name="application-input-panel">
            <a:extLst xmlns:a="http://schemas.openxmlformats.org/drawingml/2006/main">
              <a:ext uri="{FF2B5EF4-FFF2-40B4-BE49-F238E27FC236}">
                <a16:creationId xmlns:a16="http://schemas.microsoft.com/office/drawing/2014/main" id="{D9377AFA-F3B8-46AB-B091-85D8727A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38350"/>
            <a:ext cx="4362450" cy="39243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application-input-line">
            <a:extLst xmlns:a="http://schemas.openxmlformats.org/drawingml/2006/main">
              <a:ext uri="{FF2B5EF4-FFF2-40B4-BE49-F238E27FC236}">
                <a16:creationId xmlns:a16="http://schemas.microsoft.com/office/drawing/2014/main" id="{A76751E6-6075-4CE8-AA8B-857B4221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7" name="application-input-title">
            <a:extLst xmlns:a="http://schemas.openxmlformats.org/drawingml/2006/main">
              <a:ext uri="{FF2B5EF4-FFF2-40B4-BE49-F238E27FC236}">
                <a16:creationId xmlns:a16="http://schemas.microsoft.com/office/drawing/2014/main" id="{B224616A-F575-4D9A-919D-BB9B4397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What comes in</a:t>
            </a:r>
          </a:p>
        </p:txBody>
      </p:sp>
      <p:sp>
        <p:nvSpPr>
          <p:cNvPr id="8" name="application-input-body">
            <a:extLst xmlns:a="http://schemas.openxmlformats.org/drawingml/2006/main">
              <a:ext uri="{FF2B5EF4-FFF2-40B4-BE49-F238E27FC236}">
                <a16:creationId xmlns:a16="http://schemas.microsoft.com/office/drawing/2014/main" id="{07854F99-73C3-4EFA-93D3-534F1755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Healthcare context is usually scattered.</a:t>
            </a:r>
          </a:p>
        </p:txBody>
      </p:sp>
      <p:sp>
        <p:nvSpPr>
          <p:cNvPr id="9" name="application-input-pill-1-panel">
            <a:extLst xmlns:a="http://schemas.openxmlformats.org/drawingml/2006/main">
              <a:ext uri="{FF2B5EF4-FFF2-40B4-BE49-F238E27FC236}">
                <a16:creationId xmlns:a16="http://schemas.microsoft.com/office/drawing/2014/main" id="{AFCBEAB6-FCEE-42CA-A788-CD3863D5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8E7F5"/>
            </a:solidFill>
            <a:prstDash val="solid"/>
          </a:ln>
        </p:spPr>
      </p:sp>
      <p:sp>
        <p:nvSpPr>
          <p:cNvPr id="10" name="application-input-pill-1-text">
            <a:extLst xmlns:a="http://schemas.openxmlformats.org/drawingml/2006/main">
              <a:ext uri="{FF2B5EF4-FFF2-40B4-BE49-F238E27FC236}">
                <a16:creationId xmlns:a16="http://schemas.microsoft.com/office/drawing/2014/main" id="{C3C411F3-9B43-4476-8978-8286AC27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Symptoms</a:t>
            </a:r>
          </a:p>
        </p:txBody>
      </p:sp>
      <p:sp>
        <p:nvSpPr>
          <p:cNvPr id="11" name="application-input-pill-2-panel">
            <a:extLst xmlns:a="http://schemas.openxmlformats.org/drawingml/2006/main">
              <a:ext uri="{FF2B5EF4-FFF2-40B4-BE49-F238E27FC236}">
                <a16:creationId xmlns:a16="http://schemas.microsoft.com/office/drawing/2014/main" id="{8283CC08-E962-46B5-B08F-A2DE670B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433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7EFE8"/>
            </a:solidFill>
            <a:prstDash val="solid"/>
          </a:ln>
        </p:spPr>
      </p:sp>
      <p:sp>
        <p:nvSpPr>
          <p:cNvPr id="12" name="application-input-pill-2-text">
            <a:extLst xmlns:a="http://schemas.openxmlformats.org/drawingml/2006/main">
              <a:ext uri="{FF2B5EF4-FFF2-40B4-BE49-F238E27FC236}">
                <a16:creationId xmlns:a16="http://schemas.microsoft.com/office/drawing/2014/main" id="{8792FD5F-C165-48D9-8BAE-BD665A8B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62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Vitals</a:t>
            </a:r>
          </a:p>
        </p:txBody>
      </p:sp>
      <p:sp>
        <p:nvSpPr>
          <p:cNvPr id="13" name="application-input-pill-3-panel">
            <a:extLst xmlns:a="http://schemas.openxmlformats.org/drawingml/2006/main">
              <a:ext uri="{FF2B5EF4-FFF2-40B4-BE49-F238E27FC236}">
                <a16:creationId xmlns:a16="http://schemas.microsoft.com/office/drawing/2014/main" id="{A8EABAC2-F601-43B6-9E4F-1F491F3E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5E0D4"/>
            </a:solidFill>
            <a:prstDash val="solid"/>
          </a:ln>
        </p:spPr>
      </p:sp>
      <p:sp>
        <p:nvSpPr>
          <p:cNvPr id="14" name="application-input-pill-3-text">
            <a:extLst xmlns:a="http://schemas.openxmlformats.org/drawingml/2006/main">
              <a:ext uri="{FF2B5EF4-FFF2-40B4-BE49-F238E27FC236}">
                <a16:creationId xmlns:a16="http://schemas.microsoft.com/office/drawing/2014/main" id="{5BF7C65C-2564-4571-B06E-5E6D4CA5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Medicines</a:t>
            </a:r>
          </a:p>
        </p:txBody>
      </p:sp>
      <p:sp>
        <p:nvSpPr>
          <p:cNvPr id="15" name="application-input-pill-4-panel">
            <a:extLst xmlns:a="http://schemas.openxmlformats.org/drawingml/2006/main">
              <a:ext uri="{FF2B5EF4-FFF2-40B4-BE49-F238E27FC236}">
                <a16:creationId xmlns:a16="http://schemas.microsoft.com/office/drawing/2014/main" id="{2F30FB31-6024-4E94-9A42-CD8FEDD9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386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8E7F5"/>
            </a:solidFill>
            <a:prstDash val="solid"/>
          </a:ln>
        </p:spPr>
      </p:sp>
      <p:sp>
        <p:nvSpPr>
          <p:cNvPr id="16" name="application-input-pill-4-text">
            <a:extLst xmlns:a="http://schemas.openxmlformats.org/drawingml/2006/main">
              <a:ext uri="{FF2B5EF4-FFF2-40B4-BE49-F238E27FC236}">
                <a16:creationId xmlns:a16="http://schemas.microsoft.com/office/drawing/2014/main" id="{DEB6113A-4F99-4CBD-8491-0D152F15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7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Labs</a:t>
            </a:r>
          </a:p>
        </p:txBody>
      </p:sp>
      <p:sp>
        <p:nvSpPr>
          <p:cNvPr id="17" name="application-input-pill-5-panel">
            <a:extLst xmlns:a="http://schemas.openxmlformats.org/drawingml/2006/main">
              <a:ext uri="{FF2B5EF4-FFF2-40B4-BE49-F238E27FC236}">
                <a16:creationId xmlns:a16="http://schemas.microsoft.com/office/drawing/2014/main" id="{30B351FC-71D0-4E28-942C-B80B6EED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7EFE8"/>
            </a:solidFill>
            <a:prstDash val="solid"/>
          </a:ln>
        </p:spPr>
      </p:sp>
      <p:sp>
        <p:nvSpPr>
          <p:cNvPr id="18" name="application-input-pill-5-text">
            <a:extLst xmlns:a="http://schemas.openxmlformats.org/drawingml/2006/main">
              <a:ext uri="{FF2B5EF4-FFF2-40B4-BE49-F238E27FC236}">
                <a16:creationId xmlns:a16="http://schemas.microsoft.com/office/drawing/2014/main" id="{CA4338D3-1B3B-47CD-8E5C-52FB5071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Records</a:t>
            </a:r>
          </a:p>
        </p:txBody>
      </p:sp>
      <p:sp>
        <p:nvSpPr>
          <p:cNvPr id="19" name="application-input-pill-6-panel">
            <a:extLst xmlns:a="http://schemas.openxmlformats.org/drawingml/2006/main">
              <a:ext uri="{FF2B5EF4-FFF2-40B4-BE49-F238E27FC236}">
                <a16:creationId xmlns:a16="http://schemas.microsoft.com/office/drawing/2014/main" id="{5D244793-117F-46CA-9065-50BDF351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339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5E0D4"/>
            </a:solidFill>
            <a:prstDash val="solid"/>
          </a:ln>
        </p:spPr>
      </p:sp>
      <p:sp>
        <p:nvSpPr>
          <p:cNvPr id="20" name="application-input-pill-6-text">
            <a:extLst xmlns:a="http://schemas.openxmlformats.org/drawingml/2006/main">
              <a:ext uri="{FF2B5EF4-FFF2-40B4-BE49-F238E27FC236}">
                <a16:creationId xmlns:a16="http://schemas.microsoft.com/office/drawing/2014/main" id="{17DA72F6-8614-421D-A789-8E24CBBB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52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Insurance</a:t>
            </a:r>
          </a:p>
        </p:txBody>
      </p:sp>
      <p:sp>
        <p:nvSpPr>
          <p:cNvPr id="21" name="application-input-close">
            <a:extLst xmlns:a="http://schemas.openxmlformats.org/drawingml/2006/main">
              <a:ext uri="{FF2B5EF4-FFF2-40B4-BE49-F238E27FC236}">
                <a16:creationId xmlns:a16="http://schemas.microsoft.com/office/drawing/2014/main" id="{CFA9AE1D-9C04-4B25-BCC6-E50061A2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39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Users struggle to turn this into one safe action.</a:t>
            </a:r>
          </a:p>
        </p:txBody>
      </p:sp>
      <p:sp>
        <p:nvSpPr>
          <p:cNvPr id="22" name="application-output-panel">
            <a:extLst xmlns:a="http://schemas.openxmlformats.org/drawingml/2006/main">
              <a:ext uri="{FF2B5EF4-FFF2-40B4-BE49-F238E27FC236}">
                <a16:creationId xmlns:a16="http://schemas.microsoft.com/office/drawing/2014/main" id="{7390900F-765D-4614-9699-902CD220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6648450" cy="39243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application-output-line">
            <a:extLst xmlns:a="http://schemas.openxmlformats.org/drawingml/2006/main">
              <a:ext uri="{FF2B5EF4-FFF2-40B4-BE49-F238E27FC236}">
                <a16:creationId xmlns:a16="http://schemas.microsoft.com/office/drawing/2014/main" id="{2D2AFE60-B61B-4AE1-81AC-6BBA2767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669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application-output-title">
            <a:extLst xmlns:a="http://schemas.openxmlformats.org/drawingml/2006/main">
              <a:ext uri="{FF2B5EF4-FFF2-40B4-BE49-F238E27FC236}">
                <a16:creationId xmlns:a16="http://schemas.microsoft.com/office/drawing/2014/main" id="{7C1F6833-299A-47BC-A137-A1F19ACF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14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What comes out</a:t>
            </a:r>
          </a:p>
        </p:txBody>
      </p:sp>
      <p:sp>
        <p:nvSpPr>
          <p:cNvPr id="25" name="application-output-hero">
            <a:extLst xmlns:a="http://schemas.openxmlformats.org/drawingml/2006/main">
              <a:ext uri="{FF2B5EF4-FFF2-40B4-BE49-F238E27FC236}">
                <a16:creationId xmlns:a16="http://schemas.microsoft.com/office/drawing/2014/main" id="{08E7D827-DFD1-45A1-A3CF-87F76D0C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0990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One focused,</a:t>
            </a:r>
          </a:p>
          <a:p xmlns:a="http://schemas.openxmlformats.org/drawingml/2006/main">
            <a:pPr algn="l">
              <a:defRPr sz="30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safety-checked next step.</a:t>
            </a:r>
          </a:p>
        </p:txBody>
      </p:sp>
      <p:sp>
        <p:nvSpPr>
          <p:cNvPr id="26" name="application-output-bullet-icon-562-432">
            <a:extLst xmlns:a="http://schemas.openxmlformats.org/drawingml/2006/main">
              <a:ext uri="{FF2B5EF4-FFF2-40B4-BE49-F238E27FC236}">
                <a16:creationId xmlns:a16="http://schemas.microsoft.com/office/drawing/2014/main" id="{0636F779-CA5D-46CF-B98F-EA063340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910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27" name="application-output-bullet-text-562-432">
            <a:extLst xmlns:a="http://schemas.openxmlformats.org/drawingml/2006/main">
              <a:ext uri="{FF2B5EF4-FFF2-40B4-BE49-F238E27FC236}">
                <a16:creationId xmlns:a16="http://schemas.microsoft.com/office/drawing/2014/main" id="{AC0E1367-F89B-43EB-B19B-D9482F27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148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Relevant risk level</a:t>
            </a:r>
          </a:p>
        </p:txBody>
      </p:sp>
      <p:sp>
        <p:nvSpPr>
          <p:cNvPr id="28" name="application-output-bullet-icon-562-474">
            <a:extLst xmlns:a="http://schemas.openxmlformats.org/drawingml/2006/main">
              <a:ext uri="{FF2B5EF4-FFF2-40B4-BE49-F238E27FC236}">
                <a16:creationId xmlns:a16="http://schemas.microsoft.com/office/drawing/2014/main" id="{27D484A7-E1ED-4EF3-8FAA-75374FC6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91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9" name="application-output-bullet-text-562-474">
            <a:extLst xmlns:a="http://schemas.openxmlformats.org/drawingml/2006/main">
              <a:ext uri="{FF2B5EF4-FFF2-40B4-BE49-F238E27FC236}">
                <a16:creationId xmlns:a16="http://schemas.microsoft.com/office/drawing/2014/main" id="{1F881A71-6918-416F-8665-9011C22A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14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Evidence-backed reason</a:t>
            </a:r>
          </a:p>
        </p:txBody>
      </p:sp>
      <p:sp>
        <p:nvSpPr>
          <p:cNvPr id="30" name="application-output-bullet-icon-562-516">
            <a:extLst xmlns:a="http://schemas.openxmlformats.org/drawingml/2006/main">
              <a:ext uri="{FF2B5EF4-FFF2-40B4-BE49-F238E27FC236}">
                <a16:creationId xmlns:a16="http://schemas.microsoft.com/office/drawing/2014/main" id="{75026A56-5A3D-4B10-9B96-D7E24803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991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31" name="application-output-bullet-text-562-516">
            <a:extLst xmlns:a="http://schemas.openxmlformats.org/drawingml/2006/main">
              <a:ext uri="{FF2B5EF4-FFF2-40B4-BE49-F238E27FC236}">
                <a16:creationId xmlns:a16="http://schemas.microsoft.com/office/drawing/2014/main" id="{92035B5E-AEE8-472E-9D2D-174ECF8A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149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Focused next action</a:t>
            </a:r>
          </a:p>
        </p:txBody>
      </p:sp>
      <p:sp>
        <p:nvSpPr>
          <p:cNvPr id="32" name="application-output-close">
            <a:extLst xmlns:a="http://schemas.openxmlformats.org/drawingml/2006/main">
              <a:ext uri="{FF2B5EF4-FFF2-40B4-BE49-F238E27FC236}">
                <a16:creationId xmlns:a16="http://schemas.microsoft.com/office/drawing/2014/main" id="{0942BCCC-4032-4053-A345-942902A5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353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Not a broad answer. A guided next step.</a:t>
            </a:r>
          </a:p>
        </p:txBody>
      </p:sp>
      <p:sp>
        <p:nvSpPr>
          <p:cNvPr id="33" name="app-footer-card">
            <a:extLst xmlns:a="http://schemas.openxmlformats.org/drawingml/2006/main">
              <a:ext uri="{FF2B5EF4-FFF2-40B4-BE49-F238E27FC236}">
                <a16:creationId xmlns:a16="http://schemas.microsoft.com/office/drawing/2014/main" id="{D4E80D77-0D81-4CE0-9297-98698855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172200"/>
            <a:ext cx="113538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E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app-bottom-line">
            <a:extLst xmlns:a="http://schemas.openxmlformats.org/drawingml/2006/main">
              <a:ext uri="{FF2B5EF4-FFF2-40B4-BE49-F238E27FC236}">
                <a16:creationId xmlns:a16="http://schemas.microsoft.com/office/drawing/2014/main" id="{FAA4DB83-866C-4E94-B985-6F26A83E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35" name="app-bottom-text">
            <a:extLst xmlns:a="http://schemas.openxmlformats.org/drawingml/2006/main">
              <a:ext uri="{FF2B5EF4-FFF2-40B4-BE49-F238E27FC236}">
                <a16:creationId xmlns:a16="http://schemas.microsoft.com/office/drawing/2014/main" id="{E2440C37-F244-44E2-9B03-195C2772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286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Care Nova organizes context before it answers.</a:t>
            </a:r>
          </a:p>
        </p:txBody>
      </p:sp>
    </p:spTree>
    <p:extLst>
      <p:ext uri="{BB962C8B-B14F-4D97-AF65-F5344CB8AC3E}">
        <p14:creationId xmlns:p14="http://schemas.microsoft.com/office/powerpoint/2010/main" val="1665938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MODEL WORKFLOW">
            <a:extLst xmlns:a="http://schemas.openxmlformats.org/drawingml/2006/main">
              <a:ext uri="{FF2B5EF4-FFF2-40B4-BE49-F238E27FC236}">
                <a16:creationId xmlns:a16="http://schemas.microsoft.com/office/drawing/2014/main" id="{E6E2E283-CBC6-4B61-A1C7-06A5CB18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MODEL WORKFLOW</a:t>
            </a:r>
          </a:p>
        </p:txBody>
      </p:sp>
      <p:sp>
        <p:nvSpPr>
          <p:cNvPr id="2" name="title-Why it is not a normal chatbot">
            <a:extLst xmlns:a="http://schemas.openxmlformats.org/drawingml/2006/main">
              <a:ext uri="{FF2B5EF4-FFF2-40B4-BE49-F238E27FC236}">
                <a16:creationId xmlns:a16="http://schemas.microsoft.com/office/drawing/2014/main" id="{B897AA45-FEC5-4F57-99A2-52397386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Why it is not a normal chatbot</a:t>
            </a:r>
          </a:p>
        </p:txBody>
      </p:sp>
      <p:sp>
        <p:nvSpPr>
          <p:cNvPr id="3" name="header-line-Why it is not a normal chatbot">
            <a:extLst xmlns:a="http://schemas.openxmlformats.org/drawingml/2006/main">
              <a:ext uri="{FF2B5EF4-FFF2-40B4-BE49-F238E27FC236}">
                <a16:creationId xmlns:a16="http://schemas.microsoft.com/office/drawing/2014/main" id="{05ABE3E3-6227-4513-9A24-CB9408A4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4" name="subtitle-Why it is not a normal chatbot">
            <a:extLst xmlns:a="http://schemas.openxmlformats.org/drawingml/2006/main">
              <a:ext uri="{FF2B5EF4-FFF2-40B4-BE49-F238E27FC236}">
                <a16:creationId xmlns:a16="http://schemas.microsoft.com/office/drawing/2014/main" id="{250F7D3A-FE69-4EA7-ACC2-82A8BC93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A generic chatbot answers once. Care Nova checks, routes, and guards first.</a:t>
            </a:r>
          </a:p>
        </p:txBody>
      </p:sp>
      <p:sp>
        <p:nvSpPr>
          <p:cNvPr id="5" name="workflow-spine">
            <a:extLst xmlns:a="http://schemas.openxmlformats.org/drawingml/2006/main">
              <a:ext uri="{FF2B5EF4-FFF2-40B4-BE49-F238E27FC236}">
                <a16:creationId xmlns:a16="http://schemas.microsoft.com/office/drawing/2014/main" id="{B4007490-550B-46C0-9884-62C74248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4"/>
          </a:solidFill>
          <a:ln xmlns:a="http://schemas.openxmlformats.org/drawingml/2006/main" w="0">
            <a:solidFill>
              <a:srgbClr val="CCD9E4"/>
            </a:solidFill>
            <a:prstDash val="solid"/>
          </a:ln>
        </p:spPr>
      </p:sp>
      <p:sp>
        <p:nvSpPr>
          <p:cNvPr id="6" name="workflow-step-1-panel">
            <a:extLst xmlns:a="http://schemas.openxmlformats.org/drawingml/2006/main">
              <a:ext uri="{FF2B5EF4-FFF2-40B4-BE49-F238E27FC236}">
                <a16:creationId xmlns:a16="http://schemas.microsoft.com/office/drawing/2014/main" id="{2474CB22-0C2F-4F90-9443-4A7EBEC4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7" name="workflow-step-1-text">
            <a:extLst xmlns:a="http://schemas.openxmlformats.org/drawingml/2006/main">
              <a:ext uri="{FF2B5EF4-FFF2-40B4-BE49-F238E27FC236}">
                <a16:creationId xmlns:a16="http://schemas.microsoft.com/office/drawing/2014/main" id="{556695D9-D27B-40B5-BFD8-D08C58D4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8" name="workflow-step-title-1">
            <a:extLst xmlns:a="http://schemas.openxmlformats.org/drawingml/2006/main">
              <a:ext uri="{FF2B5EF4-FFF2-40B4-BE49-F238E27FC236}">
                <a16:creationId xmlns:a16="http://schemas.microsoft.com/office/drawing/2014/main" id="{1BE87E4C-5561-42FE-9E42-E488022B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526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Patient input</a:t>
            </a:r>
          </a:p>
        </p:txBody>
      </p:sp>
      <p:sp>
        <p:nvSpPr>
          <p:cNvPr id="9" name="workflow-step-body-1">
            <a:extLst xmlns:a="http://schemas.openxmlformats.org/drawingml/2006/main">
              <a:ext uri="{FF2B5EF4-FFF2-40B4-BE49-F238E27FC236}">
                <a16:creationId xmlns:a16="http://schemas.microsoft.com/office/drawing/2014/main" id="{8FA449BC-306D-498C-9228-BA7ACDE4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193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Symptom, reading, medicine question, or care request enters.</a:t>
            </a:r>
          </a:p>
        </p:txBody>
      </p:sp>
      <p:sp>
        <p:nvSpPr>
          <p:cNvPr id="10" name="workflow-step-2-panel">
            <a:extLst xmlns:a="http://schemas.openxmlformats.org/drawingml/2006/main">
              <a:ext uri="{FF2B5EF4-FFF2-40B4-BE49-F238E27FC236}">
                <a16:creationId xmlns:a16="http://schemas.microsoft.com/office/drawing/2014/main" id="{07263CC7-57F9-4384-B2F9-A7FE18CB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49C9C"/>
          </a:solidFill>
          <a:ln xmlns:a="http://schemas.openxmlformats.org/drawingml/2006/main" w="9525">
            <a:solidFill>
              <a:srgbClr val="149C9C"/>
            </a:solidFill>
            <a:prstDash val="solid"/>
          </a:ln>
        </p:spPr>
      </p:sp>
      <p:sp>
        <p:nvSpPr>
          <p:cNvPr id="11" name="workflow-step-2-text">
            <a:extLst xmlns:a="http://schemas.openxmlformats.org/drawingml/2006/main">
              <a:ext uri="{FF2B5EF4-FFF2-40B4-BE49-F238E27FC236}">
                <a16:creationId xmlns:a16="http://schemas.microsoft.com/office/drawing/2014/main" id="{AC8B6A92-F7FB-45E6-B682-84A8DECC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2" name="workflow-step-title-2">
            <a:extLst xmlns:a="http://schemas.openxmlformats.org/drawingml/2006/main">
              <a:ext uri="{FF2B5EF4-FFF2-40B4-BE49-F238E27FC236}">
                <a16:creationId xmlns:a16="http://schemas.microsoft.com/office/drawing/2014/main" id="{E5FE307E-928C-4B7E-94D3-4DB9AAD7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384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Memory load</a:t>
            </a:r>
          </a:p>
        </p:txBody>
      </p:sp>
      <p:sp>
        <p:nvSpPr>
          <p:cNvPr id="13" name="workflow-step-body-2">
            <a:extLst xmlns:a="http://schemas.openxmlformats.org/drawingml/2006/main">
              <a:ext uri="{FF2B5EF4-FFF2-40B4-BE49-F238E27FC236}">
                <a16:creationId xmlns:a16="http://schemas.microsoft.com/office/drawing/2014/main" id="{1F8EB31B-3A37-4948-97A5-7013CE4E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Recent patient context reloads before analysis starts.</a:t>
            </a:r>
          </a:p>
        </p:txBody>
      </p:sp>
      <p:sp>
        <p:nvSpPr>
          <p:cNvPr id="14" name="workflow-step-3-panel">
            <a:extLst xmlns:a="http://schemas.openxmlformats.org/drawingml/2006/main">
              <a:ext uri="{FF2B5EF4-FFF2-40B4-BE49-F238E27FC236}">
                <a16:creationId xmlns:a16="http://schemas.microsoft.com/office/drawing/2014/main" id="{AD00B344-AB53-46B7-B625-AFCA3775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7C4C"/>
          </a:solidFill>
          <a:ln xmlns:a="http://schemas.openxmlformats.org/drawingml/2006/main" w="9525">
            <a:solidFill>
              <a:srgbClr val="F47C4C"/>
            </a:solidFill>
            <a:prstDash val="solid"/>
          </a:ln>
        </p:spPr>
      </p:sp>
      <p:sp>
        <p:nvSpPr>
          <p:cNvPr id="15" name="workflow-step-3-text">
            <a:extLst xmlns:a="http://schemas.openxmlformats.org/drawingml/2006/main">
              <a:ext uri="{FF2B5EF4-FFF2-40B4-BE49-F238E27FC236}">
                <a16:creationId xmlns:a16="http://schemas.microsoft.com/office/drawing/2014/main" id="{CAF04618-92CF-4705-A449-8F7C2CB2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6" name="workflow-step-title-3">
            <a:extLst xmlns:a="http://schemas.openxmlformats.org/drawingml/2006/main">
              <a:ext uri="{FF2B5EF4-FFF2-40B4-BE49-F238E27FC236}">
                <a16:creationId xmlns:a16="http://schemas.microsoft.com/office/drawing/2014/main" id="{A3F43262-2E0B-4E73-8B9C-78A9A4E8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24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Intent classify</a:t>
            </a:r>
          </a:p>
        </p:txBody>
      </p:sp>
      <p:sp>
        <p:nvSpPr>
          <p:cNvPr id="17" name="workflow-step-body-3">
            <a:extLst xmlns:a="http://schemas.openxmlformats.org/drawingml/2006/main">
              <a:ext uri="{FF2B5EF4-FFF2-40B4-BE49-F238E27FC236}">
                <a16:creationId xmlns:a16="http://schemas.microsoft.com/office/drawing/2014/main" id="{D1181AE0-E3E3-466E-A5B3-F8751519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The request is routed into the correct care path.</a:t>
            </a:r>
          </a:p>
        </p:txBody>
      </p:sp>
      <p:sp>
        <p:nvSpPr>
          <p:cNvPr id="18" name="workflow-step-4-panel">
            <a:extLst xmlns:a="http://schemas.openxmlformats.org/drawingml/2006/main">
              <a:ext uri="{FF2B5EF4-FFF2-40B4-BE49-F238E27FC236}">
                <a16:creationId xmlns:a16="http://schemas.microsoft.com/office/drawing/2014/main" id="{0AD85219-C9B6-4676-A25F-26EB061C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19" name="workflow-step-4-text">
            <a:extLst xmlns:a="http://schemas.openxmlformats.org/drawingml/2006/main">
              <a:ext uri="{FF2B5EF4-FFF2-40B4-BE49-F238E27FC236}">
                <a16:creationId xmlns:a16="http://schemas.microsoft.com/office/drawing/2014/main" id="{10E853DB-AAD2-44E4-AF36-AB9F06A8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0" name="workflow-step-title-4">
            <a:extLst xmlns:a="http://schemas.openxmlformats.org/drawingml/2006/main">
              <a:ext uri="{FF2B5EF4-FFF2-40B4-BE49-F238E27FC236}">
                <a16:creationId xmlns:a16="http://schemas.microsoft.com/office/drawing/2014/main" id="{8F86CDF8-34DD-4DB0-BC23-0ABBA804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Evidence + specialist</a:t>
            </a:r>
          </a:p>
        </p:txBody>
      </p:sp>
      <p:sp>
        <p:nvSpPr>
          <p:cNvPr id="21" name="workflow-step-body-4">
            <a:extLst xmlns:a="http://schemas.openxmlformats.org/drawingml/2006/main">
              <a:ext uri="{FF2B5EF4-FFF2-40B4-BE49-F238E27FC236}">
                <a16:creationId xmlns:a16="http://schemas.microsoft.com/office/drawing/2014/main" id="{11F9D697-BD9E-43AB-99F7-D48C055F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2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Local evidence and specialist workflow shape the answer.</a:t>
            </a:r>
          </a:p>
        </p:txBody>
      </p:sp>
      <p:sp>
        <p:nvSpPr>
          <p:cNvPr id="22" name="workflow-step-5-panel">
            <a:extLst xmlns:a="http://schemas.openxmlformats.org/drawingml/2006/main">
              <a:ext uri="{FF2B5EF4-FFF2-40B4-BE49-F238E27FC236}">
                <a16:creationId xmlns:a16="http://schemas.microsoft.com/office/drawing/2014/main" id="{4576939B-C6F7-41FC-92AA-1CDC7843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68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7C4C"/>
          </a:solidFill>
          <a:ln xmlns:a="http://schemas.openxmlformats.org/drawingml/2006/main" w="9525">
            <a:solidFill>
              <a:srgbClr val="F47C4C"/>
            </a:solidFill>
            <a:prstDash val="solid"/>
          </a:ln>
        </p:spPr>
      </p:sp>
      <p:sp>
        <p:nvSpPr>
          <p:cNvPr id="23" name="workflow-step-5-text">
            <a:extLst xmlns:a="http://schemas.openxmlformats.org/drawingml/2006/main">
              <a:ext uri="{FF2B5EF4-FFF2-40B4-BE49-F238E27FC236}">
                <a16:creationId xmlns:a16="http://schemas.microsoft.com/office/drawing/2014/main" id="{25C81EE3-A274-4587-A4BD-2FF1AC58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4" name="workflow-step-title-5">
            <a:extLst xmlns:a="http://schemas.openxmlformats.org/drawingml/2006/main">
              <a:ext uri="{FF2B5EF4-FFF2-40B4-BE49-F238E27FC236}">
                <a16:creationId xmlns:a16="http://schemas.microsoft.com/office/drawing/2014/main" id="{81CE8AA1-9C6C-41B1-826F-F616B263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95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Safety-checked reply</a:t>
            </a:r>
          </a:p>
        </p:txBody>
      </p:sp>
      <p:sp>
        <p:nvSpPr>
          <p:cNvPr id="25" name="workflow-step-body-5">
            <a:extLst xmlns:a="http://schemas.openxmlformats.org/drawingml/2006/main">
              <a:ext uri="{FF2B5EF4-FFF2-40B4-BE49-F238E27FC236}">
                <a16:creationId xmlns:a16="http://schemas.microsoft.com/office/drawing/2014/main" id="{3DF7B5D1-F821-4063-902F-7E385D50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625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Guardrails check the response before it is shown.</a:t>
            </a:r>
          </a:p>
        </p:txBody>
      </p:sp>
      <p:sp>
        <p:nvSpPr>
          <p:cNvPr id="26" name="example-route-card-backplate">
            <a:extLst xmlns:a="http://schemas.openxmlformats.org/drawingml/2006/main">
              <a:ext uri="{FF2B5EF4-FFF2-40B4-BE49-F238E27FC236}">
                <a16:creationId xmlns:a16="http://schemas.microsoft.com/office/drawing/2014/main" id="{DEDCE02B-BFDC-4FC3-B17F-528D31DE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81200"/>
            <a:ext cx="6057900" cy="3943350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27" name="example-route-card-frame">
            <a:extLst xmlns:a="http://schemas.openxmlformats.org/drawingml/2006/main">
              <a:ext uri="{FF2B5EF4-FFF2-40B4-BE49-F238E27FC236}">
                <a16:creationId xmlns:a16="http://schemas.microsoft.com/office/drawing/2014/main" id="{E354028C-E7BD-404D-B46F-1247A104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95500"/>
            <a:ext cx="58293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2c793d7144731"/>
          <a:srcRect xmlns:a="http://schemas.openxmlformats.org/drawingml/2006/main" l="5342" t="0" r="5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67400" y="2095500"/>
            <a:ext cx="5829300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29" name="workflow-close-panel">
            <a:extLst xmlns:a="http://schemas.openxmlformats.org/drawingml/2006/main">
              <a:ext uri="{FF2B5EF4-FFF2-40B4-BE49-F238E27FC236}">
                <a16:creationId xmlns:a16="http://schemas.microsoft.com/office/drawing/2014/main" id="{6AECC079-B454-411A-A23E-51D9F5AC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112014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B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workflow-close-line">
            <a:extLst xmlns:a="http://schemas.openxmlformats.org/drawingml/2006/main">
              <a:ext uri="{FF2B5EF4-FFF2-40B4-BE49-F238E27FC236}">
                <a16:creationId xmlns:a16="http://schemas.microsoft.com/office/drawing/2014/main" id="{3C018F42-E630-4B84-B6A6-4628A61B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31" name="workflow-close-text">
            <a:extLst xmlns:a="http://schemas.openxmlformats.org/drawingml/2006/main">
              <a:ext uri="{FF2B5EF4-FFF2-40B4-BE49-F238E27FC236}">
                <a16:creationId xmlns:a16="http://schemas.microsoft.com/office/drawing/2014/main" id="{BAF2BCED-06B3-47F2-8763-807F7E22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76950"/>
            <a:ext cx="967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The reply is shaped by workflow, not by one free-form prompt.</a:t>
            </a:r>
          </a:p>
        </p:txBody>
      </p:sp>
    </p:spTree>
    <p:extLst>
      <p:ext uri="{BB962C8B-B14F-4D97-AF65-F5344CB8AC3E}">
        <p14:creationId xmlns:p14="http://schemas.microsoft.com/office/powerpoint/2010/main" val="17083578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SYSTEM DESIGN">
            <a:extLst xmlns:a="http://schemas.openxmlformats.org/drawingml/2006/main">
              <a:ext uri="{FF2B5EF4-FFF2-40B4-BE49-F238E27FC236}">
                <a16:creationId xmlns:a16="http://schemas.microsoft.com/office/drawing/2014/main" id="{45A0C4FC-3C08-476B-94DD-A7A4D856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SYSTEM DESIGN</a:t>
            </a:r>
          </a:p>
        </p:txBody>
      </p:sp>
      <p:sp>
        <p:nvSpPr>
          <p:cNvPr id="2" name="title-Each request is routed to the right specialist path">
            <a:extLst xmlns:a="http://schemas.openxmlformats.org/drawingml/2006/main">
              <a:ext uri="{FF2B5EF4-FFF2-40B4-BE49-F238E27FC236}">
                <a16:creationId xmlns:a16="http://schemas.microsoft.com/office/drawing/2014/main" id="{69EE05B7-A3CB-4955-8FAF-5098D973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Each request is routed to the right specialist path</a:t>
            </a:r>
          </a:p>
        </p:txBody>
      </p:sp>
      <p:sp>
        <p:nvSpPr>
          <p:cNvPr id="3" name="header-line-Each request is routed to the right specialist path">
            <a:extLst xmlns:a="http://schemas.openxmlformats.org/drawingml/2006/main">
              <a:ext uri="{FF2B5EF4-FFF2-40B4-BE49-F238E27FC236}">
                <a16:creationId xmlns:a16="http://schemas.microsoft.com/office/drawing/2014/main" id="{01911917-B2A2-46BB-8E8B-69055868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Each request is routed to the right specialist path">
            <a:extLst xmlns:a="http://schemas.openxmlformats.org/drawingml/2006/main">
              <a:ext uri="{FF2B5EF4-FFF2-40B4-BE49-F238E27FC236}">
                <a16:creationId xmlns:a16="http://schemas.microsoft.com/office/drawing/2014/main" id="{E1E5D15F-7F9E-486B-9AF3-1420D9C7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Single model? No. Agentic? Yes. RAG? Yes, with memory and safety.</a:t>
            </a:r>
          </a:p>
        </p:txBody>
      </p:sp>
      <p:sp>
        <p:nvSpPr>
          <p:cNvPr id="5" name="router-callout-line">
            <a:extLst xmlns:a="http://schemas.openxmlformats.org/drawingml/2006/main">
              <a:ext uri="{FF2B5EF4-FFF2-40B4-BE49-F238E27FC236}">
                <a16:creationId xmlns:a16="http://schemas.microsoft.com/office/drawing/2014/main" id="{B5D0DAAD-ABE2-4509-8E74-7503A649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7170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6" name="router-callout-title">
            <a:extLst xmlns:a="http://schemas.openxmlformats.org/drawingml/2006/main">
              <a:ext uri="{FF2B5EF4-FFF2-40B4-BE49-F238E27FC236}">
                <a16:creationId xmlns:a16="http://schemas.microsoft.com/office/drawing/2014/main" id="{1D1734CF-45CF-44AB-A7F3-D3C7CCF0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266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8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System, not a flat chatbot call.</a:t>
            </a:r>
          </a:p>
        </p:txBody>
      </p:sp>
      <p:sp>
        <p:nvSpPr>
          <p:cNvPr id="7" name="router-callout-body">
            <a:extLst xmlns:a="http://schemas.openxmlformats.org/drawingml/2006/main">
              <a:ext uri="{FF2B5EF4-FFF2-40B4-BE49-F238E27FC236}">
                <a16:creationId xmlns:a16="http://schemas.microsoft.com/office/drawing/2014/main" id="{DB910545-C844-496C-AF19-F71F3FE9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266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The workflow reloads memory, classifies intent, selects a specialist path, retrieves evidence, and then checks safety.</a:t>
            </a:r>
          </a:p>
        </p:txBody>
      </p:sp>
      <p:sp>
        <p:nvSpPr>
          <p:cNvPr id="8" name="router-label-Single model">
            <a:extLst xmlns:a="http://schemas.openxmlformats.org/drawingml/2006/main">
              <a:ext uri="{FF2B5EF4-FFF2-40B4-BE49-F238E27FC236}">
                <a16:creationId xmlns:a16="http://schemas.microsoft.com/office/drawing/2014/main" id="{5C92DB5A-B2F6-44C5-B802-FFB3317C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Single model</a:t>
            </a:r>
          </a:p>
        </p:txBody>
      </p:sp>
      <p:sp>
        <p:nvSpPr>
          <p:cNvPr id="9" name="router-value-Single model">
            <a:extLst xmlns:a="http://schemas.openxmlformats.org/drawingml/2006/main">
              <a:ext uri="{FF2B5EF4-FFF2-40B4-BE49-F238E27FC236}">
                <a16:creationId xmlns:a16="http://schemas.microsoft.com/office/drawing/2014/main" id="{4ADE8356-8400-40AD-BD3A-01FA09A6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48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No</a:t>
            </a:r>
          </a:p>
        </p:txBody>
      </p:sp>
      <p:sp>
        <p:nvSpPr>
          <p:cNvPr id="10" name="router-label-Agentic">
            <a:extLst xmlns:a="http://schemas.openxmlformats.org/drawingml/2006/main">
              <a:ext uri="{FF2B5EF4-FFF2-40B4-BE49-F238E27FC236}">
                <a16:creationId xmlns:a16="http://schemas.microsoft.com/office/drawing/2014/main" id="{5FCC5254-8874-4F28-BA82-79B65BC7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Agentic</a:t>
            </a:r>
          </a:p>
        </p:txBody>
      </p:sp>
      <p:sp>
        <p:nvSpPr>
          <p:cNvPr id="11" name="router-value-Agentic">
            <a:extLst xmlns:a="http://schemas.openxmlformats.org/drawingml/2006/main">
              <a:ext uri="{FF2B5EF4-FFF2-40B4-BE49-F238E27FC236}">
                <a16:creationId xmlns:a16="http://schemas.microsoft.com/office/drawing/2014/main" id="{981B867D-2734-4AB9-9575-31AD153A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72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Yes</a:t>
            </a:r>
          </a:p>
        </p:txBody>
      </p:sp>
      <p:sp>
        <p:nvSpPr>
          <p:cNvPr id="12" name="router-label-RAG">
            <a:extLst xmlns:a="http://schemas.openxmlformats.org/drawingml/2006/main">
              <a:ext uri="{FF2B5EF4-FFF2-40B4-BE49-F238E27FC236}">
                <a16:creationId xmlns:a16="http://schemas.microsoft.com/office/drawing/2014/main" id="{A2701A50-E6E0-4E77-B23F-C3634356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RAG</a:t>
            </a:r>
          </a:p>
        </p:txBody>
      </p:sp>
      <p:sp>
        <p:nvSpPr>
          <p:cNvPr id="13" name="router-value-RAG">
            <a:extLst xmlns:a="http://schemas.openxmlformats.org/drawingml/2006/main">
              <a:ext uri="{FF2B5EF4-FFF2-40B4-BE49-F238E27FC236}">
                <a16:creationId xmlns:a16="http://schemas.microsoft.com/office/drawing/2014/main" id="{2B5B18FA-1A3A-4FE6-8325-F928BFF7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95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7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Yes, memory + safety</a:t>
            </a:r>
          </a:p>
        </p:txBody>
      </p:sp>
      <p:sp>
        <p:nvSpPr>
          <p:cNvPr id="14" name="specialist-route-1">
            <a:extLst xmlns:a="http://schemas.openxmlformats.org/drawingml/2006/main">
              <a:ext uri="{FF2B5EF4-FFF2-40B4-BE49-F238E27FC236}">
                <a16:creationId xmlns:a16="http://schemas.microsoft.com/office/drawing/2014/main" id="{5661A696-6100-42C3-BC53-3030FDE3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38481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pecialist-route-line-1">
            <a:extLst xmlns:a="http://schemas.openxmlformats.org/drawingml/2006/main">
              <a:ext uri="{FF2B5EF4-FFF2-40B4-BE49-F238E27FC236}">
                <a16:creationId xmlns:a16="http://schemas.microsoft.com/office/drawing/2014/main" id="{7AE2E069-0C05-4FCB-AFB5-3538097A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622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6" name="specialist-route-title-1">
            <a:extLst xmlns:a="http://schemas.openxmlformats.org/drawingml/2006/main">
              <a:ext uri="{FF2B5EF4-FFF2-40B4-BE49-F238E27FC236}">
                <a16:creationId xmlns:a16="http://schemas.microsoft.com/office/drawing/2014/main" id="{0A391191-AA78-4555-945D-89BC33D0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0985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RAG Agent</a:t>
            </a:r>
          </a:p>
        </p:txBody>
      </p:sp>
      <p:sp>
        <p:nvSpPr>
          <p:cNvPr id="17" name="specialist-route-body-1">
            <a:extLst xmlns:a="http://schemas.openxmlformats.org/drawingml/2006/main">
              <a:ext uri="{FF2B5EF4-FFF2-40B4-BE49-F238E27FC236}">
                <a16:creationId xmlns:a16="http://schemas.microsoft.com/office/drawing/2014/main" id="{8009226B-02AF-45C2-823B-336596D6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718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4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Grounds general medical answers in local healthcare evidence.</a:t>
            </a:r>
          </a:p>
        </p:txBody>
      </p:sp>
      <p:sp>
        <p:nvSpPr>
          <p:cNvPr id="18" name="specialist-route-2">
            <a:extLst xmlns:a="http://schemas.openxmlformats.org/drawingml/2006/main">
              <a:ext uri="{FF2B5EF4-FFF2-40B4-BE49-F238E27FC236}">
                <a16:creationId xmlns:a16="http://schemas.microsoft.com/office/drawing/2014/main" id="{1811FA7B-9E24-4DE5-B56E-83BEAA48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52650"/>
            <a:ext cx="39243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specialist-route-line-2">
            <a:extLst xmlns:a="http://schemas.openxmlformats.org/drawingml/2006/main">
              <a:ext uri="{FF2B5EF4-FFF2-40B4-BE49-F238E27FC236}">
                <a16:creationId xmlns:a16="http://schemas.microsoft.com/office/drawing/2014/main" id="{32D92C9D-A8F3-4F73-B64B-AD572B06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622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0" name="specialist-route-title-2">
            <a:extLst xmlns:a="http://schemas.openxmlformats.org/drawingml/2006/main">
              <a:ext uri="{FF2B5EF4-FFF2-40B4-BE49-F238E27FC236}">
                <a16:creationId xmlns:a16="http://schemas.microsoft.com/office/drawing/2014/main" id="{DB619976-E0D9-4652-BF95-3F7C0514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Pharmacy Agent</a:t>
            </a:r>
          </a:p>
        </p:txBody>
      </p:sp>
      <p:sp>
        <p:nvSpPr>
          <p:cNvPr id="21" name="specialist-route-body-2">
            <a:extLst xmlns:a="http://schemas.openxmlformats.org/drawingml/2006/main">
              <a:ext uri="{FF2B5EF4-FFF2-40B4-BE49-F238E27FC236}">
                <a16:creationId xmlns:a16="http://schemas.microsoft.com/office/drawing/2014/main" id="{35B6116F-2D7E-40AC-8B25-71AE33B3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0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Handles medicine questions with medication-specific safety checks.</a:t>
            </a:r>
          </a:p>
        </p:txBody>
      </p:sp>
      <p:sp>
        <p:nvSpPr>
          <p:cNvPr id="22" name="specialist-route-3">
            <a:extLst xmlns:a="http://schemas.openxmlformats.org/drawingml/2006/main">
              <a:ext uri="{FF2B5EF4-FFF2-40B4-BE49-F238E27FC236}">
                <a16:creationId xmlns:a16="http://schemas.microsoft.com/office/drawing/2014/main" id="{F754F4F4-2C9A-4B16-BE85-3E3BBFD3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14750"/>
            <a:ext cx="38481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3DF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specialist-route-line-3">
            <a:extLst xmlns:a="http://schemas.openxmlformats.org/drawingml/2006/main">
              <a:ext uri="{FF2B5EF4-FFF2-40B4-BE49-F238E27FC236}">
                <a16:creationId xmlns:a16="http://schemas.microsoft.com/office/drawing/2014/main" id="{F86D618B-49E2-413D-8571-C194E8B8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24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specialist-route-title-3">
            <a:extLst xmlns:a="http://schemas.openxmlformats.org/drawingml/2006/main">
              <a:ext uri="{FF2B5EF4-FFF2-40B4-BE49-F238E27FC236}">
                <a16:creationId xmlns:a16="http://schemas.microsoft.com/office/drawing/2014/main" id="{F890E8CC-17AE-4635-893B-0496CAC3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7195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Scheduling Agent</a:t>
            </a:r>
          </a:p>
        </p:txBody>
      </p:sp>
      <p:sp>
        <p:nvSpPr>
          <p:cNvPr id="25" name="specialist-route-body-3">
            <a:extLst xmlns:a="http://schemas.openxmlformats.org/drawingml/2006/main">
              <a:ext uri="{FF2B5EF4-FFF2-40B4-BE49-F238E27FC236}">
                <a16:creationId xmlns:a16="http://schemas.microsoft.com/office/drawing/2014/main" id="{74966C3B-4C54-470F-A3B4-1D4D84A9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339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57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Supports visit prep, follow-up flow, and coordination requests.</a:t>
            </a:r>
          </a:p>
        </p:txBody>
      </p:sp>
      <p:sp>
        <p:nvSpPr>
          <p:cNvPr id="26" name="specialist-route-4">
            <a:extLst xmlns:a="http://schemas.openxmlformats.org/drawingml/2006/main">
              <a:ext uri="{FF2B5EF4-FFF2-40B4-BE49-F238E27FC236}">
                <a16:creationId xmlns:a16="http://schemas.microsoft.com/office/drawing/2014/main" id="{64BBF3A6-54E8-417D-BD34-77A2D945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14750"/>
            <a:ext cx="39243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specialist-route-line-4">
            <a:extLst xmlns:a="http://schemas.openxmlformats.org/drawingml/2006/main">
              <a:ext uri="{FF2B5EF4-FFF2-40B4-BE49-F238E27FC236}">
                <a16:creationId xmlns:a16="http://schemas.microsoft.com/office/drawing/2014/main" id="{11A7DCD6-6986-4D10-8EB4-FA676D6B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24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0">
            <a:solidFill>
              <a:srgbClr val="12324A"/>
            </a:solidFill>
            <a:prstDash val="solid"/>
          </a:ln>
        </p:spPr>
      </p:sp>
      <p:sp>
        <p:nvSpPr>
          <p:cNvPr id="28" name="specialist-route-title-4">
            <a:extLst xmlns:a="http://schemas.openxmlformats.org/drawingml/2006/main">
              <a:ext uri="{FF2B5EF4-FFF2-40B4-BE49-F238E27FC236}">
                <a16:creationId xmlns:a16="http://schemas.microsoft.com/office/drawing/2014/main" id="{1E8E8EB7-CE16-45DA-A693-D3B1AE7C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719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Alert Agent</a:t>
            </a:r>
          </a:p>
        </p:txBody>
      </p:sp>
      <p:sp>
        <p:nvSpPr>
          <p:cNvPr id="29" name="specialist-route-body-4">
            <a:extLst xmlns:a="http://schemas.openxmlformats.org/drawingml/2006/main">
              <a:ext uri="{FF2B5EF4-FFF2-40B4-BE49-F238E27FC236}">
                <a16:creationId xmlns:a16="http://schemas.microsoft.com/office/drawing/2014/main" id="{B7B9842A-6575-4AEB-9B17-36DDE49A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339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3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Escalates urgent patterns into a safety-first response path.</a:t>
            </a:r>
          </a:p>
        </p:txBody>
      </p:sp>
      <p:sp>
        <p:nvSpPr>
          <p:cNvPr id="30" name="workspace-strip">
            <a:extLst xmlns:a="http://schemas.openxmlformats.org/drawingml/2006/main">
              <a:ext uri="{FF2B5EF4-FFF2-40B4-BE49-F238E27FC236}">
                <a16:creationId xmlns:a16="http://schemas.microsoft.com/office/drawing/2014/main" id="{909571F9-8321-4A3B-A675-7716F201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38750"/>
            <a:ext cx="79629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6EFF7"/>
          </a:solidFill>
          <a:ln xmlns:a="http://schemas.openxmlformats.org/drawingml/2006/main" w="0">
            <a:solidFill>
              <a:srgbClr val="E6EFF7"/>
            </a:solidFill>
            <a:prstDash val="solid"/>
          </a:ln>
        </p:spPr>
      </p:sp>
      <p:sp>
        <p:nvSpPr>
          <p:cNvPr id="31" name="workspace-strip-text">
            <a:extLst xmlns:a="http://schemas.openxmlformats.org/drawingml/2006/main">
              <a:ext uri="{FF2B5EF4-FFF2-40B4-BE49-F238E27FC236}">
                <a16:creationId xmlns:a16="http://schemas.microsoft.com/office/drawing/2014/main" id="{B2DB8AC7-712C-4B3A-9BA3-90C28D59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91150"/>
            <a:ext cx="746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Focused workspaces: Vitals, Labs, Wellness, Records, Insurance, Summary.</a:t>
            </a:r>
          </a:p>
        </p:txBody>
      </p:sp>
      <p:sp>
        <p:nvSpPr>
          <p:cNvPr id="32" name="router-close">
            <a:extLst xmlns:a="http://schemas.openxmlformats.org/drawingml/2006/main">
              <a:ext uri="{FF2B5EF4-FFF2-40B4-BE49-F238E27FC236}">
                <a16:creationId xmlns:a16="http://schemas.microsoft.com/office/drawing/2014/main" id="{CBA6DB49-B987-44DB-A62D-4FD27E63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34100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454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That is why Care Nova can answer narrowly instead of broadly.</a:t>
            </a:r>
          </a:p>
        </p:txBody>
      </p:sp>
    </p:spTree>
    <p:extLst>
      <p:ext uri="{BB962C8B-B14F-4D97-AF65-F5344CB8AC3E}">
        <p14:creationId xmlns:p14="http://schemas.microsoft.com/office/powerpoint/2010/main" val="17940594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OFFLINE MODE">
            <a:extLst xmlns:a="http://schemas.openxmlformats.org/drawingml/2006/main">
              <a:ext uri="{FF2B5EF4-FFF2-40B4-BE49-F238E27FC236}">
                <a16:creationId xmlns:a16="http://schemas.microsoft.com/office/drawing/2014/main" id="{2AC2A213-7EEE-4A9B-B196-9F6954F3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OFFLINE MODE</a:t>
            </a:r>
          </a:p>
        </p:txBody>
      </p:sp>
      <p:sp>
        <p:nvSpPr>
          <p:cNvPr id="2" name="title-Local-first keeps care private and usable anywhere">
            <a:extLst xmlns:a="http://schemas.openxmlformats.org/drawingml/2006/main">
              <a:ext uri="{FF2B5EF4-FFF2-40B4-BE49-F238E27FC236}">
                <a16:creationId xmlns:a16="http://schemas.microsoft.com/office/drawing/2014/main" id="{B31D8370-B245-4709-999E-3CA9319D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Local-first keeps care private and usable anywhere</a:t>
            </a:r>
          </a:p>
        </p:txBody>
      </p:sp>
      <p:sp>
        <p:nvSpPr>
          <p:cNvPr id="3" name="header-line-Local-first keeps care private and usable anywhere">
            <a:extLst xmlns:a="http://schemas.openxmlformats.org/drawingml/2006/main">
              <a:ext uri="{FF2B5EF4-FFF2-40B4-BE49-F238E27FC236}">
                <a16:creationId xmlns:a16="http://schemas.microsoft.com/office/drawing/2014/main" id="{00F1F489-8B7F-4DBE-978C-B43FB35A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4" name="subtitle-Local-first keeps care private and usable anywhere">
            <a:extLst xmlns:a="http://schemas.openxmlformats.org/drawingml/2006/main">
              <a:ext uri="{FF2B5EF4-FFF2-40B4-BE49-F238E27FC236}">
                <a16:creationId xmlns:a16="http://schemas.microsoft.com/office/drawing/2014/main" id="{6DEE99A7-570B-4D94-A419-2E3BABF5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Patient memory and records stay on the local machine by default.</a:t>
            </a:r>
          </a:p>
        </p:txBody>
      </p:sp>
      <p:sp>
        <p:nvSpPr>
          <p:cNvPr id="5" name="offline-metric-panel">
            <a:extLst xmlns:a="http://schemas.openxmlformats.org/drawingml/2006/main">
              <a:ext uri="{FF2B5EF4-FFF2-40B4-BE49-F238E27FC236}">
                <a16:creationId xmlns:a16="http://schemas.microsoft.com/office/drawing/2014/main" id="{E156E2C6-6AC4-45C0-80AE-52566DE9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33600"/>
            <a:ext cx="4095750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offline-metric-line">
            <a:extLst xmlns:a="http://schemas.openxmlformats.org/drawingml/2006/main">
              <a:ext uri="{FF2B5EF4-FFF2-40B4-BE49-F238E27FC236}">
                <a16:creationId xmlns:a16="http://schemas.microsoft.com/office/drawing/2014/main" id="{9E85BDFE-3C2B-4C9A-AC70-DDBDED89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7" name="offline-metric-pill-panel">
            <a:extLst xmlns:a="http://schemas.openxmlformats.org/drawingml/2006/main">
              <a:ext uri="{FF2B5EF4-FFF2-40B4-BE49-F238E27FC236}">
                <a16:creationId xmlns:a16="http://schemas.microsoft.com/office/drawing/2014/main" id="{EA684F70-5265-42FE-88A3-2653A724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C9C"/>
          </a:solidFill>
          <a:ln xmlns:a="http://schemas.openxmlformats.org/drawingml/2006/main" w="9525">
            <a:solidFill>
              <a:srgbClr val="149C9C"/>
            </a:solidFill>
            <a:prstDash val="solid"/>
          </a:ln>
        </p:spPr>
      </p:sp>
      <p:sp>
        <p:nvSpPr>
          <p:cNvPr id="8" name="offline-metric-pill-text">
            <a:extLst xmlns:a="http://schemas.openxmlformats.org/drawingml/2006/main">
              <a:ext uri="{FF2B5EF4-FFF2-40B4-BE49-F238E27FC236}">
                <a16:creationId xmlns:a16="http://schemas.microsoft.com/office/drawing/2014/main" id="{FEBE82D9-1125-4629-8318-23570E86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Default mode</a:t>
            </a:r>
          </a:p>
        </p:txBody>
      </p:sp>
      <p:sp>
        <p:nvSpPr>
          <p:cNvPr id="9" name="offline-metric-number">
            <a:extLst xmlns:a="http://schemas.openxmlformats.org/drawingml/2006/main">
              <a:ext uri="{FF2B5EF4-FFF2-40B4-BE49-F238E27FC236}">
                <a16:creationId xmlns:a16="http://schemas.microsoft.com/office/drawing/2014/main" id="{81FC9FF8-2EB4-42D8-B17B-827D5F80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1104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825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0</a:t>
            </a:r>
          </a:p>
        </p:txBody>
      </p:sp>
      <p:sp>
        <p:nvSpPr>
          <p:cNvPr id="10" name="offline-metric-label">
            <a:extLst xmlns:a="http://schemas.openxmlformats.org/drawingml/2006/main">
              <a:ext uri="{FF2B5EF4-FFF2-40B4-BE49-F238E27FC236}">
                <a16:creationId xmlns:a16="http://schemas.microsoft.com/office/drawing/2014/main" id="{FC9D375D-CBC8-426D-96A7-EEA0AE02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956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54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mandatory cloud calls</a:t>
            </a:r>
          </a:p>
        </p:txBody>
      </p:sp>
      <p:sp>
        <p:nvSpPr>
          <p:cNvPr id="11" name="offline-metric-body">
            <a:extLst xmlns:a="http://schemas.openxmlformats.org/drawingml/2006/main">
              <a:ext uri="{FF2B5EF4-FFF2-40B4-BE49-F238E27FC236}">
                <a16:creationId xmlns:a16="http://schemas.microsoft.com/office/drawing/2014/main" id="{9BB726FB-A10C-44CF-AB7B-04B1B175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The same local engine, knowledge base, and patient memory still run.</a:t>
            </a:r>
          </a:p>
        </p:txBody>
      </p:sp>
      <p:sp>
        <p:nvSpPr>
          <p:cNvPr id="12" name="offline-metric-bullet-icon-68-476">
            <a:extLst xmlns:a="http://schemas.openxmlformats.org/drawingml/2006/main">
              <a:ext uri="{FF2B5EF4-FFF2-40B4-BE49-F238E27FC236}">
                <a16:creationId xmlns:a16="http://schemas.microsoft.com/office/drawing/2014/main" id="{C48FE92B-70DA-4F9F-BEA4-BDC2764A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3" name="offline-metric-bullet-text-68-476">
            <a:extLst xmlns:a="http://schemas.openxmlformats.org/drawingml/2006/main">
              <a:ext uri="{FF2B5EF4-FFF2-40B4-BE49-F238E27FC236}">
                <a16:creationId xmlns:a16="http://schemas.microsoft.com/office/drawing/2014/main" id="{AD8D2AA5-DB5C-4965-BAD3-034B4209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94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Local knowledge base and safety references</a:t>
            </a:r>
          </a:p>
        </p:txBody>
      </p:sp>
      <p:sp>
        <p:nvSpPr>
          <p:cNvPr id="14" name="offline-metric-bullet-icon-68-510">
            <a:extLst xmlns:a="http://schemas.openxmlformats.org/drawingml/2006/main">
              <a:ext uri="{FF2B5EF4-FFF2-40B4-BE49-F238E27FC236}">
                <a16:creationId xmlns:a16="http://schemas.microsoft.com/office/drawing/2014/main" id="{E7DD5918-6090-46E1-96BF-CAC7621A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5" name="offline-metric-bullet-text-68-510">
            <a:extLst xmlns:a="http://schemas.openxmlformats.org/drawingml/2006/main">
              <a:ext uri="{FF2B5EF4-FFF2-40B4-BE49-F238E27FC236}">
                <a16:creationId xmlns:a16="http://schemas.microsoft.com/office/drawing/2014/main" id="{2ECA186F-0740-4D13-80D8-BDD0C251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1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Patient memory, records, and graph facts</a:t>
            </a:r>
          </a:p>
        </p:txBody>
      </p:sp>
      <p:sp>
        <p:nvSpPr>
          <p:cNvPr id="16" name="offline-metric-bullet-icon-68-544">
            <a:extLst xmlns:a="http://schemas.openxmlformats.org/drawingml/2006/main">
              <a:ext uri="{FF2B5EF4-FFF2-40B4-BE49-F238E27FC236}">
                <a16:creationId xmlns:a16="http://schemas.microsoft.com/office/drawing/2014/main" id="{EBFF4B88-E2B5-4C06-B2E3-7F597CFE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7" name="offline-metric-bullet-text-68-544">
            <a:extLst xmlns:a="http://schemas.openxmlformats.org/drawingml/2006/main">
              <a:ext uri="{FF2B5EF4-FFF2-40B4-BE49-F238E27FC236}">
                <a16:creationId xmlns:a16="http://schemas.microsoft.com/office/drawing/2014/main" id="{EA4A12AC-B370-4CB2-9985-31E302C9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816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Cloud access is not required</a:t>
            </a:r>
          </a:p>
        </p:txBody>
      </p:sp>
      <p:sp>
        <p:nvSpPr>
          <p:cNvPr id="18" name="offline-local-card">
            <a:extLst xmlns:a="http://schemas.openxmlformats.org/drawingml/2006/main">
              <a:ext uri="{FF2B5EF4-FFF2-40B4-BE49-F238E27FC236}">
                <a16:creationId xmlns:a16="http://schemas.microsoft.com/office/drawing/2014/main" id="{206218C1-02E6-4463-8726-4BF0B619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33600"/>
            <a:ext cx="68770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8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offline-local-line">
            <a:extLst xmlns:a="http://schemas.openxmlformats.org/drawingml/2006/main">
              <a:ext uri="{FF2B5EF4-FFF2-40B4-BE49-F238E27FC236}">
                <a16:creationId xmlns:a16="http://schemas.microsoft.com/office/drawing/2014/main" id="{5298053E-8850-4281-8844-283B2457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622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20" name="offline-local-title">
            <a:extLst xmlns:a="http://schemas.openxmlformats.org/drawingml/2006/main">
              <a:ext uri="{FF2B5EF4-FFF2-40B4-BE49-F238E27FC236}">
                <a16:creationId xmlns:a16="http://schemas.microsoft.com/office/drawing/2014/main" id="{E4F48BCF-A938-441F-A93E-F7586772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What stays local</a:t>
            </a:r>
          </a:p>
        </p:txBody>
      </p:sp>
      <p:sp>
        <p:nvSpPr>
          <p:cNvPr id="21" name="offline-local-body">
            <a:extLst xmlns:a="http://schemas.openxmlformats.org/drawingml/2006/main">
              <a:ext uri="{FF2B5EF4-FFF2-40B4-BE49-F238E27FC236}">
                <a16:creationId xmlns:a16="http://schemas.microsoft.com/office/drawing/2014/main" id="{E19172E3-FCFE-48EC-B2F3-0F300A49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67050"/>
            <a:ext cx="611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Patient memory, records, graph facts, and app state stay local by default.</a:t>
            </a:r>
          </a:p>
        </p:txBody>
      </p:sp>
      <p:sp>
        <p:nvSpPr>
          <p:cNvPr id="22" name="offline-why-card">
            <a:extLst xmlns:a="http://schemas.openxmlformats.org/drawingml/2006/main">
              <a:ext uri="{FF2B5EF4-FFF2-40B4-BE49-F238E27FC236}">
                <a16:creationId xmlns:a16="http://schemas.microsoft.com/office/drawing/2014/main" id="{9FA055B1-4B76-490A-88C9-42327A75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33800"/>
            <a:ext cx="68770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3DF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offline-why-line">
            <a:extLst xmlns:a="http://schemas.openxmlformats.org/drawingml/2006/main">
              <a:ext uri="{FF2B5EF4-FFF2-40B4-BE49-F238E27FC236}">
                <a16:creationId xmlns:a16="http://schemas.microsoft.com/office/drawing/2014/main" id="{507AEACA-3316-4EBF-AA45-37E003C7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195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offline-why-title">
            <a:extLst xmlns:a="http://schemas.openxmlformats.org/drawingml/2006/main">
              <a:ext uri="{FF2B5EF4-FFF2-40B4-BE49-F238E27FC236}">
                <a16:creationId xmlns:a16="http://schemas.microsoft.com/office/drawing/2014/main" id="{2BDDA846-338D-42D1-8335-97BB2713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Why teams care</a:t>
            </a:r>
          </a:p>
        </p:txBody>
      </p:sp>
      <p:sp>
        <p:nvSpPr>
          <p:cNvPr id="25" name="offline-why-bullet-icon-538-494">
            <a:extLst xmlns:a="http://schemas.openxmlformats.org/drawingml/2006/main">
              <a:ext uri="{FF2B5EF4-FFF2-40B4-BE49-F238E27FC236}">
                <a16:creationId xmlns:a16="http://schemas.microsoft.com/office/drawing/2014/main" id="{33CB784F-EFE8-4FC2-8A4E-FC9470F7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81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6" name="offline-why-bullet-text-538-494">
            <a:extLst xmlns:a="http://schemas.openxmlformats.org/drawingml/2006/main">
              <a:ext uri="{FF2B5EF4-FFF2-40B4-BE49-F238E27FC236}">
                <a16:creationId xmlns:a16="http://schemas.microsoft.com/office/drawing/2014/main" id="{F9913361-ACEB-4AC7-BA65-ADFA911B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05350"/>
            <a:ext cx="582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Privacy by default</a:t>
            </a:r>
          </a:p>
        </p:txBody>
      </p:sp>
      <p:sp>
        <p:nvSpPr>
          <p:cNvPr id="27" name="offline-why-bullet-icon-538-526">
            <a:extLst xmlns:a="http://schemas.openxmlformats.org/drawingml/2006/main">
              <a:ext uri="{FF2B5EF4-FFF2-40B4-BE49-F238E27FC236}">
                <a16:creationId xmlns:a16="http://schemas.microsoft.com/office/drawing/2014/main" id="{AC2EFF7A-930D-4EDE-BC34-F2D57993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86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8" name="offline-why-bullet-text-538-526">
            <a:extLst xmlns:a="http://schemas.openxmlformats.org/drawingml/2006/main">
              <a:ext uri="{FF2B5EF4-FFF2-40B4-BE49-F238E27FC236}">
                <a16:creationId xmlns:a16="http://schemas.microsoft.com/office/drawing/2014/main" id="{6C057241-5F4B-4370-82F9-EF565791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10150"/>
            <a:ext cx="582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Usable on weak or unstable networks</a:t>
            </a:r>
          </a:p>
        </p:txBody>
      </p:sp>
      <p:sp>
        <p:nvSpPr>
          <p:cNvPr id="29" name="offline-why-bullet-icon-538-558">
            <a:extLst xmlns:a="http://schemas.openxmlformats.org/drawingml/2006/main">
              <a:ext uri="{FF2B5EF4-FFF2-40B4-BE49-F238E27FC236}">
                <a16:creationId xmlns:a16="http://schemas.microsoft.com/office/drawing/2014/main" id="{150DB734-D7D9-4F40-89FF-BB229785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91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30" name="offline-why-bullet-text-538-558">
            <a:extLst xmlns:a="http://schemas.openxmlformats.org/drawingml/2006/main">
              <a:ext uri="{FF2B5EF4-FFF2-40B4-BE49-F238E27FC236}">
                <a16:creationId xmlns:a16="http://schemas.microsoft.com/office/drawing/2014/main" id="{B76C3917-D856-4655-A29C-EDE50B77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14950"/>
            <a:ext cx="582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Low deployment friction</a:t>
            </a:r>
          </a:p>
        </p:txBody>
      </p:sp>
    </p:spTree>
    <p:extLst>
      <p:ext uri="{BB962C8B-B14F-4D97-AF65-F5344CB8AC3E}">
        <p14:creationId xmlns:p14="http://schemas.microsoft.com/office/powerpoint/2010/main" val="14741710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RAG + MEMORY">
            <a:extLst xmlns:a="http://schemas.openxmlformats.org/drawingml/2006/main">
              <a:ext uri="{FF2B5EF4-FFF2-40B4-BE49-F238E27FC236}">
                <a16:creationId xmlns:a16="http://schemas.microsoft.com/office/drawing/2014/main" id="{206FDF33-F7C7-4752-B5FD-1398419E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RAG + MEMORY</a:t>
            </a:r>
          </a:p>
        </p:txBody>
      </p:sp>
      <p:sp>
        <p:nvSpPr>
          <p:cNvPr id="2" name="title-RAG + memory make answers context-aware">
            <a:extLst xmlns:a="http://schemas.openxmlformats.org/drawingml/2006/main">
              <a:ext uri="{FF2B5EF4-FFF2-40B4-BE49-F238E27FC236}">
                <a16:creationId xmlns:a16="http://schemas.microsoft.com/office/drawing/2014/main" id="{F9FC777A-7F98-4FE5-BBB3-E37D305B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RAG + memory make answers context-aware</a:t>
            </a:r>
          </a:p>
        </p:txBody>
      </p:sp>
      <p:sp>
        <p:nvSpPr>
          <p:cNvPr id="3" name="header-line-RAG + memory make answers context-aware">
            <a:extLst xmlns:a="http://schemas.openxmlformats.org/drawingml/2006/main">
              <a:ext uri="{FF2B5EF4-FFF2-40B4-BE49-F238E27FC236}">
                <a16:creationId xmlns:a16="http://schemas.microsoft.com/office/drawing/2014/main" id="{49AEC0F7-2714-4D59-A544-8E780219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RAG + memory make answers context-aware">
            <a:extLst xmlns:a="http://schemas.openxmlformats.org/drawingml/2006/main">
              <a:ext uri="{FF2B5EF4-FFF2-40B4-BE49-F238E27FC236}">
                <a16:creationId xmlns:a16="http://schemas.microsoft.com/office/drawing/2014/main" id="{ADFCC36A-156E-4454-95BB-69C7AD5B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Local evidence and persistent patient context ground each reply.</a:t>
            </a:r>
          </a:p>
        </p:txBody>
      </p:sp>
      <p:sp>
        <p:nvSpPr>
          <p:cNvPr id="5" name="mode-card-panel">
            <a:extLst xmlns:a="http://schemas.openxmlformats.org/drawingml/2006/main">
              <a:ext uri="{FF2B5EF4-FFF2-40B4-BE49-F238E27FC236}">
                <a16:creationId xmlns:a16="http://schemas.microsoft.com/office/drawing/2014/main" id="{48782D6B-D3DA-4344-BFF1-A2BB5573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52650"/>
            <a:ext cx="5372100" cy="28194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8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mode-card-line">
            <a:extLst xmlns:a="http://schemas.openxmlformats.org/drawingml/2006/main">
              <a:ext uri="{FF2B5EF4-FFF2-40B4-BE49-F238E27FC236}">
                <a16:creationId xmlns:a16="http://schemas.microsoft.com/office/drawing/2014/main" id="{AB0525DE-2BD9-4030-9211-33A92270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7" name="mode-card-pill-panel">
            <a:extLst xmlns:a="http://schemas.openxmlformats.org/drawingml/2006/main">
              <a:ext uri="{FF2B5EF4-FFF2-40B4-BE49-F238E27FC236}">
                <a16:creationId xmlns:a16="http://schemas.microsoft.com/office/drawing/2014/main" id="{B9D0C0CF-777E-4EF7-AFF8-C9FCB098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8" name="mode-card-pill-text">
            <a:extLst xmlns:a="http://schemas.openxmlformats.org/drawingml/2006/main">
              <a:ext uri="{FF2B5EF4-FFF2-40B4-BE49-F238E27FC236}">
                <a16:creationId xmlns:a16="http://schemas.microsoft.com/office/drawing/2014/main" id="{FC5EF229-2B0C-4FB5-9D5A-2FE05058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Grounding</a:t>
            </a:r>
          </a:p>
        </p:txBody>
      </p:sp>
      <p:sp>
        <p:nvSpPr>
          <p:cNvPr id="9" name="mode-card-title">
            <a:extLst xmlns:a="http://schemas.openxmlformats.org/drawingml/2006/main">
              <a:ext uri="{FF2B5EF4-FFF2-40B4-BE49-F238E27FC236}">
                <a16:creationId xmlns:a16="http://schemas.microsoft.com/office/drawing/2014/main" id="{94942772-6C46-4554-8E8C-6ADE1441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Retrieval</a:t>
            </a:r>
          </a:p>
        </p:txBody>
      </p:sp>
      <p:sp>
        <p:nvSpPr>
          <p:cNvPr id="10" name="mode-card-body">
            <a:extLst xmlns:a="http://schemas.openxmlformats.org/drawingml/2006/main">
              <a:ext uri="{FF2B5EF4-FFF2-40B4-BE49-F238E27FC236}">
                <a16:creationId xmlns:a16="http://schemas.microsoft.com/office/drawing/2014/main" id="{477870AA-A6BA-4149-9E85-067EBBD3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Query is built from the message, vitals, profile, and memory.</a:t>
            </a:r>
          </a:p>
        </p:txBody>
      </p:sp>
      <p:sp>
        <p:nvSpPr>
          <p:cNvPr id="11" name="mode-card-bullet-icon-66-374">
            <a:extLst xmlns:a="http://schemas.openxmlformats.org/drawingml/2006/main">
              <a:ext uri="{FF2B5EF4-FFF2-40B4-BE49-F238E27FC236}">
                <a16:creationId xmlns:a16="http://schemas.microsoft.com/office/drawing/2014/main" id="{4DCEAD98-0240-4387-9813-1AA8A5E8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2" name="mode-card-bullet-text-66-374">
            <a:extLst xmlns:a="http://schemas.openxmlformats.org/drawingml/2006/main">
              <a:ext uri="{FF2B5EF4-FFF2-40B4-BE49-F238E27FC236}">
                <a16:creationId xmlns:a16="http://schemas.microsoft.com/office/drawing/2014/main" id="{5167BA52-1892-4662-808C-4C1B706A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459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Ranks local healthcare knowledge</a:t>
            </a:r>
          </a:p>
        </p:txBody>
      </p:sp>
      <p:sp>
        <p:nvSpPr>
          <p:cNvPr id="13" name="mode-card-bullet-icon-66-414">
            <a:extLst xmlns:a="http://schemas.openxmlformats.org/drawingml/2006/main">
              <a:ext uri="{FF2B5EF4-FFF2-40B4-BE49-F238E27FC236}">
                <a16:creationId xmlns:a16="http://schemas.microsoft.com/office/drawing/2014/main" id="{28F8278B-0994-4A58-AD87-C9A6A236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4" name="mode-card-bullet-text-66-414">
            <a:extLst xmlns:a="http://schemas.openxmlformats.org/drawingml/2006/main">
              <a:ext uri="{FF2B5EF4-FFF2-40B4-BE49-F238E27FC236}">
                <a16:creationId xmlns:a16="http://schemas.microsoft.com/office/drawing/2014/main" id="{DB4BAFC4-B3EC-41AF-8C61-8E8AFE83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459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Can reuse approved cached references</a:t>
            </a:r>
          </a:p>
        </p:txBody>
      </p:sp>
      <p:sp>
        <p:nvSpPr>
          <p:cNvPr id="15" name="mode-card-bullet-icon-66-454">
            <a:extLst xmlns:a="http://schemas.openxmlformats.org/drawingml/2006/main">
              <a:ext uri="{FF2B5EF4-FFF2-40B4-BE49-F238E27FC236}">
                <a16:creationId xmlns:a16="http://schemas.microsoft.com/office/drawing/2014/main" id="{61E33E90-E050-49E2-9D0B-A2C7E9D8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6" name="mode-card-bullet-text-66-454">
            <a:extLst xmlns:a="http://schemas.openxmlformats.org/drawingml/2006/main">
              <a:ext uri="{FF2B5EF4-FFF2-40B4-BE49-F238E27FC236}">
                <a16:creationId xmlns:a16="http://schemas.microsoft.com/office/drawing/2014/main" id="{F9DDAA60-1BAB-4FF6-B174-79DA631C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59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Grounds the reply in evidence</a:t>
            </a:r>
          </a:p>
        </p:txBody>
      </p:sp>
      <p:sp>
        <p:nvSpPr>
          <p:cNvPr id="17" name="mode-card-panel">
            <a:extLst xmlns:a="http://schemas.openxmlformats.org/drawingml/2006/main">
              <a:ext uri="{FF2B5EF4-FFF2-40B4-BE49-F238E27FC236}">
                <a16:creationId xmlns:a16="http://schemas.microsoft.com/office/drawing/2014/main" id="{00A153A1-9519-4181-B29F-483B41BD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52650"/>
            <a:ext cx="5715000" cy="28194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DC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mode-card-line">
            <a:extLst xmlns:a="http://schemas.openxmlformats.org/drawingml/2006/main">
              <a:ext uri="{FF2B5EF4-FFF2-40B4-BE49-F238E27FC236}">
                <a16:creationId xmlns:a16="http://schemas.microsoft.com/office/drawing/2014/main" id="{AFD0DAD5-3D49-41D8-A75A-E57D2CBF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9" name="mode-card-pill-panel">
            <a:extLst xmlns:a="http://schemas.openxmlformats.org/drawingml/2006/main">
              <a:ext uri="{FF2B5EF4-FFF2-40B4-BE49-F238E27FC236}">
                <a16:creationId xmlns:a16="http://schemas.microsoft.com/office/drawing/2014/main" id="{EA5B9267-22E5-426D-9588-723514A5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36220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C9C"/>
          </a:solidFill>
          <a:ln xmlns:a="http://schemas.openxmlformats.org/drawingml/2006/main" w="9525">
            <a:solidFill>
              <a:srgbClr val="149C9C"/>
            </a:solidFill>
            <a:prstDash val="solid"/>
          </a:ln>
        </p:spPr>
      </p:sp>
      <p:sp>
        <p:nvSpPr>
          <p:cNvPr id="20" name="mode-card-pill-text">
            <a:extLst xmlns:a="http://schemas.openxmlformats.org/drawingml/2006/main">
              <a:ext uri="{FF2B5EF4-FFF2-40B4-BE49-F238E27FC236}">
                <a16:creationId xmlns:a16="http://schemas.microsoft.com/office/drawing/2014/main" id="{F2A866A1-2EAE-440E-812B-FFA36514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Persistent</a:t>
            </a:r>
          </a:p>
        </p:txBody>
      </p:sp>
      <p:sp>
        <p:nvSpPr>
          <p:cNvPr id="21" name="mode-card-title">
            <a:extLst xmlns:a="http://schemas.openxmlformats.org/drawingml/2006/main">
              <a:ext uri="{FF2B5EF4-FFF2-40B4-BE49-F238E27FC236}">
                <a16:creationId xmlns:a16="http://schemas.microsoft.com/office/drawing/2014/main" id="{10C31B2F-402D-43CA-8051-1807C159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Memory</a:t>
            </a:r>
          </a:p>
        </p:txBody>
      </p:sp>
      <p:sp>
        <p:nvSpPr>
          <p:cNvPr id="22" name="mode-card-body">
            <a:extLst xmlns:a="http://schemas.openxmlformats.org/drawingml/2006/main">
              <a:ext uri="{FF2B5EF4-FFF2-40B4-BE49-F238E27FC236}">
                <a16:creationId xmlns:a16="http://schemas.microsoft.com/office/drawing/2014/main" id="{DA59D79A-26EE-4D04-8287-A77D8F52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289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Persistent local context reloads before every analysis.</a:t>
            </a:r>
          </a:p>
        </p:txBody>
      </p:sp>
      <p:sp>
        <p:nvSpPr>
          <p:cNvPr id="23" name="mode-card-bullet-icon-658-374">
            <a:extLst xmlns:a="http://schemas.openxmlformats.org/drawingml/2006/main">
              <a:ext uri="{FF2B5EF4-FFF2-40B4-BE49-F238E27FC236}">
                <a16:creationId xmlns:a16="http://schemas.microsoft.com/office/drawing/2014/main" id="{4FF13457-DE33-40DA-8FDC-141BC4C4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38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4" name="mode-card-bullet-text-658-374">
            <a:extLst xmlns:a="http://schemas.openxmlformats.org/drawingml/2006/main">
              <a:ext uri="{FF2B5EF4-FFF2-40B4-BE49-F238E27FC236}">
                <a16:creationId xmlns:a16="http://schemas.microsoft.com/office/drawing/2014/main" id="{B387493F-8085-4057-BD2F-C94FE81A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62350"/>
            <a:ext cx="493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Patient memory, records, and knowledge graph</a:t>
            </a:r>
          </a:p>
        </p:txBody>
      </p:sp>
      <p:sp>
        <p:nvSpPr>
          <p:cNvPr id="25" name="mode-card-bullet-icon-658-414">
            <a:extLst xmlns:a="http://schemas.openxmlformats.org/drawingml/2006/main">
              <a:ext uri="{FF2B5EF4-FFF2-40B4-BE49-F238E27FC236}">
                <a16:creationId xmlns:a16="http://schemas.microsoft.com/office/drawing/2014/main" id="{27390042-F472-443F-AAED-34EF64CC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19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6" name="mode-card-bullet-text-658-414">
            <a:extLst xmlns:a="http://schemas.openxmlformats.org/drawingml/2006/main">
              <a:ext uri="{FF2B5EF4-FFF2-40B4-BE49-F238E27FC236}">
                <a16:creationId xmlns:a16="http://schemas.microsoft.com/office/drawing/2014/main" id="{16BE8DC1-FE3D-41F4-8FB2-B46D45F2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43350"/>
            <a:ext cx="493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The system is not stateless</a:t>
            </a:r>
          </a:p>
        </p:txBody>
      </p:sp>
      <p:sp>
        <p:nvSpPr>
          <p:cNvPr id="27" name="mode-card-bullet-icon-658-454">
            <a:extLst xmlns:a="http://schemas.openxmlformats.org/drawingml/2006/main">
              <a:ext uri="{FF2B5EF4-FFF2-40B4-BE49-F238E27FC236}">
                <a16:creationId xmlns:a16="http://schemas.microsoft.com/office/drawing/2014/main" id="{71EF8772-F753-41E6-89B3-69F51FE4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00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8" name="mode-card-bullet-text-658-454">
            <a:extLst xmlns:a="http://schemas.openxmlformats.org/drawingml/2006/main">
              <a:ext uri="{FF2B5EF4-FFF2-40B4-BE49-F238E27FC236}">
                <a16:creationId xmlns:a16="http://schemas.microsoft.com/office/drawing/2014/main" id="{E7AD9E2E-DF2C-4EF9-9F19-1A4F05F1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24350"/>
            <a:ext cx="493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Result is stored for the next turn</a:t>
            </a:r>
          </a:p>
        </p:txBody>
      </p:sp>
      <p:sp>
        <p:nvSpPr>
          <p:cNvPr id="29" name="hybrid-trust-card">
            <a:extLst xmlns:a="http://schemas.openxmlformats.org/drawingml/2006/main">
              <a:ext uri="{FF2B5EF4-FFF2-40B4-BE49-F238E27FC236}">
                <a16:creationId xmlns:a16="http://schemas.microsoft.com/office/drawing/2014/main" id="{496C432E-7654-4364-BB79-996FECC5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00650"/>
            <a:ext cx="113538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D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hybrid-trust-line">
            <a:extLst xmlns:a="http://schemas.openxmlformats.org/drawingml/2006/main">
              <a:ext uri="{FF2B5EF4-FFF2-40B4-BE49-F238E27FC236}">
                <a16:creationId xmlns:a16="http://schemas.microsoft.com/office/drawing/2014/main" id="{F8A28CE3-9C69-4CDA-B59A-BC9C5D72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31" name="hybrid-trust-title">
            <a:extLst xmlns:a="http://schemas.openxmlformats.org/drawingml/2006/main">
              <a:ext uri="{FF2B5EF4-FFF2-40B4-BE49-F238E27FC236}">
                <a16:creationId xmlns:a16="http://schemas.microsoft.com/office/drawing/2014/main" id="{2E3454A3-6F40-48C8-9582-EB4837FF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43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Approved sources</a:t>
            </a:r>
          </a:p>
        </p:txBody>
      </p:sp>
      <p:sp>
        <p:nvSpPr>
          <p:cNvPr id="32" name="hybrid-trust-pill-1-panel">
            <a:extLst xmlns:a="http://schemas.openxmlformats.org/drawingml/2006/main">
              <a:ext uri="{FF2B5EF4-FFF2-40B4-BE49-F238E27FC236}">
                <a16:creationId xmlns:a16="http://schemas.microsoft.com/office/drawing/2014/main" id="{E8215256-B8F4-43FA-B520-EA04D995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6735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3" name="hybrid-trust-pill-1-text">
            <a:extLst xmlns:a="http://schemas.openxmlformats.org/drawingml/2006/main">
              <a:ext uri="{FF2B5EF4-FFF2-40B4-BE49-F238E27FC236}">
                <a16:creationId xmlns:a16="http://schemas.microsoft.com/office/drawing/2014/main" id="{F0734123-B60C-416F-9BB5-C62B8DAB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864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MedlinePlus</a:t>
            </a:r>
          </a:p>
        </p:txBody>
      </p:sp>
      <p:sp>
        <p:nvSpPr>
          <p:cNvPr id="34" name="hybrid-trust-pill-2-panel">
            <a:extLst xmlns:a="http://schemas.openxmlformats.org/drawingml/2006/main">
              <a:ext uri="{FF2B5EF4-FFF2-40B4-BE49-F238E27FC236}">
                <a16:creationId xmlns:a16="http://schemas.microsoft.com/office/drawing/2014/main" id="{D12563F5-0782-4A10-A174-BAB30B1F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6735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35" name="hybrid-trust-pill-2-text">
            <a:extLst xmlns:a="http://schemas.openxmlformats.org/drawingml/2006/main">
              <a:ext uri="{FF2B5EF4-FFF2-40B4-BE49-F238E27FC236}">
                <a16:creationId xmlns:a16="http://schemas.microsoft.com/office/drawing/2014/main" id="{F7B9EF9B-6C68-426F-A08A-BE0BA8F9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864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RxNorm</a:t>
            </a:r>
          </a:p>
        </p:txBody>
      </p:sp>
      <p:sp>
        <p:nvSpPr>
          <p:cNvPr id="36" name="hybrid-trust-pill-3-panel">
            <a:extLst xmlns:a="http://schemas.openxmlformats.org/drawingml/2006/main">
              <a:ext uri="{FF2B5EF4-FFF2-40B4-BE49-F238E27FC236}">
                <a16:creationId xmlns:a16="http://schemas.microsoft.com/office/drawing/2014/main" id="{ADD64E30-5A64-49F6-94C3-068854BC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46735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7" name="hybrid-trust-pill-3-text">
            <a:extLst xmlns:a="http://schemas.openxmlformats.org/drawingml/2006/main">
              <a:ext uri="{FF2B5EF4-FFF2-40B4-BE49-F238E27FC236}">
                <a16:creationId xmlns:a16="http://schemas.microsoft.com/office/drawing/2014/main" id="{37FE36C4-B60D-4213-B862-FEA175B4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4864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openFDA</a:t>
            </a:r>
          </a:p>
        </p:txBody>
      </p:sp>
      <p:sp>
        <p:nvSpPr>
          <p:cNvPr id="38" name="hybrid-trust-pill-4-panel">
            <a:extLst xmlns:a="http://schemas.openxmlformats.org/drawingml/2006/main">
              <a:ext uri="{FF2B5EF4-FFF2-40B4-BE49-F238E27FC236}">
                <a16:creationId xmlns:a16="http://schemas.microsoft.com/office/drawing/2014/main" id="{DC9E787A-777E-499A-BF15-8D75A19C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6735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39" name="hybrid-trust-pill-4-text">
            <a:extLst xmlns:a="http://schemas.openxmlformats.org/drawingml/2006/main">
              <a:ext uri="{FF2B5EF4-FFF2-40B4-BE49-F238E27FC236}">
                <a16:creationId xmlns:a16="http://schemas.microsoft.com/office/drawing/2014/main" id="{BE1F4AC3-72E3-4C44-B0A5-FC8CDFFF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864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LOINC</a:t>
            </a:r>
          </a:p>
        </p:txBody>
      </p:sp>
      <p:sp>
        <p:nvSpPr>
          <p:cNvPr id="40" name="hybrid-trust-pill-5-panel">
            <a:extLst xmlns:a="http://schemas.openxmlformats.org/drawingml/2006/main">
              <a:ext uri="{FF2B5EF4-FFF2-40B4-BE49-F238E27FC236}">
                <a16:creationId xmlns:a16="http://schemas.microsoft.com/office/drawing/2014/main" id="{78CC4255-3D4D-4650-BDC1-6263CB92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467350"/>
            <a:ext cx="1752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41" name="hybrid-trust-pill-5-text">
            <a:extLst xmlns:a="http://schemas.openxmlformats.org/drawingml/2006/main">
              <a:ext uri="{FF2B5EF4-FFF2-40B4-BE49-F238E27FC236}">
                <a16:creationId xmlns:a16="http://schemas.microsoft.com/office/drawing/2014/main" id="{E15E662D-87C6-4EE0-B861-815A229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4864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SMART on FHIR</a:t>
            </a:r>
          </a:p>
        </p:txBody>
      </p:sp>
      <p:sp>
        <p:nvSpPr>
          <p:cNvPr id="42" name="hybrid-footer-text">
            <a:extLst xmlns:a="http://schemas.openxmlformats.org/drawingml/2006/main">
              <a:ext uri="{FF2B5EF4-FFF2-40B4-BE49-F238E27FC236}">
                <a16:creationId xmlns:a16="http://schemas.microsoft.com/office/drawing/2014/main" id="{870B7848-0AFA-4AA6-9629-7E6FE647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10300"/>
            <a:ext cx="1135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Online enrichment is optional. The core workflow still runs locally.</a:t>
            </a:r>
          </a:p>
        </p:txBody>
      </p:sp>
    </p:spTree>
    <p:extLst>
      <p:ext uri="{BB962C8B-B14F-4D97-AF65-F5344CB8AC3E}">
        <p14:creationId xmlns:p14="http://schemas.microsoft.com/office/powerpoint/2010/main" val="1113849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F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APPLICATION MODES">
            <a:extLst xmlns:a="http://schemas.openxmlformats.org/drawingml/2006/main">
              <a:ext uri="{FF2B5EF4-FFF2-40B4-BE49-F238E27FC236}">
                <a16:creationId xmlns:a16="http://schemas.microsoft.com/office/drawing/2014/main" id="{27CC11A1-23A3-403C-9746-388BCC1C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APPLICATION MODES</a:t>
            </a:r>
          </a:p>
        </p:txBody>
      </p:sp>
      <p:sp>
        <p:nvSpPr>
          <p:cNvPr id="2" name="title-Guided for patients. Expert for deep review.">
            <a:extLst xmlns:a="http://schemas.openxmlformats.org/drawingml/2006/main">
              <a:ext uri="{FF2B5EF4-FFF2-40B4-BE49-F238E27FC236}">
                <a16:creationId xmlns:a16="http://schemas.microsoft.com/office/drawing/2014/main" id="{945A3B7B-5A93-4D36-8327-BE613B6B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Guided for patients. Expert for deep review.</a:t>
            </a:r>
          </a:p>
        </p:txBody>
      </p:sp>
      <p:sp>
        <p:nvSpPr>
          <p:cNvPr id="3" name="header-line-Guided for patients. Expert for deep review.">
            <a:extLst xmlns:a="http://schemas.openxmlformats.org/drawingml/2006/main">
              <a:ext uri="{FF2B5EF4-FFF2-40B4-BE49-F238E27FC236}">
                <a16:creationId xmlns:a16="http://schemas.microsoft.com/office/drawing/2014/main" id="{0DB16590-40AC-4B56-A3A8-42F7788C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Guided for patients. Expert for deep review.">
            <a:extLst xmlns:a="http://schemas.openxmlformats.org/drawingml/2006/main">
              <a:ext uri="{FF2B5EF4-FFF2-40B4-BE49-F238E27FC236}">
                <a16:creationId xmlns:a16="http://schemas.microsoft.com/office/drawing/2014/main" id="{331C1AA9-FD5D-40D1-A22A-A154A495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The same local engine supports simple guidance and detailed evidence review.</a:t>
            </a:r>
          </a:p>
        </p:txBody>
      </p:sp>
      <p:sp>
        <p:nvSpPr>
          <p:cNvPr id="5" name="modes-mobile-backplate">
            <a:extLst xmlns:a="http://schemas.openxmlformats.org/drawingml/2006/main">
              <a:ext uri="{FF2B5EF4-FFF2-40B4-BE49-F238E27FC236}">
                <a16:creationId xmlns:a16="http://schemas.microsoft.com/office/drawing/2014/main" id="{50E9D418-9F5F-4A47-8384-2A7F773F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57400"/>
            <a:ext cx="2990850" cy="407670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6" name="modes-mobile-frame">
            <a:extLst xmlns:a="http://schemas.openxmlformats.org/drawingml/2006/main">
              <a:ext uri="{FF2B5EF4-FFF2-40B4-BE49-F238E27FC236}">
                <a16:creationId xmlns:a16="http://schemas.microsoft.com/office/drawing/2014/main" id="{A76F142F-4A96-4284-B151-0F27164E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71700"/>
            <a:ext cx="2762250" cy="38481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e3f65d8994e87"/>
          <a:srcRect xmlns:a="http://schemas.openxmlformats.org/drawingml/2006/main" l="0" t="19051" r="0" b="190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2171700"/>
            <a:ext cx="2762250" cy="3848100"/>
          </a:xfrm>
          <a:prstGeom xmlns:a="http://schemas.openxmlformats.org/drawingml/2006/main" prst="roundRect">
            <a:avLst>
              <a:gd name="adj" fmla="val 5517"/>
            </a:avLst>
          </a:prstGeom>
        </p:spPr>
      </p:pic>
      <p:sp>
        <p:nvSpPr>
          <p:cNvPr id="8" name="modes-mobile-caption">
            <a:extLst xmlns:a="http://schemas.openxmlformats.org/drawingml/2006/main">
              <a:ext uri="{FF2B5EF4-FFF2-40B4-BE49-F238E27FC236}">
                <a16:creationId xmlns:a16="http://schemas.microsoft.com/office/drawing/2014/main" id="{C4772843-CAB9-4635-ACDD-2C938C69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1341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Local-first PWA: laptop, mobile, and installable app shells.</a:t>
            </a:r>
          </a:p>
        </p:txBody>
      </p:sp>
      <p:sp>
        <p:nvSpPr>
          <p:cNvPr id="9" name="mode-panel-1">
            <a:extLst xmlns:a="http://schemas.openxmlformats.org/drawingml/2006/main">
              <a:ext uri="{FF2B5EF4-FFF2-40B4-BE49-F238E27FC236}">
                <a16:creationId xmlns:a16="http://schemas.microsoft.com/office/drawing/2014/main" id="{55DE6AA7-B94F-44BD-8B94-7C0EBBFF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71700"/>
            <a:ext cx="81153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mode-panel-line-1">
            <a:extLst xmlns:a="http://schemas.openxmlformats.org/drawingml/2006/main">
              <a:ext uri="{FF2B5EF4-FFF2-40B4-BE49-F238E27FC236}">
                <a16:creationId xmlns:a16="http://schemas.microsoft.com/office/drawing/2014/main" id="{79D98B84-FD18-419F-90E0-696A5C45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812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1" name="mode-panel-title-1">
            <a:extLst xmlns:a="http://schemas.openxmlformats.org/drawingml/2006/main">
              <a:ext uri="{FF2B5EF4-FFF2-40B4-BE49-F238E27FC236}">
                <a16:creationId xmlns:a16="http://schemas.microsoft.com/office/drawing/2014/main" id="{EEF34317-2C02-436B-B620-051026BB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289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Guided mode</a:t>
            </a:r>
          </a:p>
        </p:txBody>
      </p:sp>
      <p:sp>
        <p:nvSpPr>
          <p:cNvPr id="12" name="mode-panel-body-1">
            <a:extLst xmlns:a="http://schemas.openxmlformats.org/drawingml/2006/main">
              <a:ext uri="{FF2B5EF4-FFF2-40B4-BE49-F238E27FC236}">
                <a16:creationId xmlns:a16="http://schemas.microsoft.com/office/drawing/2014/main" id="{B15551E6-CFD6-40E6-9829-1BF338B5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48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15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Simple patient flow that turns fragmented context into one safe next step.</a:t>
            </a:r>
          </a:p>
        </p:txBody>
      </p:sp>
      <p:sp>
        <p:nvSpPr>
          <p:cNvPr id="13" name="mode-panel-divider-1">
            <a:extLst xmlns:a="http://schemas.openxmlformats.org/drawingml/2006/main">
              <a:ext uri="{FF2B5EF4-FFF2-40B4-BE49-F238E27FC236}">
                <a16:creationId xmlns:a16="http://schemas.microsoft.com/office/drawing/2014/main" id="{8B99A2DC-85E0-4202-AE0E-44C539C7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38400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EF"/>
          </a:solidFill>
          <a:ln xmlns:a="http://schemas.openxmlformats.org/drawingml/2006/main" w="0">
            <a:solidFill>
              <a:srgbClr val="DEE7EF"/>
            </a:solidFill>
            <a:prstDash val="solid"/>
          </a:ln>
        </p:spPr>
      </p:sp>
      <p:sp>
        <p:nvSpPr>
          <p:cNvPr id="14" name="mode-panel-bullet-1-icon-810-262">
            <a:extLst xmlns:a="http://schemas.openxmlformats.org/drawingml/2006/main">
              <a:ext uri="{FF2B5EF4-FFF2-40B4-BE49-F238E27FC236}">
                <a16:creationId xmlns:a16="http://schemas.microsoft.com/office/drawing/2014/main" id="{2DC87D7C-830A-44FD-B2A3-36000BE7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5" name="mode-panel-bullet-1-text-810-262">
            <a:extLst xmlns:a="http://schemas.openxmlformats.org/drawingml/2006/main">
              <a:ext uri="{FF2B5EF4-FFF2-40B4-BE49-F238E27FC236}">
                <a16:creationId xmlns:a16="http://schemas.microsoft.com/office/drawing/2014/main" id="{74C8804D-D1CB-4C8D-A86D-978E1A3B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Low-friction experience</a:t>
            </a:r>
          </a:p>
        </p:txBody>
      </p:sp>
      <p:sp>
        <p:nvSpPr>
          <p:cNvPr id="16" name="mode-panel-bullet-1-icon-810-290">
            <a:extLst xmlns:a="http://schemas.openxmlformats.org/drawingml/2006/main">
              <a:ext uri="{FF2B5EF4-FFF2-40B4-BE49-F238E27FC236}">
                <a16:creationId xmlns:a16="http://schemas.microsoft.com/office/drawing/2014/main" id="{48D83FC1-9D48-476D-9C08-0D52954F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38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7" name="mode-panel-bullet-1-text-810-290">
            <a:extLst xmlns:a="http://schemas.openxmlformats.org/drawingml/2006/main">
              <a:ext uri="{FF2B5EF4-FFF2-40B4-BE49-F238E27FC236}">
                <a16:creationId xmlns:a16="http://schemas.microsoft.com/office/drawing/2014/main" id="{8FB073B6-4C1F-4022-A144-07690634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Safe default path</a:t>
            </a:r>
          </a:p>
        </p:txBody>
      </p:sp>
      <p:sp>
        <p:nvSpPr>
          <p:cNvPr id="18" name="mode-panel-bullet-1-icon-810-318">
            <a:extLst xmlns:a="http://schemas.openxmlformats.org/drawingml/2006/main">
              <a:ext uri="{FF2B5EF4-FFF2-40B4-BE49-F238E27FC236}">
                <a16:creationId xmlns:a16="http://schemas.microsoft.com/office/drawing/2014/main" id="{CF85F52E-D2AC-4101-B129-E00C61D0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9" name="mode-panel-bullet-1-text-810-318">
            <a:extLst xmlns:a="http://schemas.openxmlformats.org/drawingml/2006/main">
              <a:ext uri="{FF2B5EF4-FFF2-40B4-BE49-F238E27FC236}">
                <a16:creationId xmlns:a16="http://schemas.microsoft.com/office/drawing/2014/main" id="{71D95D7E-DFE8-46AA-B6C2-1EC5B61D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Clear answer</a:t>
            </a:r>
          </a:p>
        </p:txBody>
      </p:sp>
      <p:sp>
        <p:nvSpPr>
          <p:cNvPr id="20" name="mode-panel-2">
            <a:extLst xmlns:a="http://schemas.openxmlformats.org/drawingml/2006/main">
              <a:ext uri="{FF2B5EF4-FFF2-40B4-BE49-F238E27FC236}">
                <a16:creationId xmlns:a16="http://schemas.microsoft.com/office/drawing/2014/main" id="{B6971C90-E19D-4268-8BAF-B5A83165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33800"/>
            <a:ext cx="81153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mode-panel-line-2">
            <a:extLst xmlns:a="http://schemas.openxmlformats.org/drawingml/2006/main">
              <a:ext uri="{FF2B5EF4-FFF2-40B4-BE49-F238E27FC236}">
                <a16:creationId xmlns:a16="http://schemas.microsoft.com/office/drawing/2014/main" id="{2A33C619-8E6A-4C0F-97C1-7DE25570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433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2" name="mode-panel-title-2">
            <a:extLst xmlns:a="http://schemas.openxmlformats.org/drawingml/2006/main">
              <a:ext uri="{FF2B5EF4-FFF2-40B4-BE49-F238E27FC236}">
                <a16:creationId xmlns:a16="http://schemas.microsoft.com/office/drawing/2014/main" id="{403993AD-7888-4C49-BDC7-3FF003D2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910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Expert mode</a:t>
            </a:r>
          </a:p>
        </p:txBody>
      </p:sp>
      <p:sp>
        <p:nvSpPr>
          <p:cNvPr id="23" name="mode-panel-body-2">
            <a:extLst xmlns:a="http://schemas.openxmlformats.org/drawingml/2006/main">
              <a:ext uri="{FF2B5EF4-FFF2-40B4-BE49-F238E27FC236}">
                <a16:creationId xmlns:a16="http://schemas.microsoft.com/office/drawing/2014/main" id="{065D2FCE-E44E-4E39-85BA-762ACFC9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10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00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Full routes, evidence panels, records, and deeper review controls.</a:t>
            </a:r>
          </a:p>
        </p:txBody>
      </p:sp>
      <p:sp>
        <p:nvSpPr>
          <p:cNvPr id="24" name="mode-panel-divider-2">
            <a:extLst xmlns:a="http://schemas.openxmlformats.org/drawingml/2006/main">
              <a:ext uri="{FF2B5EF4-FFF2-40B4-BE49-F238E27FC236}">
                <a16:creationId xmlns:a16="http://schemas.microsoft.com/office/drawing/2014/main" id="{C45C1F7A-861B-459A-8052-770A408B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00500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EF"/>
          </a:solidFill>
          <a:ln xmlns:a="http://schemas.openxmlformats.org/drawingml/2006/main" w="0">
            <a:solidFill>
              <a:srgbClr val="DEE7EF"/>
            </a:solidFill>
            <a:prstDash val="solid"/>
          </a:ln>
        </p:spPr>
      </p:sp>
      <p:sp>
        <p:nvSpPr>
          <p:cNvPr id="25" name="mode-panel-bullet-2-icon-810-426">
            <a:extLst xmlns:a="http://schemas.openxmlformats.org/drawingml/2006/main">
              <a:ext uri="{FF2B5EF4-FFF2-40B4-BE49-F238E27FC236}">
                <a16:creationId xmlns:a16="http://schemas.microsoft.com/office/drawing/2014/main" id="{1E9E3D60-A5E3-4F4F-8461-C642B7F0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33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6" name="mode-panel-bullet-2-text-810-426">
            <a:extLst xmlns:a="http://schemas.openxmlformats.org/drawingml/2006/main">
              <a:ext uri="{FF2B5EF4-FFF2-40B4-BE49-F238E27FC236}">
                <a16:creationId xmlns:a16="http://schemas.microsoft.com/office/drawing/2014/main" id="{0750E4AE-AE72-4EC0-859E-46A68E90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576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Review risk and evidence</a:t>
            </a:r>
          </a:p>
        </p:txBody>
      </p:sp>
      <p:sp>
        <p:nvSpPr>
          <p:cNvPr id="27" name="mode-panel-bullet-2-icon-810-454">
            <a:extLst xmlns:a="http://schemas.openxmlformats.org/drawingml/2006/main">
              <a:ext uri="{FF2B5EF4-FFF2-40B4-BE49-F238E27FC236}">
                <a16:creationId xmlns:a16="http://schemas.microsoft.com/office/drawing/2014/main" id="{4C29CEEC-94FF-46C7-A0B5-A6554D41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00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8" name="mode-panel-bullet-2-text-810-454">
            <a:extLst xmlns:a="http://schemas.openxmlformats.org/drawingml/2006/main">
              <a:ext uri="{FF2B5EF4-FFF2-40B4-BE49-F238E27FC236}">
                <a16:creationId xmlns:a16="http://schemas.microsoft.com/office/drawing/2014/main" id="{B64B01B4-9AD3-455D-AE22-596BF7A7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243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Inspect records and memory</a:t>
            </a:r>
          </a:p>
        </p:txBody>
      </p:sp>
      <p:sp>
        <p:nvSpPr>
          <p:cNvPr id="29" name="mode-panel-bullet-2-icon-810-482">
            <a:extLst xmlns:a="http://schemas.openxmlformats.org/drawingml/2006/main">
              <a:ext uri="{FF2B5EF4-FFF2-40B4-BE49-F238E27FC236}">
                <a16:creationId xmlns:a16="http://schemas.microsoft.com/office/drawing/2014/main" id="{629F10EF-4C7A-4D8C-9BF2-DB2BC4CF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67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30" name="mode-panel-bullet-2-text-810-482">
            <a:extLst xmlns:a="http://schemas.openxmlformats.org/drawingml/2006/main">
              <a:ext uri="{FF2B5EF4-FFF2-40B4-BE49-F238E27FC236}">
                <a16:creationId xmlns:a16="http://schemas.microsoft.com/office/drawing/2014/main" id="{C5E8AEC5-00D0-410D-8EED-B27C338F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910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Navigate specialist workspaces</a:t>
            </a:r>
          </a:p>
        </p:txBody>
      </p:sp>
      <p:sp>
        <p:nvSpPr>
          <p:cNvPr id="31" name="workspace-modes-panel">
            <a:extLst xmlns:a="http://schemas.openxmlformats.org/drawingml/2006/main">
              <a:ext uri="{FF2B5EF4-FFF2-40B4-BE49-F238E27FC236}">
                <a16:creationId xmlns:a16="http://schemas.microsoft.com/office/drawing/2014/main" id="{1A80FDC7-86E0-4696-8DF1-71DD446E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295900"/>
            <a:ext cx="81153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workspace-modes-line">
            <a:extLst xmlns:a="http://schemas.openxmlformats.org/drawingml/2006/main">
              <a:ext uri="{FF2B5EF4-FFF2-40B4-BE49-F238E27FC236}">
                <a16:creationId xmlns:a16="http://schemas.microsoft.com/office/drawing/2014/main" id="{AA981514-653B-4C2C-861B-D4FF2997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5245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33" name="workspace-modes-title">
            <a:extLst xmlns:a="http://schemas.openxmlformats.org/drawingml/2006/main">
              <a:ext uri="{FF2B5EF4-FFF2-40B4-BE49-F238E27FC236}">
                <a16:creationId xmlns:a16="http://schemas.microsoft.com/office/drawing/2014/main" id="{42DFE1F8-352D-4633-AC7D-A5408428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388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14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Focused workspaces</a:t>
            </a:r>
          </a:p>
        </p:txBody>
      </p:sp>
      <p:sp>
        <p:nvSpPr>
          <p:cNvPr id="34" name="workspace-mode-pill-1-panel">
            <a:extLst xmlns:a="http://schemas.openxmlformats.org/drawingml/2006/main">
              <a:ext uri="{FF2B5EF4-FFF2-40B4-BE49-F238E27FC236}">
                <a16:creationId xmlns:a16="http://schemas.microsoft.com/office/drawing/2014/main" id="{F3DF6851-A489-4A7B-A5B5-D2FBC1F3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054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5" name="workspace-mode-pill-1-text">
            <a:extLst xmlns:a="http://schemas.openxmlformats.org/drawingml/2006/main">
              <a:ext uri="{FF2B5EF4-FFF2-40B4-BE49-F238E27FC236}">
                <a16:creationId xmlns:a16="http://schemas.microsoft.com/office/drawing/2014/main" id="{556546FF-88EB-4A7B-A6E0-FBC88337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245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Vitals</a:t>
            </a:r>
          </a:p>
        </p:txBody>
      </p:sp>
      <p:sp>
        <p:nvSpPr>
          <p:cNvPr id="36" name="workspace-mode-pill-2-panel">
            <a:extLst xmlns:a="http://schemas.openxmlformats.org/drawingml/2006/main">
              <a:ext uri="{FF2B5EF4-FFF2-40B4-BE49-F238E27FC236}">
                <a16:creationId xmlns:a16="http://schemas.microsoft.com/office/drawing/2014/main" id="{247C2521-A77D-46E5-8FD5-2369F654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05450"/>
            <a:ext cx="723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37" name="workspace-mode-pill-2-text">
            <a:extLst xmlns:a="http://schemas.openxmlformats.org/drawingml/2006/main">
              <a:ext uri="{FF2B5EF4-FFF2-40B4-BE49-F238E27FC236}">
                <a16:creationId xmlns:a16="http://schemas.microsoft.com/office/drawing/2014/main" id="{BEBEA7B9-8E72-4447-BDCB-27622AB2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245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Labs</a:t>
            </a:r>
          </a:p>
        </p:txBody>
      </p:sp>
      <p:sp>
        <p:nvSpPr>
          <p:cNvPr id="38" name="workspace-mode-pill-3-panel">
            <a:extLst xmlns:a="http://schemas.openxmlformats.org/drawingml/2006/main">
              <a:ext uri="{FF2B5EF4-FFF2-40B4-BE49-F238E27FC236}">
                <a16:creationId xmlns:a16="http://schemas.microsoft.com/office/drawing/2014/main" id="{D1B61256-A333-4DAA-AAF1-B1040603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054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9" name="workspace-mode-pill-3-text">
            <a:extLst xmlns:a="http://schemas.openxmlformats.org/drawingml/2006/main">
              <a:ext uri="{FF2B5EF4-FFF2-40B4-BE49-F238E27FC236}">
                <a16:creationId xmlns:a16="http://schemas.microsoft.com/office/drawing/2014/main" id="{4D92CCB2-5152-4291-A743-646D5DFA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Wellness</a:t>
            </a:r>
          </a:p>
        </p:txBody>
      </p:sp>
      <p:sp>
        <p:nvSpPr>
          <p:cNvPr id="40" name="workspace-mode-pill-4-panel">
            <a:extLst xmlns:a="http://schemas.openxmlformats.org/drawingml/2006/main">
              <a:ext uri="{FF2B5EF4-FFF2-40B4-BE49-F238E27FC236}">
                <a16:creationId xmlns:a16="http://schemas.microsoft.com/office/drawing/2014/main" id="{A7ABD192-D0A8-4819-93C9-49794B73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05450"/>
            <a:ext cx="933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41" name="workspace-mode-pill-4-text">
            <a:extLst xmlns:a="http://schemas.openxmlformats.org/drawingml/2006/main">
              <a:ext uri="{FF2B5EF4-FFF2-40B4-BE49-F238E27FC236}">
                <a16:creationId xmlns:a16="http://schemas.microsoft.com/office/drawing/2014/main" id="{1DAD2E38-F9DB-4EBC-A0AD-43C0B9CD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245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Records</a:t>
            </a:r>
          </a:p>
        </p:txBody>
      </p:sp>
      <p:sp>
        <p:nvSpPr>
          <p:cNvPr id="42" name="workspace-mode-pill-5-panel">
            <a:extLst xmlns:a="http://schemas.openxmlformats.org/drawingml/2006/main">
              <a:ext uri="{FF2B5EF4-FFF2-40B4-BE49-F238E27FC236}">
                <a16:creationId xmlns:a16="http://schemas.microsoft.com/office/drawing/2014/main" id="{B46C9010-42A1-4D9E-B063-C022ACB5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054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43" name="workspace-mode-pill-5-text">
            <a:extLst xmlns:a="http://schemas.openxmlformats.org/drawingml/2006/main">
              <a:ext uri="{FF2B5EF4-FFF2-40B4-BE49-F238E27FC236}">
                <a16:creationId xmlns:a16="http://schemas.microsoft.com/office/drawing/2014/main" id="{B3D3F936-54D4-4D06-9CE6-C554F73B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245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Insurance</a:t>
            </a:r>
          </a:p>
        </p:txBody>
      </p:sp>
      <p:sp>
        <p:nvSpPr>
          <p:cNvPr id="44" name="workspace-mode-pill-6-panel">
            <a:extLst xmlns:a="http://schemas.openxmlformats.org/drawingml/2006/main">
              <a:ext uri="{FF2B5EF4-FFF2-40B4-BE49-F238E27FC236}">
                <a16:creationId xmlns:a16="http://schemas.microsoft.com/office/drawing/2014/main" id="{C3340A22-7E44-4AE7-B447-30306FBD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0545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45" name="workspace-mode-pill-6-text">
            <a:extLst xmlns:a="http://schemas.openxmlformats.org/drawingml/2006/main">
              <a:ext uri="{FF2B5EF4-FFF2-40B4-BE49-F238E27FC236}">
                <a16:creationId xmlns:a16="http://schemas.microsoft.com/office/drawing/2014/main" id="{AEF6F76B-1055-428A-99F2-499B29F5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245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Summary</a:t>
            </a:r>
          </a:p>
        </p:txBody>
      </p:sp>
      <p:sp>
        <p:nvSpPr>
          <p:cNvPr id="46" name="access-footer-text">
            <a:extLst xmlns:a="http://schemas.openxmlformats.org/drawingml/2006/main">
              <a:ext uri="{FF2B5EF4-FFF2-40B4-BE49-F238E27FC236}">
                <a16:creationId xmlns:a16="http://schemas.microsoft.com/office/drawing/2014/main" id="{7ED2722D-F4DE-48AD-AE9B-629380E3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05550"/>
            <a:ext cx="1135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438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One product surface can support both fast guidance and detailed review.</a:t>
            </a:r>
          </a:p>
        </p:txBody>
      </p:sp>
    </p:spTree>
    <p:extLst>
      <p:ext uri="{BB962C8B-B14F-4D97-AF65-F5344CB8AC3E}">
        <p14:creationId xmlns:p14="http://schemas.microsoft.com/office/powerpoint/2010/main" val="1849233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SAFETY BOUNDARY">
            <a:extLst xmlns:a="http://schemas.openxmlformats.org/drawingml/2006/main">
              <a:ext uri="{FF2B5EF4-FFF2-40B4-BE49-F238E27FC236}">
                <a16:creationId xmlns:a16="http://schemas.microsoft.com/office/drawing/2014/main" id="{053E5E59-2B8A-41B3-9817-283EDCE6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SAFETY BOUNDARY</a:t>
            </a:r>
          </a:p>
        </p:txBody>
      </p:sp>
      <p:sp>
        <p:nvSpPr>
          <p:cNvPr id="2" name="title-Safety boundaries are explicit and enforced">
            <a:extLst xmlns:a="http://schemas.openxmlformats.org/drawingml/2006/main">
              <a:ext uri="{FF2B5EF4-FFF2-40B4-BE49-F238E27FC236}">
                <a16:creationId xmlns:a16="http://schemas.microsoft.com/office/drawing/2014/main" id="{1C908835-7A04-404A-B142-02D5767B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Safety boundaries are explicit and enforced</a:t>
            </a:r>
          </a:p>
        </p:txBody>
      </p:sp>
      <p:sp>
        <p:nvSpPr>
          <p:cNvPr id="3" name="header-line-Safety boundaries are explicit and enforced">
            <a:extLst xmlns:a="http://schemas.openxmlformats.org/drawingml/2006/main">
              <a:ext uri="{FF2B5EF4-FFF2-40B4-BE49-F238E27FC236}">
                <a16:creationId xmlns:a16="http://schemas.microsoft.com/office/drawing/2014/main" id="{73485138-34ED-42E5-877B-0F29FA93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4" name="subtitle-Safety boundaries are explicit and enforced">
            <a:extLst xmlns:a="http://schemas.openxmlformats.org/drawingml/2006/main">
              <a:ext uri="{FF2B5EF4-FFF2-40B4-BE49-F238E27FC236}">
                <a16:creationId xmlns:a16="http://schemas.microsoft.com/office/drawing/2014/main" id="{65CDF0F2-C4AC-4775-A1FA-77E07931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Useful support, with hard limits.</a:t>
            </a:r>
          </a:p>
        </p:txBody>
      </p:sp>
      <p:sp>
        <p:nvSpPr>
          <p:cNvPr id="5" name="final-supports-card">
            <a:extLst xmlns:a="http://schemas.openxmlformats.org/drawingml/2006/main">
              <a:ext uri="{FF2B5EF4-FFF2-40B4-BE49-F238E27FC236}">
                <a16:creationId xmlns:a16="http://schemas.microsoft.com/office/drawing/2014/main" id="{836AF238-73C4-4671-A962-DEE59615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71700"/>
            <a:ext cx="533400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7FFFD"/>
          </a:solidFill>
          <a:ln xmlns:a="http://schemas.openxmlformats.org/drawingml/2006/main" w="9525">
            <a:solidFill>
              <a:srgbClr val="DCEF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final-supports-line">
            <a:extLst xmlns:a="http://schemas.openxmlformats.org/drawingml/2006/main">
              <a:ext uri="{FF2B5EF4-FFF2-40B4-BE49-F238E27FC236}">
                <a16:creationId xmlns:a16="http://schemas.microsoft.com/office/drawing/2014/main" id="{AF611667-2EC8-4DB9-A29B-DF86E746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7" name="final-supports-title">
            <a:extLst xmlns:a="http://schemas.openxmlformats.org/drawingml/2006/main">
              <a:ext uri="{FF2B5EF4-FFF2-40B4-BE49-F238E27FC236}">
                <a16:creationId xmlns:a16="http://schemas.microsoft.com/office/drawing/2014/main" id="{D60AB149-C06E-459C-918E-BB7392B0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4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Does help</a:t>
            </a:r>
          </a:p>
        </p:txBody>
      </p:sp>
      <p:sp>
        <p:nvSpPr>
          <p:cNvPr id="8" name="final-supports-bullet-icon-52-320">
            <a:extLst xmlns:a="http://schemas.openxmlformats.org/drawingml/2006/main">
              <a:ext uri="{FF2B5EF4-FFF2-40B4-BE49-F238E27FC236}">
                <a16:creationId xmlns:a16="http://schemas.microsoft.com/office/drawing/2014/main" id="{728D86B8-01CF-4F2E-9682-29D949B3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242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9" name="final-supports-bullet-text-52-320">
            <a:extLst xmlns:a="http://schemas.openxmlformats.org/drawingml/2006/main">
              <a:ext uri="{FF2B5EF4-FFF2-40B4-BE49-F238E27FC236}">
                <a16:creationId xmlns:a16="http://schemas.microsoft.com/office/drawing/2014/main" id="{8720825E-A6E3-4B44-A897-2422ED31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Risk review and triage</a:t>
            </a:r>
          </a:p>
        </p:txBody>
      </p:sp>
      <p:sp>
        <p:nvSpPr>
          <p:cNvPr id="10" name="final-supports-bullet-icon-52-366">
            <a:extLst xmlns:a="http://schemas.openxmlformats.org/drawingml/2006/main">
              <a:ext uri="{FF2B5EF4-FFF2-40B4-BE49-F238E27FC236}">
                <a16:creationId xmlns:a16="http://schemas.microsoft.com/office/drawing/2014/main" id="{DC77D12F-CAE1-4670-9BFE-00D9F0BC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62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1" name="final-supports-bullet-text-52-366">
            <a:extLst xmlns:a="http://schemas.openxmlformats.org/drawingml/2006/main">
              <a:ext uri="{FF2B5EF4-FFF2-40B4-BE49-F238E27FC236}">
                <a16:creationId xmlns:a16="http://schemas.microsoft.com/office/drawing/2014/main" id="{D082A1A4-FD3B-465E-A0BA-5407802C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Medicine, lab, and insurance guidance</a:t>
            </a:r>
          </a:p>
        </p:txBody>
      </p:sp>
      <p:sp>
        <p:nvSpPr>
          <p:cNvPr id="12" name="final-supports-bullet-icon-52-412">
            <a:extLst xmlns:a="http://schemas.openxmlformats.org/drawingml/2006/main">
              <a:ext uri="{FF2B5EF4-FFF2-40B4-BE49-F238E27FC236}">
                <a16:creationId xmlns:a16="http://schemas.microsoft.com/office/drawing/2014/main" id="{BDC861F7-3556-4CC8-A14C-0F69E227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3" name="final-supports-bullet-text-52-412">
            <a:extLst xmlns:a="http://schemas.openxmlformats.org/drawingml/2006/main">
              <a:ext uri="{FF2B5EF4-FFF2-40B4-BE49-F238E27FC236}">
                <a16:creationId xmlns:a16="http://schemas.microsoft.com/office/drawing/2014/main" id="{3333BB0A-78B3-41D3-813C-E16ED78F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Doctor-ready summary and follow-up prep</a:t>
            </a:r>
          </a:p>
        </p:txBody>
      </p:sp>
      <p:sp>
        <p:nvSpPr>
          <p:cNvPr id="14" name="final-supports-bullet-icon-52-458">
            <a:extLst xmlns:a="http://schemas.openxmlformats.org/drawingml/2006/main">
              <a:ext uri="{FF2B5EF4-FFF2-40B4-BE49-F238E27FC236}">
                <a16:creationId xmlns:a16="http://schemas.microsoft.com/office/drawing/2014/main" id="{A688257D-5F34-4E33-AE74-F01C92D9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5" name="final-supports-bullet-text-52-458">
            <a:extLst xmlns:a="http://schemas.openxmlformats.org/drawingml/2006/main">
              <a:ext uri="{FF2B5EF4-FFF2-40B4-BE49-F238E27FC236}">
                <a16:creationId xmlns:a16="http://schemas.microsoft.com/office/drawing/2014/main" id="{1B5BE672-48DF-4F40-9A66-657A4BEB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Urgent cases can force a safety-first route</a:t>
            </a:r>
          </a:p>
        </p:txBody>
      </p:sp>
      <p:sp>
        <p:nvSpPr>
          <p:cNvPr id="16" name="final-limits-card">
            <a:extLst xmlns:a="http://schemas.openxmlformats.org/drawingml/2006/main">
              <a:ext uri="{FF2B5EF4-FFF2-40B4-BE49-F238E27FC236}">
                <a16:creationId xmlns:a16="http://schemas.microsoft.com/office/drawing/2014/main" id="{BEE2EE85-C990-48E3-94F2-BD0687C6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539115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5EE"/>
          </a:solidFill>
          <a:ln xmlns:a="http://schemas.openxmlformats.org/drawingml/2006/main" w="9525">
            <a:solidFill>
              <a:srgbClr val="F5DD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final-limits-line">
            <a:extLst xmlns:a="http://schemas.openxmlformats.org/drawingml/2006/main">
              <a:ext uri="{FF2B5EF4-FFF2-40B4-BE49-F238E27FC236}">
                <a16:creationId xmlns:a16="http://schemas.microsoft.com/office/drawing/2014/main" id="{0ABFA00E-8F31-4C87-BC4C-F5287D55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18" name="final-limits-title">
            <a:extLst xmlns:a="http://schemas.openxmlformats.org/drawingml/2006/main">
              <a:ext uri="{FF2B5EF4-FFF2-40B4-BE49-F238E27FC236}">
                <a16:creationId xmlns:a16="http://schemas.microsoft.com/office/drawing/2014/main" id="{1B2FFDBE-C952-4DF8-8D0F-1EAE6D1A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Never does</a:t>
            </a:r>
          </a:p>
        </p:txBody>
      </p:sp>
      <p:sp>
        <p:nvSpPr>
          <p:cNvPr id="19" name="final-limits-bullet-icon-678-320">
            <a:extLst xmlns:a="http://schemas.openxmlformats.org/drawingml/2006/main">
              <a:ext uri="{FF2B5EF4-FFF2-40B4-BE49-F238E27FC236}">
                <a16:creationId xmlns:a16="http://schemas.microsoft.com/office/drawing/2014/main" id="{5CB06AC4-9144-4EF6-B610-1661F9D8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242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0" name="final-limits-bullet-text-678-320">
            <a:extLst xmlns:a="http://schemas.openxmlformats.org/drawingml/2006/main">
              <a:ext uri="{FF2B5EF4-FFF2-40B4-BE49-F238E27FC236}">
                <a16:creationId xmlns:a16="http://schemas.microsoft.com/office/drawing/2014/main" id="{B63AE315-7BFF-4CD5-8FC0-94A2FED1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480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Final diagnosis</a:t>
            </a:r>
          </a:p>
        </p:txBody>
      </p:sp>
      <p:sp>
        <p:nvSpPr>
          <p:cNvPr id="21" name="final-limits-bullet-icon-678-366">
            <a:extLst xmlns:a="http://schemas.openxmlformats.org/drawingml/2006/main">
              <a:ext uri="{FF2B5EF4-FFF2-40B4-BE49-F238E27FC236}">
                <a16:creationId xmlns:a16="http://schemas.microsoft.com/office/drawing/2014/main" id="{EB097149-E92E-46E0-98BF-82FF19AA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2" name="final-limits-bullet-text-678-366">
            <a:extLst xmlns:a="http://schemas.openxmlformats.org/drawingml/2006/main">
              <a:ext uri="{FF2B5EF4-FFF2-40B4-BE49-F238E27FC236}">
                <a16:creationId xmlns:a16="http://schemas.microsoft.com/office/drawing/2014/main" id="{D7753DCB-0C88-4895-8B6E-305D643B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861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Prescribing</a:t>
            </a:r>
          </a:p>
        </p:txBody>
      </p:sp>
      <p:sp>
        <p:nvSpPr>
          <p:cNvPr id="23" name="final-limits-bullet-icon-678-412">
            <a:extLst xmlns:a="http://schemas.openxmlformats.org/drawingml/2006/main">
              <a:ext uri="{FF2B5EF4-FFF2-40B4-BE49-F238E27FC236}">
                <a16:creationId xmlns:a16="http://schemas.microsoft.com/office/drawing/2014/main" id="{10C819CD-DE50-49C6-827E-2EA44B85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final-limits-bullet-text-678-412">
            <a:extLst xmlns:a="http://schemas.openxmlformats.org/drawingml/2006/main">
              <a:ext uri="{FF2B5EF4-FFF2-40B4-BE49-F238E27FC236}">
                <a16:creationId xmlns:a16="http://schemas.microsoft.com/office/drawing/2014/main" id="{AC9CC156-86CF-4D35-8729-B2A474CD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24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Dose calculation</a:t>
            </a:r>
          </a:p>
        </p:txBody>
      </p:sp>
      <p:sp>
        <p:nvSpPr>
          <p:cNvPr id="25" name="final-limits-bullet-icon-678-458">
            <a:extLst xmlns:a="http://schemas.openxmlformats.org/drawingml/2006/main">
              <a:ext uri="{FF2B5EF4-FFF2-40B4-BE49-F238E27FC236}">
                <a16:creationId xmlns:a16="http://schemas.microsoft.com/office/drawing/2014/main" id="{6F546997-9C53-4B15-BC35-5C28D323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38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6" name="final-limits-bullet-text-678-458">
            <a:extLst xmlns:a="http://schemas.openxmlformats.org/drawingml/2006/main">
              <a:ext uri="{FF2B5EF4-FFF2-40B4-BE49-F238E27FC236}">
                <a16:creationId xmlns:a16="http://schemas.microsoft.com/office/drawing/2014/main" id="{BD7ED62B-EDFB-4D13-856D-8AB13417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Appointment booking or emergency calls</a:t>
            </a:r>
          </a:p>
        </p:txBody>
      </p:sp>
      <p:sp>
        <p:nvSpPr>
          <p:cNvPr id="27" name="final-memory-line">
            <a:extLst xmlns:a="http://schemas.openxmlformats.org/drawingml/2006/main">
              <a:ext uri="{FF2B5EF4-FFF2-40B4-BE49-F238E27FC236}">
                <a16:creationId xmlns:a16="http://schemas.microsoft.com/office/drawing/2014/main" id="{57B2E89B-73E4-4AAD-98B2-146A3499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959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28" name="final-memory-text">
            <a:extLst xmlns:a="http://schemas.openxmlformats.org/drawingml/2006/main">
              <a:ext uri="{FF2B5EF4-FFF2-40B4-BE49-F238E27FC236}">
                <a16:creationId xmlns:a16="http://schemas.microsoft.com/office/drawing/2014/main" id="{20F70ACD-0A39-4506-8EEB-F21256C1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055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454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Patient context can grow. Medical facts stay locked.</a:t>
            </a:r>
          </a:p>
        </p:txBody>
      </p:sp>
    </p:spTree>
    <p:extLst>
      <p:ext uri="{BB962C8B-B14F-4D97-AF65-F5344CB8AC3E}">
        <p14:creationId xmlns:p14="http://schemas.microsoft.com/office/powerpoint/2010/main" val="5511473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WHY IT STANDS OUT">
            <a:extLst xmlns:a="http://schemas.openxmlformats.org/drawingml/2006/main">
              <a:ext uri="{FF2B5EF4-FFF2-40B4-BE49-F238E27FC236}">
                <a16:creationId xmlns:a16="http://schemas.microsoft.com/office/drawing/2014/main" id="{571D623B-9351-497B-84BF-BD504B62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WHY IT STANDS OUT</a:t>
            </a:r>
          </a:p>
        </p:txBody>
      </p:sp>
      <p:sp>
        <p:nvSpPr>
          <p:cNvPr id="2" name="title-Care Nova adds the layers generic AI misses">
            <a:extLst xmlns:a="http://schemas.openxmlformats.org/drawingml/2006/main">
              <a:ext uri="{FF2B5EF4-FFF2-40B4-BE49-F238E27FC236}">
                <a16:creationId xmlns:a16="http://schemas.microsoft.com/office/drawing/2014/main" id="{EA11C4DB-E35F-4DAE-BEB7-53D555A4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Care Nova adds the layers generic AI misses</a:t>
            </a:r>
          </a:p>
        </p:txBody>
      </p:sp>
      <p:sp>
        <p:nvSpPr>
          <p:cNvPr id="3" name="header-line-Care Nova adds the layers generic AI misses">
            <a:extLst xmlns:a="http://schemas.openxmlformats.org/drawingml/2006/main">
              <a:ext uri="{FF2B5EF4-FFF2-40B4-BE49-F238E27FC236}">
                <a16:creationId xmlns:a16="http://schemas.microsoft.com/office/drawing/2014/main" id="{DDF9D91A-745E-4BB5-A7E1-17D9834D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Care Nova adds the layers generic AI misses">
            <a:extLst xmlns:a="http://schemas.openxmlformats.org/drawingml/2006/main">
              <a:ext uri="{FF2B5EF4-FFF2-40B4-BE49-F238E27FC236}">
                <a16:creationId xmlns:a16="http://schemas.microsoft.com/office/drawing/2014/main" id="{20D31316-7A05-4665-BEB1-AA9FA182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Memory, routing, and safety shift the answer from broad to focused.</a:t>
            </a:r>
          </a:p>
        </p:txBody>
      </p:sp>
      <p:sp>
        <p:nvSpPr>
          <p:cNvPr id="5" name="closing-band-1">
            <a:extLst xmlns:a="http://schemas.openxmlformats.org/drawingml/2006/main">
              <a:ext uri="{FF2B5EF4-FFF2-40B4-BE49-F238E27FC236}">
                <a16:creationId xmlns:a16="http://schemas.microsoft.com/office/drawing/2014/main" id="{D5EFC561-4576-404F-93A4-938A4EEF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1201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closing-band-line-1">
            <a:extLst xmlns:a="http://schemas.openxmlformats.org/drawingml/2006/main">
              <a:ext uri="{FF2B5EF4-FFF2-40B4-BE49-F238E27FC236}">
                <a16:creationId xmlns:a16="http://schemas.microsoft.com/office/drawing/2014/main" id="{616B9141-35B1-449C-8001-AABD67AC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7" name="closing-band-label-1">
            <a:extLst xmlns:a="http://schemas.openxmlformats.org/drawingml/2006/main">
              <a:ext uri="{FF2B5EF4-FFF2-40B4-BE49-F238E27FC236}">
                <a16:creationId xmlns:a16="http://schemas.microsoft.com/office/drawing/2014/main" id="{C7AF3F90-53EA-44D4-8C85-8D9AF127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MEMORY</a:t>
            </a:r>
          </a:p>
        </p:txBody>
      </p:sp>
      <p:sp>
        <p:nvSpPr>
          <p:cNvPr id="8" name="closing-band-generic-1">
            <a:extLst xmlns:a="http://schemas.openxmlformats.org/drawingml/2006/main">
              <a:ext uri="{FF2B5EF4-FFF2-40B4-BE49-F238E27FC236}">
                <a16:creationId xmlns:a16="http://schemas.microsoft.com/office/drawing/2014/main" id="{E0BA5229-6929-4F0B-B55A-FAA5C18A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Generic AI starts cold.</a:t>
            </a:r>
          </a:p>
        </p:txBody>
      </p:sp>
      <p:sp>
        <p:nvSpPr>
          <p:cNvPr id="9" name="closing-band-divider-1">
            <a:extLst xmlns:a="http://schemas.openxmlformats.org/drawingml/2006/main">
              <a:ext uri="{FF2B5EF4-FFF2-40B4-BE49-F238E27FC236}">
                <a16:creationId xmlns:a16="http://schemas.microsoft.com/office/drawing/2014/main" id="{6770C9C1-066A-4F5E-B79C-35413D35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003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0">
            <a:solidFill>
              <a:srgbClr val="DCE5ED"/>
            </a:solidFill>
            <a:prstDash val="solid"/>
          </a:ln>
        </p:spPr>
      </p:sp>
      <p:sp>
        <p:nvSpPr>
          <p:cNvPr id="10" name="closing-band-care-1">
            <a:extLst xmlns:a="http://schemas.openxmlformats.org/drawingml/2006/main">
              <a:ext uri="{FF2B5EF4-FFF2-40B4-BE49-F238E27FC236}">
                <a16:creationId xmlns:a16="http://schemas.microsoft.com/office/drawing/2014/main" id="{4F7A6D5E-5A09-4B4A-A14D-72012941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57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556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Care Nova reloads patient memory, records, and graph context.</a:t>
            </a:r>
          </a:p>
        </p:txBody>
      </p:sp>
      <p:sp>
        <p:nvSpPr>
          <p:cNvPr id="11" name="closing-band-2">
            <a:extLst xmlns:a="http://schemas.openxmlformats.org/drawingml/2006/main">
              <a:ext uri="{FF2B5EF4-FFF2-40B4-BE49-F238E27FC236}">
                <a16:creationId xmlns:a16="http://schemas.microsoft.com/office/drawing/2014/main" id="{00E6201F-07E7-45A0-94F9-721C4DC9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05200"/>
            <a:ext cx="11201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closing-band-line-2">
            <a:extLst xmlns:a="http://schemas.openxmlformats.org/drawingml/2006/main">
              <a:ext uri="{FF2B5EF4-FFF2-40B4-BE49-F238E27FC236}">
                <a16:creationId xmlns:a16="http://schemas.microsoft.com/office/drawing/2014/main" id="{D11C536C-CDD9-4A96-9FD6-5FDCFFC7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3" name="closing-band-label-2">
            <a:extLst xmlns:a="http://schemas.openxmlformats.org/drawingml/2006/main">
              <a:ext uri="{FF2B5EF4-FFF2-40B4-BE49-F238E27FC236}">
                <a16:creationId xmlns:a16="http://schemas.microsoft.com/office/drawing/2014/main" id="{01DD5BD1-6BC3-4F5C-8E08-4AE3D2E9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ROUTING</a:t>
            </a:r>
          </a:p>
        </p:txBody>
      </p:sp>
      <p:sp>
        <p:nvSpPr>
          <p:cNvPr id="14" name="closing-band-generic-2">
            <a:extLst xmlns:a="http://schemas.openxmlformats.org/drawingml/2006/main">
              <a:ext uri="{FF2B5EF4-FFF2-40B4-BE49-F238E27FC236}">
                <a16:creationId xmlns:a16="http://schemas.microsoft.com/office/drawing/2014/main" id="{CCE8613B-90B1-45E3-88AF-1498B9EF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Generic AI gives one broad answer.</a:t>
            </a:r>
          </a:p>
        </p:txBody>
      </p:sp>
      <p:sp>
        <p:nvSpPr>
          <p:cNvPr id="15" name="closing-band-divider-2">
            <a:extLst xmlns:a="http://schemas.openxmlformats.org/drawingml/2006/main">
              <a:ext uri="{FF2B5EF4-FFF2-40B4-BE49-F238E27FC236}">
                <a16:creationId xmlns:a16="http://schemas.microsoft.com/office/drawing/2014/main" id="{0608435A-81C4-44DC-85E6-C9C9AA21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147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0">
            <a:solidFill>
              <a:srgbClr val="DCE5ED"/>
            </a:solidFill>
            <a:prstDash val="solid"/>
          </a:ln>
        </p:spPr>
      </p:sp>
      <p:sp>
        <p:nvSpPr>
          <p:cNvPr id="16" name="closing-band-care-2">
            <a:extLst xmlns:a="http://schemas.openxmlformats.org/drawingml/2006/main">
              <a:ext uri="{FF2B5EF4-FFF2-40B4-BE49-F238E27FC236}">
                <a16:creationId xmlns:a16="http://schemas.microsoft.com/office/drawing/2014/main" id="{3CA943AE-2930-4F1C-A462-8D26A7CE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719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1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Care Nova chooses the right specialist path before replying.</a:t>
            </a:r>
          </a:p>
        </p:txBody>
      </p:sp>
      <p:sp>
        <p:nvSpPr>
          <p:cNvPr id="17" name="closing-band-3">
            <a:extLst xmlns:a="http://schemas.openxmlformats.org/drawingml/2006/main">
              <a:ext uri="{FF2B5EF4-FFF2-40B4-BE49-F238E27FC236}">
                <a16:creationId xmlns:a16="http://schemas.microsoft.com/office/drawing/2014/main" id="{EB6CAB31-8C1C-49F6-AF76-099FC6CB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11201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3DF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closing-band-line-3">
            <a:extLst xmlns:a="http://schemas.openxmlformats.org/drawingml/2006/main">
              <a:ext uri="{FF2B5EF4-FFF2-40B4-BE49-F238E27FC236}">
                <a16:creationId xmlns:a16="http://schemas.microsoft.com/office/drawing/2014/main" id="{6EEA4E88-5A02-43A0-9AEB-BE77272F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19" name="closing-band-label-3">
            <a:extLst xmlns:a="http://schemas.openxmlformats.org/drawingml/2006/main">
              <a:ext uri="{FF2B5EF4-FFF2-40B4-BE49-F238E27FC236}">
                <a16:creationId xmlns:a16="http://schemas.microsoft.com/office/drawing/2014/main" id="{4244E8E6-3D6D-4D87-BF89-C83912C4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SAFETY</a:t>
            </a:r>
          </a:p>
        </p:txBody>
      </p:sp>
      <p:sp>
        <p:nvSpPr>
          <p:cNvPr id="20" name="closing-band-generic-3">
            <a:extLst xmlns:a="http://schemas.openxmlformats.org/drawingml/2006/main">
              <a:ext uri="{FF2B5EF4-FFF2-40B4-BE49-F238E27FC236}">
                <a16:creationId xmlns:a16="http://schemas.microsoft.com/office/drawing/2014/main" id="{165550EE-70BE-4C1C-9C05-9D9CC8F4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Generic AI can overstep.</a:t>
            </a:r>
          </a:p>
        </p:txBody>
      </p:sp>
      <p:sp>
        <p:nvSpPr>
          <p:cNvPr id="21" name="closing-band-divider-3">
            <a:extLst xmlns:a="http://schemas.openxmlformats.org/drawingml/2006/main">
              <a:ext uri="{FF2B5EF4-FFF2-40B4-BE49-F238E27FC236}">
                <a16:creationId xmlns:a16="http://schemas.microsoft.com/office/drawing/2014/main" id="{AB0AD392-F444-442E-9ED6-EC8C2562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292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0">
            <a:solidFill>
              <a:srgbClr val="DCE5ED"/>
            </a:solidFill>
            <a:prstDash val="solid"/>
          </a:ln>
        </p:spPr>
      </p:sp>
      <p:sp>
        <p:nvSpPr>
          <p:cNvPr id="22" name="closing-band-care-3">
            <a:extLst xmlns:a="http://schemas.openxmlformats.org/drawingml/2006/main">
              <a:ext uri="{FF2B5EF4-FFF2-40B4-BE49-F238E27FC236}">
                <a16:creationId xmlns:a16="http://schemas.microsoft.com/office/drawing/2014/main" id="{D9C1F047-57EB-4D29-BF71-DEDFA992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86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21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Care Nova blocks diagnosis, prescribing, and dosage advice in the demo build.</a:t>
            </a:r>
          </a:p>
        </p:txBody>
      </p:sp>
      <p:sp>
        <p:nvSpPr>
          <p:cNvPr id="23" name="closing-summary-strip">
            <a:extLst xmlns:a="http://schemas.openxmlformats.org/drawingml/2006/main">
              <a:ext uri="{FF2B5EF4-FFF2-40B4-BE49-F238E27FC236}">
                <a16:creationId xmlns:a16="http://schemas.microsoft.com/office/drawing/2014/main" id="{A2C22F53-BE60-4EB5-A11A-0685A94B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12014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6EFF7"/>
          </a:solidFill>
          <a:ln xmlns:a="http://schemas.openxmlformats.org/drawingml/2006/main" w="0">
            <a:solidFill>
              <a:srgbClr val="E6EFF7"/>
            </a:solidFill>
            <a:prstDash val="solid"/>
          </a:ln>
        </p:spPr>
      </p:sp>
      <p:sp>
        <p:nvSpPr>
          <p:cNvPr id="24" name="closing-final-text">
            <a:extLst xmlns:a="http://schemas.openxmlformats.org/drawingml/2006/main">
              <a:ext uri="{FF2B5EF4-FFF2-40B4-BE49-F238E27FC236}">
                <a16:creationId xmlns:a16="http://schemas.microsoft.com/office/drawing/2014/main" id="{2BBA0ADA-E9FA-4E46-A5D4-A8617268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Result: one clear, safety-checked next step instead of a broad uncertain reply.</a:t>
            </a:r>
          </a:p>
        </p:txBody>
      </p:sp>
    </p:spTree>
    <p:extLst>
      <p:ext uri="{BB962C8B-B14F-4D97-AF65-F5344CB8AC3E}">
        <p14:creationId xmlns:p14="http://schemas.microsoft.com/office/powerpoint/2010/main" val="418211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2026-07-05T07:31:00.4800000Z</dcterms:created>
  <dcterms:modified xsi:type="dcterms:W3CDTF">2026-07-05T07:31:00.4800000Z</dcterms:modified>
</coreProperties>
</file>